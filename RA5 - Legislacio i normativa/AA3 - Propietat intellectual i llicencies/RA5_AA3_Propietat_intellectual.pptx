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1.png"/><Relationship Id="rId3" Type="http://schemas.openxmlformats.org/officeDocument/2006/relationships/image" Target="../media/image-15-1.png"/><Relationship Id="rId4" Type="http://schemas.openxmlformats.org/officeDocument/2006/relationships/image" Target="../media/image-15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828800"/>
            <a:ext cx="6400800" cy="6400800"/>
          </a:xfrm>
          <a:prstGeom prst="ellipse">
            <a:avLst/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875520" y="-914400"/>
            <a:ext cx="4114800" cy="4114800"/>
          </a:xfrm>
          <a:prstGeom prst="ellipse">
            <a:avLst/>
          </a:prstGeom>
          <a:solidFill>
            <a:srgbClr val="16242E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822960" y="1371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MÒDUL 06 · SEGURETAT INFORMÀTICA — RA5 · NF4-AA3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Propietat intel·lectual i llicències</a:t>
            </a:r>
            <a:endParaRPr lang="en-US" sz="4400" dirty="0"/>
          </a:p>
        </p:txBody>
      </p:sp>
      <p:pic>
        <p:nvPicPr>
          <p:cNvPr id="6" name="Image 0" descr="/tmp/claude-0/-home-user-SMX-0226-Seguretat-Informatica/cec25c9b-7e93-584a-a64a-196540977a59/scratchpad/build/icons/copy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2461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LPI, drets d'autor i tipus de llicències de programari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669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CFGM Sistemes Microinformàtics i Xarxes · 2n curs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6035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Puig Castellar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 Sánchez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SESSIÓ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aprendrem avui?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balanc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LPI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Què és la Llei de Propietat Intel·lectual i com protegeix el programari.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copy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Tipus de llicències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Programari propietari, lliure, de codi obert i llicències Creative Commons.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Pirateria i responsabilitat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Riscos legals i tècnics d'instal·lar programari sense llicència.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 SABIES?</a:t>
            </a:r>
            <a:endParaRPr lang="en-US" sz="1300" dirty="0"/>
          </a:p>
        </p:txBody>
      </p:sp>
      <p:pic>
        <p:nvPicPr>
          <p:cNvPr id="3" name="Image 0" descr="/tmp/claude-0/-home-user-SMX-0226-Seguretat-Informatica/cec25c9b-7e93-584a-a64a-196540977a59/scratchpad/build/icons/balanc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0" y="50292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96012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tercer pilar del compliment legal tecnològic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LOPDGDD + LSSI + LPI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tècnic informàtic que munta el servidor i la web d'una empresa ha de vetllar pel compliment de les tres normatives alhora: protecció de dades, serveis d'Internet, i propietat intel·lectual del programari que instal·la.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603504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només "pirateria"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035040" y="27432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propietat intel·lectual no és només un tema de descàrregues il·legals: també determina si pots modificar, redistribuir o vendre un programa, i quines obligacions tens si ho fas.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 LEGAL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Llei de Propietat Intel·lectual (LPI)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Reial Decret Legislatiu 1/1996 (Llei de Propietat Intel·lectual, LPI) protegeix les creacions originals, literàries, artístiques o científiques.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programari es considera legalment una obra literària: el codi font està protegit pels mateixos drets d'autor que un llibre.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titular dels drets és, per defecte, l'autor (o l'empresa, si es va crear com a treball per encàrrec/relació laboral).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TIPUS DE DRETS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Drets morals i drets d'explotació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usercircl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Drets morals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Irrenunciables i intransferibles: dret a ser reconegut com a autor, a decidir si es divulga l'obra, i a exigir-ne la integritat (que no es modifiqui de manera que perjudiqui la reputació de l'autor).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copy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Drets d'explotació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poden transferir o llicenciar: reproducció, distribució, comunicació pública i transformació (modificar l'obra original per crear-ne una de derivada).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NUCLI DEL TEMA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és una llicència de programari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10789920" cy="1280160"/>
          </a:xfrm>
          <a:prstGeom prst="roundRect">
            <a:avLst>
              <a:gd name="adj" fmla="val 7143"/>
            </a:avLst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6" name="Image 0" descr="/tmp/claude-0/-home-user-SMX-0226-Seguretat-Informatica/cec25c9b-7e93-584a-a64a-196540977a59/scratchpad/build/icons/copy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148840"/>
            <a:ext cx="457200" cy="457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7452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llicència és el contracte pel qual el titular dels drets autoritza (o no) a un tercer a utilitzar, copiar, modificar o distribuir el seu programari, i sota quines condicions.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291840"/>
            <a:ext cx="10789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 llicència explícita, per defecte, NO tens cap dret sobre el programari ("tots els drets reservats").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Instal·lar o utilitzar programari sense la llicència corresponent és una infracció de la LPI, amb conseqüències civils i, en casos greus, penals.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CLASSIFICACIÓ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Programari propietari vs. programari lliure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2092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lock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1240" y="2313432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2092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Programari propietari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102092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codi font no és accessible; l'usuari només rep el dret d'ús, sota condicions restrictives (una còpia, un equip, sense modificar-lo ni redistribuir-lo). Exemples: Windows, Microsoft Office, Adobe Photoshop.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690208" y="2103120"/>
            <a:ext cx="822960" cy="82296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unlock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0520" y="2313432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690208" y="31089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Programari lliure (Free Software)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6690208" y="361188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Segons la Free Software Foundation, garanteix 4 llibertats: 0) executar-lo per qualsevol propòsit; 1) estudiar-ne el codi; 2) redistribuir-lo; 3) modificar-lo i distribuir les modificacions.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MATISOS IMPORTANTS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Lliure, obert i gratuït: no és el mateix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88136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79552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Significat real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Programari lliure (free software)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Garanteix les 4 llibertats de l'usuari (executar, estudiar, redistribuir, modificar). "Free" fa referència a la llibertat, no al preu.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Codi obert (open source)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codi font és accessible i modificable; posa l'accent en el desenvolupament col·laboratiu, més que en la filosofia de les llibertats.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Gratuït (freeware)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 pot usar sense pagar, però el codi font NO és accessible ni modificable (per exemple, WhatsApp Desktop).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LLICÈNCIES MÉS USADES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Llicències de programari lliure/obert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881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595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Llicència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Característica principal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GPL (GNU General Public License)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Copyleft: si distribueixes una obra derivada, l'has de distribuir també amb llicència GPL i codi font obert.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LGPL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Versió més permissiva de la GPL, pensada per a biblioteques: permet enllaçar-la des de programari propietari.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 / BSD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Permissives: pots fer gairebé qualsevol cosa amb el codi (incloent-hi programari propietari derivat), només cal mantenir l'avís de copyright original.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Apache 2.0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Permissiva, similar a MIT/BSD, però amb una clàusula explícita de protecció de patents.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120640"/>
            <a:ext cx="10789920" cy="777240"/>
          </a:xfrm>
          <a:prstGeom prst="roundRect">
            <a:avLst>
              <a:gd name="adj" fmla="val 11765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bulb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280660"/>
            <a:ext cx="457200" cy="457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54480" y="5257800"/>
            <a:ext cx="9601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"copyleft" (GPL) és una estratègia legal intel·ligent: usa el mateix dret d'autor per obligar que les millores tornin a ser lliures, en lloc de restringir l'ús.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MÉS ENLLÀ DEL PROGRAMARI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Llicències Creative Commons (CC)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37360"/>
            <a:ext cx="10789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Pensades per a obres no necessàriament de programari (textos, imatges, música, materials educatius com aquests apunts).</a:t>
            </a:r>
            <a:endParaRPr lang="en-US" sz="15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▪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combinen quatre condicions: BY (atribució obligatòria), NC (No comercial), ND (No derivades) i SA (Compartir igual / Share-Alike, similar al copyleft).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4297680"/>
            <a:ext cx="10789920" cy="1188720"/>
          </a:xfrm>
          <a:prstGeom prst="roundRect">
            <a:avLst>
              <a:gd name="adj" fmla="val 7692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66344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43484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Aquests mateixos apunts es distribueixen sota llicència CC-BY-SA: pots reutilitzar-los i modificar-los sempre que citis l'autor original i mantinguis la mateixa llicència.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48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REAL</a:t>
            </a:r>
            <a:endParaRPr lang="en-US" sz="1300" dirty="0"/>
          </a:p>
        </p:txBody>
      </p:sp>
      <p:pic>
        <p:nvPicPr>
          <p:cNvPr id="3" name="Image 0" descr="/tmp/claude-0/-home-user-SMX-0226-Seguretat-Informatica/cec25c9b-7e93-584a-a64a-196540977a59/scratchpad/build/icons/usershield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0" y="502920"/>
            <a:ext cx="548640" cy="5486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96012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responsabilitat del tècnic informàtic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22860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BSA (Business Software Alliance) i entitats similars auditen empreses per detectar programari sense llicència instal·lat als seus equips. Les multes poden superar els milers d'euros per còpia il·legal, a més de l'obligació de regularitzar-ho.</a:t>
            </a:r>
            <a:endParaRPr lang="en-US" sz="1450" dirty="0"/>
          </a:p>
        </p:txBody>
      </p:sp>
      <p:sp>
        <p:nvSpPr>
          <p:cNvPr id="6" name="Text 3"/>
          <p:cNvSpPr txBox="1"/>
          <p:nvPr/>
        </p:nvSpPr>
        <p:spPr>
          <a:xfrm>
            <a:off x="6035040" y="2286000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tècnic de sistemes que instal·la programari piratejat en equips d'una empresa client pot tenir responsabilitat professional directa, no només l'empresa: per això cal documentar sempre les llicències instal·lades (inventari de programari).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BONA PRÀCTICA PROFESSIONAL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Gestió d'actius de programari (SAM)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clipboard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Inventari de llicències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Mantenir un registre de tot el programari instal·lat, amb el tipus de llicència i el nombre de còpies autoritzades.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Verificació periòdica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Comprovar que el nombre d'instal·lacions no supera el de llicències adquirides (auditoria interna).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unlock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Alternatives lliures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Valorar alternatives de programari lliure/obert (LibreOffice, GIMP, Linux) quan el pressupost o els requisits ho permetin.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ACABAR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Idees clau d'avui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5234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balanc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228" y="224028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0662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programari és una obra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0662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Protegit per la LPI com qualsevol obra literària, amb drets morals (irrenunciables) i d'explotació (llicenciables).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8134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0138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unlock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4268" y="224028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5566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Lliure ≠ gratuït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65566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software fa referència a la llibertat (executar, estudiar, modificar, redistribuir), no necessàriament al preu.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30388" y="1737360"/>
            <a:ext cx="3429000" cy="38404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450428" y="205740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copy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3308" y="224028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404708" y="297180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Copyleft vs. permissives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404708" y="36118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GPL obliga a mantenir la llibertat en les obres derivades; MIT/BSD/Apache permeten gairebé qualsevol ús, fins i tot propietari.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188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ÉS EL TORN VOSTRE</a:t>
            </a:r>
            <a:endParaRPr lang="en-US" sz="1400" dirty="0"/>
          </a:p>
        </p:txBody>
      </p:sp>
      <p:pic>
        <p:nvPicPr>
          <p:cNvPr id="3" name="Image 0" descr="/tmp/claude-0/-home-user-SMX-0226-Seguretat-Informatica/cec25c9b-7e93-584a-a64a-196540977a59/scratchpad/build/icons/question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097280"/>
            <a:ext cx="731520" cy="731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petita empresa vol renovar el seu parc informàtic amb el mínim cost possible.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29184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grups de 3: proposeu, per a cada lloc de treball, quin sistema operatiu i quin paquet ofimàtic instal·laríeu (propietari o lliure), justificant l'elecció des del punt de vista legal i econòmic. Indiqueu com documentaríeu l'inventari de llicències resultant.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minuts en grup + posada en comú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 DEL MATERIAL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Webgrafia</a:t>
            </a:r>
            <a:endParaRPr lang="en-US" sz="2800" dirty="0"/>
          </a:p>
        </p:txBody>
      </p:sp>
      <p:pic>
        <p:nvPicPr>
          <p:cNvPr id="4" name="Image 0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7452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8288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Compliment legal a l'àmbit tecnològic (LOPDGDD, LSSI i LPI)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217627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INCIBE — incibe.es/empresas/que-te-interesa/cumplimiento-legal</a:t>
            </a:r>
            <a:endParaRPr lang="en-US" sz="1150" dirty="0"/>
          </a:p>
        </p:txBody>
      </p:sp>
      <p:pic>
        <p:nvPicPr>
          <p:cNvPr id="7" name="Image 1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2608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43000" y="2880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Ley de Propiedad Intelectual (LPI)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322783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Decreto Legislativo 1/1996 — boe.es</a:t>
            </a:r>
            <a:endParaRPr lang="en-US" sz="1150" dirty="0"/>
          </a:p>
        </p:txBody>
      </p:sp>
      <p:pic>
        <p:nvPicPr>
          <p:cNvPr id="10" name="Image 2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77640"/>
            <a:ext cx="320040" cy="320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43000" y="3931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 Software Foundation — Les 4 llibertats del programari lliure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427939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gnu.org/philosophy/free-sw.html</a:t>
            </a:r>
            <a:endParaRPr lang="en-US" sz="1150" dirty="0"/>
          </a:p>
        </p:txBody>
      </p:sp>
      <p:pic>
        <p:nvPicPr>
          <p:cNvPr id="13" name="Image 3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29200"/>
            <a:ext cx="320040" cy="32004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43000" y="4983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Creative Commons — Tipus de llicències</a:t>
            </a:r>
            <a:endParaRPr lang="en-US" sz="1500" dirty="0"/>
          </a:p>
        </p:txBody>
      </p:sp>
      <p:sp>
        <p:nvSpPr>
          <p:cNvPr id="15" name="Text 9"/>
          <p:cNvSpPr txBox="1"/>
          <p:nvPr/>
        </p:nvSpPr>
        <p:spPr>
          <a:xfrm>
            <a:off x="1143000" y="533095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creativecommons.org/licenses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640080" y="6217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Llicència CC BY-SA 4.0 · Adaptat de "Materials" (SMX-0226SI), Carlos Alonso Martínez, Escola Pia de Mataró</a:t>
            </a:r>
            <a:endParaRPr lang="en-US" sz="1050" dirty="0"/>
          </a:p>
        </p:txBody>
      </p:sp>
      <p:sp>
        <p:nvSpPr>
          <p:cNvPr id="17" name="Text 11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2026-09-08T20:09:31Z</dcterms:created>
  <dcterms:modified xsi:type="dcterms:W3CDTF">2026-09-08T20:09:31Z</dcterms:modified>
</cp:coreProperties>
</file>