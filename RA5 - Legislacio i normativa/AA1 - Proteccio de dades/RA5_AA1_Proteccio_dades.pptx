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6400800" cy="6400800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914400"/>
            <a:ext cx="4114800" cy="4114800"/>
          </a:xfrm>
          <a:prstGeom prst="ellipse">
            <a:avLst/>
          </a:prstGeom>
          <a:solidFill>
            <a:srgbClr val="16242E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MÒDUL 06 · SEGURETAT INFORMÀTICA — RA5 · NF4-AA1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Protecció de dades personals</a:t>
            </a:r>
            <a:endParaRPr lang="en-US" sz="4400" dirty="0"/>
          </a:p>
        </p:txBody>
      </p:sp>
      <p:pic>
        <p:nvPicPr>
          <p:cNvPr id="6" name="Image 0" descr="/tmp/claude-0/-home-user-SMX-0226-Seguretat-Informatica/cec25c9b-7e93-584a-a64a-196540977a59/scratchpad/build/icons/usershield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46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i LOPD-GDD: el dret a la privacitat a l'era digital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CFGM Sistemes Microinformàtics i Xarxes · 2n curs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035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Puig Castellar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Sánchez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AQUESTA SESSIÓ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aprendrem avui?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balanc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RGPD i LOPD-GDD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Quina és la normativa que regula la protecció de dades personals, per què existeix i a qui obliga.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usercircl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Drets de les persones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Quins drets té qualsevol persona sobre les seves pròpies dades i com pot exercir-los.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usershield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Obligacions tècniques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Què ha de fer, tècnicament, una empresa o un tècnic informàtic per complir la llei.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SABIES?</a:t>
            </a:r>
            <a:endParaRPr lang="en-US" sz="1300" dirty="0"/>
          </a:p>
        </p:txBody>
      </p:sp>
      <p:pic>
        <p:nvPicPr>
          <p:cNvPr id="3" name="Image 0" descr="/tmp/claude-0/-home-user-SMX-0226-Seguretat-Informatica/cec25c9b-7e93-584a-a64a-196540977a59/scratchpad/build/icons/balanc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9601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dret fonamental reconegut a la Constitució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Article 18.4 CE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llei limitarà l'ús de la informàtica per garantir l'honor i la intimitat personal i familiar dels ciutadans i el ple exercici dels seus drets." La primera llei espanyola (LOPD) és de 1999.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cas històric d'advertència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Abans de 1940, el cens d'Holanda incloïa la tendència religiosa amb finalitats lícites. Els nazis el van fer servir per exterminar el 90% dels jueus holandesos. Per això les dades "especials" es protegeixen amb més rigor.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NORMATIVA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RGPD i LOPD-GDD: dues normes, un mateix objectiu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glob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RGPD (2016/2018)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 General de Protecció de Dades, desenvolupat per la Unió Europea. S'aplica directament a tots els estats membres. Vigent des del maig de 2018.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balanc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LOPD-GDD (2018)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Llei Orgànica de Protecció de Dades i de Garantia de Drets Digitals: la transposició espanyola del RGPD, que substitueix la LOPD de 1999.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502920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16" name="Image 2" descr="/tmp/claude-0/-home-user-SMX-0226-Seguretat-Informatica/cec25c9b-7e93-584a-a64a-196540977a59/scratchpad/build/icons/checkcircle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892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5166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Objectius: control de la ciutadania sobre les seves dades, regulació uniforme a Europa, lliure circulació de dades i seguretat jurídica per a l'economia digital.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ÀMBIT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 i on s'aplica?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usercircl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S'aplica quan...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tracten dades de persones físiques (sense excepció de nacionalitat) de forma automatitzada o manual, en un fitxer estructurat. Obliga totes les empreses i organismes que gestionen dades personals.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glob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Àmbit territorial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responsables establerts a la UE, i també als NO establerts a la UE si ofereixen béns o serveis a persones que hi resideixen. NO s'aplica a persones jurídiques ni a l'ús estrictament personal/domèstic.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CONCEPTES CLAU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Dada personal i categories especials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 personal: qualsevol informació sobre una persona física identificada o identificable (l'interessat) — un nom, un DNI, una IP, dades de localització...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Tractament: qualsevol operació sobre dades personals: recollida, registre, conservació, modificació, consulta, comunicació, supressió...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10789920" cy="1554480"/>
          </a:xfrm>
          <a:prstGeom prst="roundRect">
            <a:avLst>
              <a:gd name="adj" fmla="val 5882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6634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42519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ESPECIALS (protecció reforçada): origen ètnic/racial, opinions polítiques, conviccions religioses, afiliació sindical, dades genètiques/biomètriques, salut, vida sexual.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CONSENTIMENT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 i com cal demanar-lo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de ser una declaració inequívoca o acció afirmativa clara: NO valen caselles premarcades ni el silenci/inacció.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Explícit (marcar un "SÍ") en: dades especials, decisions automatitzades i transferències internacionals.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5168" y="384048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20928" y="420624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8" name="Image 0" descr="/tmp/claude-0/-home-user-SMX-0226-Seguretat-Informatica/cec25c9b-7e93-584a-a64a-196540977a59/scratchpad/build/icons/usercircl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4416552"/>
            <a:ext cx="402336" cy="40233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20928" y="5212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Menors d'edat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20928" y="57150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RGPD fixa 16 anys com a edat mínima per consentir, però permet als estats rebaixar-la fins a 13. A Espanya, la LOPD-GDD la fixa en 14 anys.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324448" y="384048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690208" y="420624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3" name="Image 1" descr="/tmp/claude-0/-home-user-SMX-0226-Seguretat-Informatica/cec25c9b-7e93-584a-a64a-196540977a59/scratchpad/build/icons/checkcircl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441655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690208" y="5212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 consentiment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6690208" y="57150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 si hi ha interès legítim (seguretat, prevenció de frau), dades de contacte professional, videovigilància, o oposició a rebre publicitat.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DRETS DE LES PERSONES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l'ARCO als nous drets digitals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10789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Informació: saber com, per què i durant quant de temps es tracten les teves dades.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Accés: confirmar si es tracten les teves dades i obtenir-ne una còpia.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Rectificació: corregir dades inexactes.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Supressió i dret a l'oblit: eliminar les dades (i que s'informi altres responsables si són públiques).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Oposició: oposar-te al tractament (amb excepcions d'interès públic o legítim).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Portabilitat: rebre les teves dades en format estructurat i transmetre-les a un altre responsable.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 del tractament: "congelar" el tractament mentre es resol una reclamació.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 objecte de decisions automatitzades: exigir intervenció humana en decisions que t'afectin significativament.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REAL</a:t>
            </a:r>
            <a:endParaRPr lang="en-US" sz="1300" dirty="0"/>
          </a:p>
        </p:txBody>
      </p:sp>
      <p:pic>
        <p:nvPicPr>
          <p:cNvPr id="3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9601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sancionat per cessió de dades a tercers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2860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L'Agència Espanyola de Protecció de Dades (AEPD) ha sancionat diverses vegades grans tecnològiques per infraccions del RGPD, com Google per cedir dades a tercers sense base legal adequada, o Vodafone (170.000€) per no aplicar mesures per evitar la suplantació d'identitat.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22860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sancions poden arribar fins a 20 milions d'euros o el 4% de la facturació anual global de l'empresa (la xifra més alta de les dues), en les infraccions més greus.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RELLEVANTS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és qui en el tractament de dades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38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Interessat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persona física de la qual es tracten les dades.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 del tractament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 determina les finalitats i mitjans del tractament (ex: una empresa de telecomunicacions).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Encarregat del tractament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 tracta dades per compte del responsable (ex: una empresa subcontractada).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Delegat de Protecció de Dades (DPD)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Supervisa el compliment del RGPD; obligatori en organismes públics o tractaments a gran escala.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Violacions de seguretat: què cal fer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789920" cy="1371600"/>
          </a:xfrm>
          <a:prstGeom prst="roundRect">
            <a:avLst>
              <a:gd name="adj" fmla="val 6667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6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violació de seguretat és qualsevol incident (destrucció, pèrdua, alteració o accés no autoritzat) sobre dades personals. Cal notificar-la a l'AEPD en un termini màxim de 72 hores des que se'n té constància.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9184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documentar TOTES les violacions, encara que no calgui notificar-les.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hi ha alt risc pels drets dels interessats, també cal notificar-los directament a ells.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notificar és una infracció greu: fins a 10 milions d'euros o el 2% de la facturació anual.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Mesures de responsabilitat activa ("accountability")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clipboard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Registre i anàlisi de risc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d'activitats de tractament (empreses &gt;250 treballadors) i anàlisi dels riscos de cada tractament.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lock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Mesures tècniques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Bloqueig, contrasenyes robustes, xifratge, destrucció segura, control d'accés per usuari (principi del mínim privilegi).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checkcircle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Disseny i notificació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 des del disseny (privacy by design), i notificació de violacions en 72h.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DE LA 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Transferències internacionals de dades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Només es poden transferir dades fora de la UE si el país destí ofereix un nivell de protecció adequat (llista oficial de l'AEPD: EEE, Suïssa, Andorra, Regne Unit, Canadà...).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bé si hi ha garanties contractuals adequades, o s'aplica alguna excepció legal.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especial: els EUA. L'acord "Privacy Shield" va ser invalidat pel Tribunal de Justícia de la UE el 2020; actualment hi ha un nou marc (Data Privacy Framework / "Privacy Shield 3.0").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ACABAR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Idees clau d'avui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balanc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RGPD + LOPD-GDD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legal europeu i espanyol que protegeix el dret fonamental a la privacitat de les dades personals.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usercircl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Drets ampliats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l'ARCO clàssic als nous drets digitals: portabilitat, oblit, limitació, no-decisions automatitzades.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usershield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Responsabilitat activa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n'hi ha prou en complir la llei: cal poder DEMOSTRAR-HO (accountability), amb mesures tècniques i organitzatives.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ÉS EL TORN VOSTRE</a:t>
            </a:r>
            <a:endParaRPr lang="en-US" sz="1400" dirty="0"/>
          </a:p>
        </p:txBody>
      </p:sp>
      <p:pic>
        <p:nvPicPr>
          <p:cNvPr id="3" name="Image 0" descr="/tmp/claude-0/-home-user-SMX-0226-Seguretat-Informatica/cec25c9b-7e93-584a-a64a-196540977a59/scratchpad/build/icons/question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clínica dental digitalitza els historials clínics dels pacients i els emmagatzema al núvol.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9184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parelles: identifiqueu 1) si necessita un DPD i per què; 2) tres mesures tècniques de responsabilitat activa que hauria d'aplicar; 3) què hauria de fer si, per un error de configuració, els historials queden accessibles sense contrasenya durant 3 dies.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minuts en parelles + posada en comú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DEL MATERIAL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Webgrafia</a:t>
            </a:r>
            <a:endParaRPr lang="en-US" sz="2800" dirty="0"/>
          </a:p>
        </p:txBody>
      </p:sp>
      <p:pic>
        <p:nvPicPr>
          <p:cNvPr id="4" name="Image 0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NF4-AA1: Protecció de dades (LOPD-GDD i RGPD)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1762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 "Materials" (GitHub, SMX-0226SI) · basat en material de Pau Tomé (IES Bosc de la Coma) · Llicència CC-BY-SA-4.0 — github.com/SMX-0226SI/Materials/blob/main/NF4/01.LOPD-RGPD/lopd.md</a:t>
            </a:r>
            <a:endParaRPr lang="en-US" sz="1150" dirty="0"/>
          </a:p>
        </p:txBody>
      </p:sp>
      <p:pic>
        <p:nvPicPr>
          <p:cNvPr id="7" name="Image 1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Agència Espanyola de Protecció de Dades (AEPD)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2278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aepd.es — guies, sancions i registre d'autoritats de protecció de dades.</a:t>
            </a:r>
            <a:endParaRPr lang="en-US" sz="1150" dirty="0"/>
          </a:p>
        </p:txBody>
      </p:sp>
      <p:pic>
        <p:nvPicPr>
          <p:cNvPr id="10" name="Image 2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931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INCIBE — RGPD para pymes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4279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incibe.es/protege-tu-empresa/rgpd-para-pymes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Llicència CC BY-SA 4.0 · Adaptat de "Materials" (SMX-0226SI), Carlos Alonso Martínez, Escola Pia de Mataró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2026-09-08T20:05:03Z</dcterms:created>
  <dcterms:modified xsi:type="dcterms:W3CDTF">2026-09-08T20:05:04Z</dcterms:modified>
</cp:coreProperties>
</file>