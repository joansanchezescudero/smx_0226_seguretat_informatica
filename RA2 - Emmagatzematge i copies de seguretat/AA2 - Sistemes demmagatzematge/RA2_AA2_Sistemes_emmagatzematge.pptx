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81" r:id="rId32"/>
    <p:sldId id="282" r:id="rId33"/>
    <p:sldId id="283" r:id="rId34"/>
    <p:sldId id="284" r:id="rId35"/>
    <p:sldId id="259" r:id="rId5"/>
    <p:sldId id="260" r:id="rId6"/>
    <p:sldId id="261" r:id="rId7"/>
    <p:sldId id="274" r:id="rId25"/>
    <p:sldId id="262" r:id="rId8"/>
    <p:sldId id="275" r:id="rId26"/>
    <p:sldId id="263" r:id="rId9"/>
    <p:sldId id="276" r:id="rId27"/>
    <p:sldId id="286" r:id="rId37"/>
    <p:sldId id="264" r:id="rId10"/>
    <p:sldId id="277" r:id="rId28"/>
    <p:sldId id="265" r:id="rId11"/>
    <p:sldId id="266" r:id="rId12"/>
    <p:sldId id="267" r:id="rId13"/>
    <p:sldId id="278" r:id="rId29"/>
    <p:sldId id="268" r:id="rId14"/>
    <p:sldId id="279" r:id="rId30"/>
    <p:sldId id="269" r:id="rId15"/>
    <p:sldId id="280" r:id="rId31"/>
    <p:sldId id="270" r:id="rId16"/>
    <p:sldId id="285" r:id="rId36"/>
    <p:sldId id="271" r:id="rId17"/>
    <p:sldId id="272" r:id="rId18"/>
    <p:sldId id="273" r:id="rId19"/>
  </p:sldIdLst>
  <p:notesMasterIdLst>
    <p:notesMasterId r:id="rId20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8.xml"/><Relationship Id="rId6" Type="http://schemas.openxmlformats.org/officeDocument/2006/relationships/slide" Target="slides/slide9.xml"/><Relationship Id="rId7" Type="http://schemas.openxmlformats.org/officeDocument/2006/relationships/slide" Target="slides/slide10.xml"/><Relationship Id="rId8" Type="http://schemas.openxmlformats.org/officeDocument/2006/relationships/slide" Target="slides/slide12.xml"/><Relationship Id="rId9" Type="http://schemas.openxmlformats.org/officeDocument/2006/relationships/slide" Target="slides/slide14.xml"/><Relationship Id="rId10" Type="http://schemas.openxmlformats.org/officeDocument/2006/relationships/slide" Target="slides/slide17.xml"/><Relationship Id="rId11" Type="http://schemas.openxmlformats.org/officeDocument/2006/relationships/slide" Target="slides/slide19.xml"/><Relationship Id="rId12" Type="http://schemas.openxmlformats.org/officeDocument/2006/relationships/slide" Target="slides/slide20.xml"/><Relationship Id="rId13" Type="http://schemas.openxmlformats.org/officeDocument/2006/relationships/slide" Target="slides/slide21.xml"/><Relationship Id="rId14" Type="http://schemas.openxmlformats.org/officeDocument/2006/relationships/slide" Target="slides/slide23.xml"/><Relationship Id="rId15" Type="http://schemas.openxmlformats.org/officeDocument/2006/relationships/slide" Target="slides/slide25.xml"/><Relationship Id="rId16" Type="http://schemas.openxmlformats.org/officeDocument/2006/relationships/slide" Target="slides/slide27.xml"/><Relationship Id="rId17" Type="http://schemas.openxmlformats.org/officeDocument/2006/relationships/slide" Target="slides/slide29.xml"/><Relationship Id="rId18" Type="http://schemas.openxmlformats.org/officeDocument/2006/relationships/slide" Target="slides/slide30.xml"/><Relationship Id="rId19" Type="http://schemas.openxmlformats.org/officeDocument/2006/relationships/slide" Target="slides/slide31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Relationship Id="rId25" Type="http://schemas.openxmlformats.org/officeDocument/2006/relationships/slide" Target="slides/slide11.xml"/><Relationship Id="rId26" Type="http://schemas.openxmlformats.org/officeDocument/2006/relationships/slide" Target="slides/slide13.xml"/><Relationship Id="rId27" Type="http://schemas.openxmlformats.org/officeDocument/2006/relationships/slide" Target="slides/slide15.xml"/><Relationship Id="rId28" Type="http://schemas.openxmlformats.org/officeDocument/2006/relationships/slide" Target="slides/slide18.xml"/><Relationship Id="rId29" Type="http://schemas.openxmlformats.org/officeDocument/2006/relationships/slide" Target="slides/slide22.xml"/><Relationship Id="rId30" Type="http://schemas.openxmlformats.org/officeDocument/2006/relationships/slide" Target="slides/slide24.xml"/><Relationship Id="rId31" Type="http://schemas.openxmlformats.org/officeDocument/2006/relationships/slide" Target="slides/slide26.xml"/><Relationship Id="rId32" Type="http://schemas.openxmlformats.org/officeDocument/2006/relationships/slide" Target="slides/slide4.xml"/><Relationship Id="rId33" Type="http://schemas.openxmlformats.org/officeDocument/2006/relationships/slide" Target="slides/slide5.xml"/><Relationship Id="rId34" Type="http://schemas.openxmlformats.org/officeDocument/2006/relationships/slide" Target="slides/slide6.xml"/><Relationship Id="rId35" Type="http://schemas.openxmlformats.org/officeDocument/2006/relationships/slide" Target="slides/slide7.xml"/><Relationship Id="rId36" Type="http://schemas.openxmlformats.org/officeDocument/2006/relationships/slide" Target="slides/slide28.xml"/><Relationship Id="rId37" Type="http://schemas.openxmlformats.org/officeDocument/2006/relationships/slide" Target="slides/slide16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2.xml"/><Relationship Id="rId6" Type="http://schemas.openxmlformats.org/officeDocument/2006/relationships/image" Target="../media/image10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2-1.png"/><Relationship Id="rId3" Type="http://schemas.openxmlformats.org/officeDocument/2006/relationships/image" Target="../media/image-2-2.png"/><Relationship Id="rId4" Type="http://schemas.openxmlformats.org/officeDocument/2006/relationships/image" Target="../media/image-2-3.png"/><Relationship Id="rId5" Type="http://schemas.openxmlformats.org/officeDocument/2006/relationships/image" Target="../media/image10.png"/><Relationship Id="rId6" Type="http://schemas.openxmlformats.org/officeDocument/2006/relationships/image" Target="../media/image-8-2.png"/><Relationship Id="rId7" Type="http://schemas.openxmlformats.org/officeDocument/2006/relationships/image" Target="../media/image1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15-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-6-1.png"/><Relationship Id="rId3" Type="http://schemas.openxmlformats.org/officeDocument/2006/relationships/image" Target="../media/image-6-2.png"/><Relationship Id="rId4" Type="http://schemas.openxmlformats.org/officeDocument/2006/relationships/image" Target="../media/image12.png"/><Relationship Id="rId5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4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6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13.png"/><Relationship Id="rId4" Type="http://schemas.openxmlformats.org/officeDocument/2006/relationships/image" Target="../media/image-14-1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Relationship Id="rId3" Type="http://schemas.openxmlformats.org/officeDocument/2006/relationships/hyperlink" Target="https://www.raid-calculator.com/raid-types-reference.aspx" TargetMode="Externa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2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6.jpg"/><Relationship Id="rId3" Type="http://schemas.openxmlformats.org/officeDocument/2006/relationships/image" Target="../media/image7.png"/><Relationship Id="rId4" Type="http://schemas.openxmlformats.org/officeDocument/2006/relationships/hyperlink" Target="https://support.hpe.com/hpesc/public/docDisplay?docId=a00019684en_us&amp;docLocale=en_US" TargetMode="Externa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9.png"/><Relationship Id="rId3" Type="http://schemas.openxmlformats.org/officeDocument/2006/relationships/hyperlink" Target="https://www.infores.es/productos/Almacenamiento-SAN.html" TargetMode="Externa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hyperlink" Target="https://www.raid-calculator.com/raid-types-reference.aspx" TargetMode="External"/><Relationship Id="rId3" Type="http://schemas.openxmlformats.org/officeDocument/2006/relationships/image" Target="../media/image-15-1.png"/><Relationship Id="rId4" Type="http://schemas.openxmlformats.org/officeDocument/2006/relationships/image" Target="../media/image-14-1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image" Target="../media/image-16-2.png"/><Relationship Id="rId3" Type="http://schemas.openxmlformats.org/officeDocument/2006/relationships/image" Target="../media/image-16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6.xml"/><Relationship Id="rId6" Type="http://schemas.openxmlformats.org/officeDocument/2006/relationships/image" Target="../media/image1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image" Target="../media/image-18-1.png"/><Relationship Id="rId3" Type="http://schemas.openxmlformats.org/officeDocument/2006/relationships/image" Target="../media/image-18-1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8.xml"/><Relationship Id="rId6" Type="http://schemas.openxmlformats.org/officeDocument/2006/relationships/hyperlink" Target="https://github.com/SMX-0226SI/Materials/blob/main/NF2/AA2-SistemesEmmagatzematge.md" TargetMode="External"/><Relationship Id="rId7" Type="http://schemas.openxmlformats.org/officeDocument/2006/relationships/hyperlink" Target="https://www.raid-calculator.com/raid-types-reference.aspx" TargetMode="External"/><Relationship Id="rId8" Type="http://schemas.openxmlformats.org/officeDocument/2006/relationships/hyperlink" Target="https://youtu.be/x8MXkvgeD0w?si=PxmhBAzU1JfD0yvy" TargetMode="External"/><Relationship Id="rId9" Type="http://schemas.openxmlformats.org/officeDocument/2006/relationships/hyperlink" Target="https://youtu.be/3XO-GrcyxHg?si=gzZ1YTr-ovlSkkI4" TargetMode="External"/><Relationship Id="rId10" Type="http://schemas.openxmlformats.org/officeDocument/2006/relationships/hyperlink" Target="https://www.ibm.com/think/topics/storage-area-network" TargetMode="Externa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869680" y="-1828800"/>
            <a:ext cx="6400800" cy="6400800"/>
          </a:xfrm>
          <a:prstGeom prst="ellipse">
            <a:avLst/>
          </a:prstGeom>
          <a:solidFill>
            <a:srgbClr val="13293D"/>
          </a:solidFill>
          <a:ln/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9875520" y="-914400"/>
            <a:ext cx="4114800" cy="4114800"/>
          </a:xfrm>
          <a:prstGeom prst="ellipse">
            <a:avLst/>
          </a:prstGeom>
          <a:solidFill>
            <a:srgbClr val="16242E"/>
          </a:solidFill>
          <a:ln/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822960" y="137160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MÒDUL 06 · SEGURETAT INFORMÀTICA — RA2 · NF2-AA2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82880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d'emmagatzematge</a:t>
            </a:r>
            <a:endParaRPr lang="en-US" sz="4400" dirty="0"/>
          </a:p>
        </p:txBody>
      </p:sp>
      <p:pic>
        <p:nvPicPr>
          <p:cNvPr id="6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22960" y="3246120"/>
            <a:ext cx="502920" cy="502920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1463040" y="32461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 viuen les dades, i com evitar que hi visquin soles</a:t>
            </a:r>
            <a:endParaRPr lang="en-US" sz="1800" dirty="0"/>
          </a:p>
        </p:txBody>
      </p:sp>
      <p:sp>
        <p:nvSpPr>
          <p:cNvPr id="8" name="Text 5"/>
          <p:cNvSpPr txBox="1"/>
          <p:nvPr/>
        </p:nvSpPr>
        <p:spPr>
          <a:xfrm>
            <a:off x="822960" y="566928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CFGM Sistemes Microinformàtics i Xarxes · 2n curs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822960" y="6035040"/>
            <a:ext cx="91440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Institut Puig Castellar</a:t>
            </a:r>
            <a:endParaRPr lang="en-US" sz="1200" dirty="0"/>
          </a:p>
          <a:p>
            <a:pPr indent="0" marL="0">
              <a:lnSpc>
                <a:spcPts val="1600"/>
              </a:lnSpc>
              <a:buNone/>
            </a:pPr>
            <a:r>
              <a:rPr lang="en-US" sz="12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Joan Sánchez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AQUESTA SESSIÓ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aprendrem avui?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d'emmagatzematge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48996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durs, SSD, i tots els suports externs que fem servir per guardar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Redundància: RAID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combinar diversos discos per no dependre mai d'un de sol, i els 5 nivells de RAID més utilitzats.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DAS, NAS, SAN i núvol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diferents maneres de centralitzar l'emmagatzematge a nivell d'empresa, del més senzill al més professional.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90753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Paràmetres i salut dels discos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48996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Rendiment, disponibilitat i accessibilitat, i com detectar amb SMART que un disc està a punt de fallar.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 DE PARTIDA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 es guarda la informació?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Medis persistents a l'equip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Discs durs (tecnologia magnètica) i unitats SSD (semiconductors): els medis principals on viuen les dades dins de cada ordinador.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272491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usb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075688"/>
            <a:ext cx="3483864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Sistemes externs (tercer nivell)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Discos durs extraïbles, pendrives, cintes magnètiques i DVD: suports addicionals per a còpies, transport o arxiu.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PARÀMETRES DE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demanem a l'emmagatzematge?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230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16355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gauge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99235" y="2228088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016355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16355" y="3477768"/>
            <a:ext cx="266090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llegeixi i escrigui les dades ràpidament. Es mesura amb la latència, les IOPS i el throughput.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438134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47653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shiel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48276" y="2228088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476539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Disponibilitat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476539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 sistema continuï funcionant encara que alguna peça falli: redundància (RAID), SAI i monitoratge dels discos.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130388" y="1661160"/>
            <a:ext cx="3429000" cy="3780535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851443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a92ac1fc-9241-54c9-9c87-68470d7a571f/scratchpad/aa2/icon_key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697316" y="2228088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8514436" y="3005328"/>
            <a:ext cx="266090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Accessibilitat</a:t>
            </a:r>
            <a:endParaRPr lang="en-US" sz="2200" dirty="0"/>
          </a:p>
        </p:txBody>
      </p:sp>
      <p:sp>
        <p:nvSpPr>
          <p:cNvPr id="19" name="Text 14"/>
          <p:cNvSpPr txBox="1"/>
          <p:nvPr/>
        </p:nvSpPr>
        <p:spPr>
          <a:xfrm>
            <a:off x="8514436" y="3477768"/>
            <a:ext cx="266090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 els usuaris arribin a les dades quan les necessiten: disc ben muntat, permisos correctes i sistema de fitxers sense errors.</a:t>
            </a:r>
            <a:endParaRPr lang="en-US" sz="1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mesura el rendiment?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Latència: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temps que triga el disc a respondre una operació. Es mesura en mil·lisegons (ms) o microsegons (µs): com menys, millor.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IOPS: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operacions de lectura o escriptura per segon. És clau quan hi ha moltes peticions petites i aleatòries (sistema operatiu, bases de dades).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 b="1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Throughput: </a:t>
            </a:r>
            <a:r>
              <a:rPr lang="en-US" sz="1800" dirty="0" b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quantitat de dades transferides per segon, en MB/s o GB/s. És clau amb fitxers grans i seqüencials (vídeo, còpies de seguretat).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647057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14400" y="499910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898517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disc pot tenir un bon throughput i poques IOPS: copiar una pel·lícula (accés seqüencial) no costa el mateix que obrir milers de fitxers petits (accés aleatori).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COMPARATIVA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HDD, SSD i NVMe en xifres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3767327"/>
        </p:xfrm>
        <a:graphic>
          <a:graphicData uri="http://schemas.openxmlformats.org/drawingml/2006/table">
            <a:tbl>
              <a:tblPr/>
              <a:tblGrid>
                <a:gridCol w="2011680"/>
                <a:gridCol w="2331720"/>
                <a:gridCol w="2240280"/>
                <a:gridCol w="2331720"/>
                <a:gridCol w="233172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HDD (7.200 rpm)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SSD NVMe (M.2)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Llapis USB / SD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Latència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5–10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≈ 0,02–0,1 ms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IOPS (aleatòries)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75–200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Desenes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de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Centenars o pocs milers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Throughput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100–250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Fins a ≈ 550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3.000–14.000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20–400 MB/s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PCIe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USB o lector de targetes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 per GB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 més 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Mitjà-alt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Variable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694944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Ús típic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Gran capacitat, arxiu i còpies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Equips d'oficina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Servidors i equips exigents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Transport de dades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839967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Valors orientatius (ordre de magnitud): cada model concret pot variar.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DETECCIÓ D'ANOMALIES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SMART: detectar la fallada abans que passi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SMART (Self-Monitoring, Analysis and Reporting Technology) és un sistema integrat als discos HDD, SSD i NVMe que registra indicadors de salut: sectors defectuosos reassignats, errors de lectura, temperatura, hores d'ús o desgast (SSD). Si empitjoren, cal substituir el disc abans que falli.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terminal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es consulta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Ubuntu, amb smartctl (cal instal·lar el paquet smartmontools): sudo smartctl -H /dev/sda mostra l'estat de salut i sudo smartctl -a /dev/sda, tots els indicadors. A l'escriptori, l'aplicació Discos també mostra les dades SMART. En una màquina virtual, SMART normalment no està disponible: el disc és virtual i no té sensors físics.</a:t>
            </a:r>
            <a:endParaRPr lang="en-US" sz="1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 PROBLEMA A RESOLDRE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Duplicar la informació: la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85813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Duplicar la informació permet evitar-ne la pèrdua davant l'avaria d'un disc. Es combinen diverses tècniques per evitar un únic punt de fallada (single point of failure).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3230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7" name="Shape 5"/>
          <p:cNvSpPr/>
          <p:nvPr/>
        </p:nvSpPr>
        <p:spPr>
          <a:xfrm>
            <a:off x="88834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8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25499" y="3159379"/>
            <a:ext cx="365760" cy="365760"/>
          </a:xfrm>
          <a:prstGeom prst="rect">
            <a:avLst/>
          </a:prstGeom>
        </p:spPr>
      </p:pic>
      <p:sp>
        <p:nvSpPr>
          <p:cNvPr id="9" name="Text 6"/>
          <p:cNvSpPr txBox="1"/>
          <p:nvPr/>
        </p:nvSpPr>
        <p:spPr>
          <a:xfrm>
            <a:off x="88834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</a:t>
            </a:r>
            <a:endParaRPr 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888340" y="436333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diverses unitats en una sola unitat lògica. Redundància LOCAL, a nivell del propi equip.</a:t>
            </a:r>
            <a:endParaRPr lang="en-US" sz="1800" dirty="0"/>
          </a:p>
        </p:txBody>
      </p:sp>
      <p:sp>
        <p:nvSpPr>
          <p:cNvPr id="11" name="Shape 8"/>
          <p:cNvSpPr/>
          <p:nvPr/>
        </p:nvSpPr>
        <p:spPr>
          <a:xfrm>
            <a:off x="438134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2" name="Shape 9"/>
          <p:cNvSpPr/>
          <p:nvPr/>
        </p:nvSpPr>
        <p:spPr>
          <a:xfrm>
            <a:off x="463738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3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74540" y="3159379"/>
            <a:ext cx="365760" cy="365760"/>
          </a:xfrm>
          <a:prstGeom prst="rect">
            <a:avLst/>
          </a:prstGeom>
        </p:spPr>
      </p:pic>
      <p:sp>
        <p:nvSpPr>
          <p:cNvPr id="14" name="Text 10"/>
          <p:cNvSpPr txBox="1"/>
          <p:nvPr/>
        </p:nvSpPr>
        <p:spPr>
          <a:xfrm>
            <a:off x="4637380" y="3890899"/>
            <a:ext cx="2916936" cy="670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en xarxa</a:t>
            </a:r>
            <a:endParaRPr lang="en-US" sz="2200" dirty="0"/>
          </a:p>
        </p:txBody>
      </p:sp>
      <p:sp>
        <p:nvSpPr>
          <p:cNvPr id="15" name="Text 11"/>
          <p:cNvSpPr txBox="1"/>
          <p:nvPr/>
        </p:nvSpPr>
        <p:spPr>
          <a:xfrm>
            <a:off x="4637380" y="4698619"/>
            <a:ext cx="2916936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Redundància a nivell de xarxa local (més d'un servidor o cabina). Internament, aquests sistemes ja usen RAID.</a:t>
            </a:r>
            <a:endParaRPr lang="en-US" sz="1800" dirty="0"/>
          </a:p>
        </p:txBody>
      </p:sp>
      <p:sp>
        <p:nvSpPr>
          <p:cNvPr id="16" name="Shape 12"/>
          <p:cNvSpPr/>
          <p:nvPr/>
        </p:nvSpPr>
        <p:spPr>
          <a:xfrm>
            <a:off x="8130388" y="2766187"/>
            <a:ext cx="3429000" cy="3452368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7" name="Shape 13"/>
          <p:cNvSpPr/>
          <p:nvPr/>
        </p:nvSpPr>
        <p:spPr>
          <a:xfrm>
            <a:off x="8386420" y="3022219"/>
            <a:ext cx="640080" cy="64008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8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23580" y="3159379"/>
            <a:ext cx="365760" cy="365760"/>
          </a:xfrm>
          <a:prstGeom prst="rect">
            <a:avLst/>
          </a:prstGeom>
        </p:spPr>
      </p:pic>
      <p:sp>
        <p:nvSpPr>
          <p:cNvPr id="19" name="Text 14"/>
          <p:cNvSpPr txBox="1"/>
          <p:nvPr/>
        </p:nvSpPr>
        <p:spPr>
          <a:xfrm>
            <a:off x="8386420" y="3890899"/>
            <a:ext cx="2916936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200" dirty="0"/>
          </a:p>
        </p:txBody>
      </p:sp>
      <p:sp>
        <p:nvSpPr>
          <p:cNvPr id="20" name="Text 15"/>
          <p:cNvSpPr txBox="1"/>
          <p:nvPr/>
        </p:nvSpPr>
        <p:spPr>
          <a:xfrm>
            <a:off x="8386420" y="4363339"/>
            <a:ext cx="2916936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Dropbox, Google Drive, OneDrive... la informació queda "duplicada" a Internet: molt atractiu per a l'ús domèstic.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Redundant Array of Independent Disks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aconseguim?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Segons el nivell triat: tolerància a fallades (si un disc falla, la informació no es perd) i/o millora del rendiment (les dades es distribueixen entre diversos discos i es llegeixen/escriuen en paral·lel).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hd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Maquinari o programari?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Amb controladores dedicades (més ràpid, permet hot swap: canviar un disc sense aturar el sistema) o implementat pel mateix sistema operatiu (més barat, però només nivells bàsics i menys rendiment).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0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Data striping: distribuir sense redundància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es distribueixen entre dos o més discos (per exemple, els blocs A1, A3, A5... al disc 1, i A2, A4, A6... al disc 0). Com que s'escriu als dos discos alhora, el rendiment augmenta.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 redundància: si falla un dels discos, es perd tota la informació de l'array. Només aporta velocitat, no seguretat.</a:t>
            </a:r>
            <a:endParaRPr lang="en-US" sz="18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0 — Data striping</a:t>
            </a:r>
          </a:p>
        </p:txBody>
      </p:sp>
      <p:pic>
        <p:nvPicPr>
          <p:cNvPr id="4" name="Picture 3" descr="raid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0: la informació es distribueix entre els discos sense redundància.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1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Mirror: còpia exacta entre dos discos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copy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bloc de dades es guarda de manera idèntica als dos discos (mirall). Si un disc falla, l'altre ja conté tota la informació.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Rendiment i cost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Lectura ràpida (es pot llegir de qualsevol dels dos discos); escriptura equivalent a un sol disc (més lenta que RAID 0). Es perd la meitat de la capacitat total.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 — Mirror</a:t>
            </a:r>
          </a:p>
        </p:txBody>
      </p:sp>
      <p:pic>
        <p:nvPicPr>
          <p:cNvPr id="4" name="Picture 3" descr="raid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3662" y="1615440"/>
            <a:ext cx="3084369" cy="4172712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897880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1: còpia exacta (mirall) de la informació entre dos discos.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I 6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Paritat distribuïda: redundància eficient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5 (mínim 3 discos)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Divideix les dades a nivell de bloc i distribueix la informació de paritat entre TOTS els discos. Solució popular: redundància més econòmica que el mirall, encara que més lenta. Suporta la pèrdua d'UN disc.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346704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shield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6 (mínim 4 discos)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Igual que RAID 5, però amb una SEGONA banda de paritat. Suporta la pèrdua de DOS discos simultàniament, a canvi de perdre la capacitat equivalent a dos discos.</a:t>
            </a:r>
            <a:endParaRPr lang="en-US" sz="18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5 i 6 — Paritat distribuïda</a:t>
            </a:r>
          </a:p>
        </p:txBody>
      </p:sp>
      <p:pic>
        <p:nvPicPr>
          <p:cNvPr id="4" name="Picture 3" descr="raid5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5173" y="1615440"/>
            <a:ext cx="4385539" cy="3840480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65648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5: paritat distribuïda (mínim 3 discos).</a:t>
            </a:r>
          </a:p>
        </p:txBody>
      </p:sp>
      <p:pic>
        <p:nvPicPr>
          <p:cNvPr id="6" name="Picture 5" descr="raid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307708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802254"/>
            <a:ext cx="5318607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6: doble paritat (mínim 4 discos).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5 · LA PARITAT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 la paritat?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Analogia amb sumes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21762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Caixa A = 3, caixa B = 5 i, a la caixa C, la paritat: 3 + 5 = 8.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A → 8 − 5 = 3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B → 8 − 3 = 5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 C → 3 + 5 = 8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perden dues caixes → impossible: el RAID 5 només suporta 1 fallada.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4279392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a92ac1fc-9241-54c9-9c87-68470d7a571f/scratchpad/aa2/icon_termina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Amb bits: l'operació XOR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2487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ea typeface="Calibri" pitchFamily="34" charset="-122"/>
                <a:latin typeface="Consolas"/>
              </a:rPr>
              <a:t>Disc 1:   1 0 1 1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ea typeface="Calibri" pitchFamily="34" charset="-122"/>
                <a:latin typeface="Consolas"/>
              </a:rPr>
              <a:t>Disc 2:   0 1 1 0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ea typeface="Calibri" pitchFamily="34" charset="-122"/>
                <a:latin typeface="Consolas"/>
              </a:rPr>
              <a:t>Paritat:  1 1 0 1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XOR: 1 si els bits són diferents, 0 si són iguals.</a:t>
            </a:r>
            <a:endParaRPr lang="en-US" sz="1800" dirty="0"/>
          </a:p>
          <a:p>
            <a:pPr indent="0" marL="0">
              <a:lnSpc>
                <a:spcPts val="2448"/>
              </a:lnSpc>
              <a:buNone/>
            </a:pPr>
            <a:r>
              <a:rPr lang="en-US" sz="1800" dirty="0" b="1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falla el disc 1: disc 2 XOR paritat = 1 0 1 1 → recuperat.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RAID ANIUAT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RAID 10: el millor de dos mons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 funciona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9326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Combina RAID 1 i RAID 0 (mínim 4 discos): primer es formen parelles en mirall, i després es distribueix la informació entre les parelles.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bolt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és tan bo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Solució ràpida i segura, però cal tenir en compte: només es pot perdre un disc per cada conjunt en mirall (si fallen els dos d'una mateixa parella, es perd la informació).</a:t>
            </a:r>
            <a:endParaRPr lang="en-US" sz="1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SOTA EL CAPÓ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RAID 10 — El millor de dos mons</a:t>
            </a:r>
          </a:p>
        </p:txBody>
      </p:sp>
      <p:pic>
        <p:nvPicPr>
          <p:cNvPr id="4" name="Picture 3" descr="raid10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24046" y="1615440"/>
            <a:ext cx="5943600" cy="3846358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557152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RAID 10 combina mirall (RAID 1) i distribució (RAID 0).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18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RESUM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Comparativa de nivells de RAID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20" cy="2944368"/>
        </p:xfrm>
        <a:graphic>
          <a:graphicData uri="http://schemas.openxmlformats.org/drawingml/2006/table">
            <a:tbl>
              <a:tblPr/>
              <a:tblGrid>
                <a:gridCol w="2651760"/>
                <a:gridCol w="1719072"/>
                <a:gridCol w="1719072"/>
                <a:gridCol w="1719072"/>
                <a:gridCol w="1719072"/>
                <a:gridCol w="1719072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Característica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RAID 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Nombre mínim de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Redundància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Capacitat utilitzable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disc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 discos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de lectura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Velocitat d'escriptura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Mitjana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Baix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Text 3"/>
          <p:cNvSpPr txBox="1"/>
          <p:nvPr/>
        </p:nvSpPr>
        <p:spPr>
          <a:xfrm>
            <a:off x="457200" y="5017008"/>
            <a:ext cx="10058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Font: 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3"/>
              </a:rPr>
              <a:t>www.raid-calculator.com</a:t>
            </a:r>
            <a:r>
              <a:rPr lang="en-US" sz="180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(taula de referència de tipus de RAID)</a:t>
            </a:r>
            <a:endParaRPr lang="en-US" sz="18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CENTRALITZAR L'EMMAGATZEMATGE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Per què les dades no haurien d'estar a les estacions de treball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57441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 dades centralitzades eviten la inconsistència de les dades: quan un mateix document existeix en diversos equips amb versions diferents.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més, permeten fer còpies de seguretat de forma centralitzada i amb més facilitat, en lloc de dependre que cada usuari en faci al seu propi equip.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Tres sistemes principals: DAS, NAS i SAN. Internament, el dispositiu que fa de servidor d'arxius sol usar RAID per tenir alta disponibilitat.</a:t>
            </a:r>
            <a:endParaRPr lang="en-US" sz="18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· Direct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serv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86537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Servidors que exposen carpetes compartides (per exemple, la xarxa de l'institut) mitjançant protocols com SMB o NFS. Pot ser tan bàsic com un servidor compartint les seves unitats internes, o tan avançat com un servidor amb cabines de discos dedicades i hot-plug.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657600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Inconvenients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 el servidor no és dedicat, el rendiment pot ser baix. Disponibilitat limitada: si el servidor falla, no hi ha accés a les dades. Coll d'ampolla de xarxa si molts clients hi accedeixen alhora.</a:t>
            </a:r>
            <a:endParaRPr lang="en-US" sz="18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DAS — Direct Attached Storage</a:t>
            </a:r>
          </a:p>
        </p:txBody>
      </p:sp>
      <p:pic>
        <p:nvPicPr>
          <p:cNvPr id="4" name="Picture 3" descr="hp-prolian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30502" y="1615440"/>
            <a:ext cx="4754880" cy="18821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3607307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4"/>
              </a:rPr>
              <a:t>Servidor HP ProLiant DL380 Gen9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usat habitualment com a DAS.</a:t>
            </a:r>
          </a:p>
        </p:txBody>
      </p:sp>
      <p:pic>
        <p:nvPicPr>
          <p:cNvPr id="6" name="Picture 5" descr="da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6311" y="1615440"/>
            <a:ext cx="4754880" cy="2960236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324447" y="4685404"/>
            <a:ext cx="5318607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Cada servidor exposa el seu propi emmagatzematge directament a la xarxa.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22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NAS · Network Attached Storage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5516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103921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database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03808" y="2209800"/>
            <a:ext cx="402336" cy="402336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99933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Què és</a:t>
            </a:r>
            <a:endParaRPr 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103921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Dispositiu dedicat a l'emmagatzematge en xarxa: un petit servidor amb sistema operatiu especialitzat i interfície web de gestió. Molt apte per al mercat domèstic i la petita empresa.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324448" y="1661160"/>
            <a:ext cx="5212080" cy="3035808"/>
          </a:xfrm>
          <a:prstGeom prst="roundRect">
            <a:avLst>
              <a:gd name="adj" fmla="val 2791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708496" y="2045208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checkcircle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73087" y="2209800"/>
            <a:ext cx="402336" cy="402336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7668616" y="2243328"/>
            <a:ext cx="3483864" cy="335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Punts forts i límits</a:t>
            </a:r>
            <a:endParaRPr lang="en-US" sz="2200" dirty="0"/>
          </a:p>
        </p:txBody>
      </p:sp>
      <p:sp>
        <p:nvSpPr>
          <p:cNvPr id="14" name="Text 10"/>
          <p:cNvSpPr txBox="1"/>
          <p:nvPr/>
        </p:nvSpPr>
        <p:spPr>
          <a:xfrm>
            <a:off x="6708496" y="3069336"/>
            <a:ext cx="4443984" cy="12435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4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Fàcil de configurar i utilitzar. Limitacions de rendiment (CPU i RAM limitades) i la connexió de xarxa pot ser un coll d'ampolla si molts clients hi accedeixen a la vegada.</a:t>
            </a:r>
            <a:endParaRPr lang="en-US" sz="18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NAS — Network Attached Storage</a:t>
            </a:r>
          </a:p>
        </p:txBody>
      </p:sp>
      <p:pic>
        <p:nvPicPr>
          <p:cNvPr id="4" name="Picture 3" descr="na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66846" y="1615440"/>
            <a:ext cx="6858000" cy="2981325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706493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</a:rPr>
              <a:t>Un NAS connecta diversos clients a través d'un switch; a la dreta, un dispositiu NAS real.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24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SISTEMES EN XARXA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SAN · Storage Area Network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2660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Xarxa dedicada exclusivament a l'emmagatzematge, molt més complexa i costosa que un NAS, però amb un rendiment molt superior.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Usa protocols optimitzats per a la transferència de fitxers (Fibre Channel, iSCSI, FCoE), diferents dels protocols habituals de la LAN (TCP/IP): calen switches i targetes de xarxa específics, a més de les de la LAN convencional.</a:t>
            </a:r>
            <a:endParaRPr lang="en-US" sz="1800" dirty="0"/>
          </a:p>
          <a:p>
            <a:pPr marL="342900" indent="-342900">
              <a:lnSpc>
                <a:spcPts val="2592"/>
              </a:lnSpc>
              <a:spcAft>
                <a:spcPts val="1800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Els servidors s'organitzen en clústers: redundància no només a nivell de disc (RAID), sinó també a nivell de servidor complet.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4733544"/>
            <a:ext cx="10789920" cy="1490472"/>
          </a:xfrm>
          <a:prstGeom prst="roundRect">
            <a:avLst>
              <a:gd name="adj" fmla="val 7143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bulb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5250180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985004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escala més petita, es pot muntar un clúster d'emmagatzematge amb servidors normals de la LAN (DAS) usant tecnologies com Windows Server DFS o GlusterFS (Linux), sense necessitat d'una SAN completa.</a:t>
            </a:r>
            <a:endParaRPr lang="en-US" sz="18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48640" y="411480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F2A541"/>
                </a:solidFill>
                <a:latin typeface="Calibri"/>
              </a:rPr>
              <a:t>UN EXEMPLE REAL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48640" y="685800"/>
            <a:ext cx="1097280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16242E"/>
                </a:solidFill>
                <a:latin typeface="Cambria"/>
              </a:rPr>
              <a:t>SAN — Storage Area Network</a:t>
            </a:r>
          </a:p>
        </p:txBody>
      </p:sp>
      <p:pic>
        <p:nvPicPr>
          <p:cNvPr id="4" name="Picture 3" descr="cabina_de_disco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52646" y="1615440"/>
            <a:ext cx="5486400" cy="2948939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48640" y="4674106"/>
            <a:ext cx="110642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0" i="1">
                <a:solidFill>
                  <a:srgbClr val="5B6B77"/>
                </a:solidFill>
                <a:latin typeface="Calibri"/>
                <a:hlinkClick r:id="rId3"/>
              </a:rPr>
              <a:t>Cabines de discos dedicades</a:t>
            </a:r>
            <a:r>
              <a:rPr sz="1800" b="0" i="1">
                <a:solidFill>
                  <a:srgbClr val="5B6B77"/>
                </a:solidFill>
                <a:latin typeface="Calibri"/>
              </a:rPr>
              <a:t>, com les que s'utilitzen en un SAN.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548872" y="6446520"/>
            <a:ext cx="365760" cy="2743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/>
            <a:r>
              <a:rPr sz="1000">
                <a:solidFill>
                  <a:srgbClr val="5B6B77"/>
                </a:solidFill>
              </a:rPr>
              <a:t>26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ALTERNATIVA MODERNA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Serveis de núvol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640080" y="1661160"/>
            <a:ext cx="10789920" cy="171627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Pagament per ús en lloc d'infraestructura pròpia. Fins i tot en entorn domèstic hi ha plans gratuïts (Google Drive ofereix 15 GB a qualsevol compte de Gmail).</a:t>
            </a:r>
            <a:endParaRPr lang="en-US" sz="1800" dirty="0"/>
          </a:p>
          <a:p>
            <a:pPr marL="342900" indent="-342900">
              <a:lnSpc>
                <a:spcPts val="2508"/>
              </a:lnSpc>
              <a:spcAft>
                <a:spcPts val="1741"/>
              </a:spcAft>
              <a:buSzPct val="100000"/>
              <a:buChar char="▪"/>
            </a:pPr>
            <a:r>
              <a:rPr lang="en-US" sz="1800" dirty="0">
                <a:solidFill>
                  <a:srgbClr val="1624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Permeten accedir a la informació des de qualsevol lloc i moment, amb una disponibilitat molt alta i un cost inicial baix.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640080" y="3788918"/>
            <a:ext cx="10789920" cy="1490472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warning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14400" y="4305554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4040378"/>
            <a:ext cx="9601200" cy="987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Però compte: la sincronització pot ser lenta amb fitxers grans; es perd el control complet de les dades (seguretat, continuïtat del proveïdor); i cal complir la normativa legal (RGPD) si hi ha dades de caràcter personal.</a:t>
            </a:r>
            <a:endParaRPr lang="en-US" sz="18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/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LOCAL O NÚVOL?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Emmagatzematge local o al núvol?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28</a:t>
            </a:r>
            <a:endParaRPr lang="en-US" sz="11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661160"/>
          <a:ext cx="11247119" cy="2944368"/>
        </p:xfrm>
        <a:graphic>
          <a:graphicData uri="http://schemas.openxmlformats.org/drawingml/2006/table">
            <a:tbl>
              <a:tblPr/>
              <a:tblGrid>
                <a:gridCol w="2377440"/>
                <a:gridCol w="4434840"/>
                <a:gridCol w="4434840"/>
              </a:tblGrid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/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Local (on-premise)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Núvol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B1B2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Cost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Inversió inicial alta + manteniment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Pagament per ús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Escalabilitat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Limitada al maquinari propi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Pràcticament il·limitada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Accés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Xarxa local o VPN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 de qualsevol lloc amb Internet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Disponibilitat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dels equips propis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Molt alta (centres de dades redundants)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i seguretat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total, però responsabilitat total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Delegats al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3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Depèn de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Maquinari i personal tècnic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6242E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Connexió a Internet i proveïdor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2E8E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7F9"/>
                    </a:solidFill>
                  </a:tcPr>
                </a:tc>
              </a:tr>
            </a:tbl>
          </a:graphicData>
        </a:graphic>
      </p:graphicFrame>
      <p:sp>
        <p:nvSpPr>
          <p:cNvPr id="6" name="Shape 4"/>
          <p:cNvSpPr/>
          <p:nvPr/>
        </p:nvSpPr>
        <p:spPr>
          <a:xfrm>
            <a:off x="640080" y="5017008"/>
            <a:ext cx="10789920" cy="1161288"/>
          </a:xfrm>
          <a:prstGeom prst="roundRect">
            <a:avLst>
              <a:gd name="adj" fmla="val 6250"/>
            </a:avLst>
          </a:prstGeom>
          <a:solidFill>
            <a:srgbClr val="13293D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a92ac1fc-9241-54c9-9c87-68470d7a571f/scratchpad/aa2/icon_bul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400" y="5369051"/>
            <a:ext cx="457200" cy="45720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1554480" y="5268468"/>
            <a:ext cx="96012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i="1" dirty="0" b="1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 híbrid: </a:t>
            </a:r>
            <a:r>
              <a:rPr lang="en-US" sz="1800" i="1" dirty="0" b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moltes empreses combinen tots dos. Guarden en local les dades sensibles i les que necessiten més velocitat, i fan servir el núvol per a les còpies fora de l'empresa, per ampliar l'espai o la potència només quan cal i per col·laborar a distància.</a:t>
            </a:r>
            <a:endParaRPr lang="en-US" sz="18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ACABAR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Idees clau d'avui</a:t>
            </a:r>
            <a:endParaRPr lang="en-US" sz="2800" dirty="0"/>
          </a:p>
        </p:txBody>
      </p:sp>
      <p:sp>
        <p:nvSpPr>
          <p:cNvPr id="4" name="Text 2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29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630936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813815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7" name="Image 0" descr="/tmp/claude-0/-home-user-SMX-0226-Seguretat-Informatica/cec25c9b-7e93-584a-a64a-196540977a59/scratchpad/build/icons/layer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96695" y="2026920"/>
            <a:ext cx="365760" cy="365760"/>
          </a:xfrm>
          <a:prstGeom prst="rect">
            <a:avLst/>
          </a:prstGeom>
        </p:spPr>
      </p:pic>
      <p:sp>
        <p:nvSpPr>
          <p:cNvPr id="8" name="Text 5"/>
          <p:cNvSpPr txBox="1"/>
          <p:nvPr/>
        </p:nvSpPr>
        <p:spPr>
          <a:xfrm>
            <a:off x="813815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 nivells de RAID</a:t>
            </a:r>
            <a:endParaRPr lang="en-US" sz="1700" dirty="0"/>
          </a:p>
        </p:txBody>
      </p:sp>
      <p:sp>
        <p:nvSpPr>
          <p:cNvPr id="9" name="Text 6"/>
          <p:cNvSpPr txBox="1"/>
          <p:nvPr/>
        </p:nvSpPr>
        <p:spPr>
          <a:xfrm>
            <a:off x="813815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 (velocitat), 1 (mirall), 5 i 6 (paritat), 10 (mirall+distribució): cadascun amb el seu compromís.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6172200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1" name="Shape 8"/>
          <p:cNvSpPr/>
          <p:nvPr/>
        </p:nvSpPr>
        <p:spPr>
          <a:xfrm>
            <a:off x="6355080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2" name="Image 1" descr="/tmp/claude-0/-home-user-SMX-0226-Seguretat-Informatica/cec25c9b-7e93-584a-a64a-196540977a59/scratchpad/build/icons/network_F2A541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2026920"/>
            <a:ext cx="365760" cy="36576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6355080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DAS &lt; NAS &lt; SAN</a:t>
            </a:r>
            <a:endParaRPr lang="en-US" sz="1700" dirty="0"/>
          </a:p>
        </p:txBody>
      </p:sp>
      <p:sp>
        <p:nvSpPr>
          <p:cNvPr id="14" name="Text 10"/>
          <p:cNvSpPr txBox="1"/>
          <p:nvPr/>
        </p:nvSpPr>
        <p:spPr>
          <a:xfrm>
            <a:off x="6355080" y="3215640"/>
            <a:ext cx="2249424" cy="1579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Complexitat i cost creixents, a canvi de més rendiment, disponibilitat i escalabilitat.</a:t>
            </a:r>
            <a:endParaRPr lang="en-US" sz="1800" dirty="0"/>
          </a:p>
        </p:txBody>
      </p:sp>
      <p:sp>
        <p:nvSpPr>
          <p:cNvPr id="15" name="Shape 11"/>
          <p:cNvSpPr/>
          <p:nvPr/>
        </p:nvSpPr>
        <p:spPr>
          <a:xfrm>
            <a:off x="8942832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16" name="Shape 12"/>
          <p:cNvSpPr/>
          <p:nvPr/>
        </p:nvSpPr>
        <p:spPr>
          <a:xfrm>
            <a:off x="9125711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17" name="Image 2" descr="/tmp/claude-0/-home-user-SMX-0226-Seguretat-Informatica/cec25c9b-7e93-584a-a64a-196540977a59/scratchpad/build/icons/cloud_F2A541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308591" y="2026920"/>
            <a:ext cx="365760" cy="365760"/>
          </a:xfrm>
          <a:prstGeom prst="rect">
            <a:avLst/>
          </a:prstGeom>
        </p:spPr>
      </p:pic>
      <p:sp>
        <p:nvSpPr>
          <p:cNvPr id="18" name="Text 13"/>
          <p:cNvSpPr txBox="1"/>
          <p:nvPr/>
        </p:nvSpPr>
        <p:spPr>
          <a:xfrm>
            <a:off x="9125711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El núvol no és gratis</a:t>
            </a:r>
            <a:endParaRPr lang="en-US" sz="1700" dirty="0"/>
          </a:p>
        </p:txBody>
      </p:sp>
      <p:sp>
        <p:nvSpPr>
          <p:cNvPr id="19" name="Text 14"/>
          <p:cNvSpPr txBox="1"/>
          <p:nvPr/>
        </p:nvSpPr>
        <p:spPr>
          <a:xfrm>
            <a:off x="9125711" y="3215640"/>
            <a:ext cx="2249424" cy="12639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Còmode i barat, però amb consideracions legals, de velocitat i de control que cal valorar.</a:t>
            </a:r>
            <a:endParaRPr lang="en-US" sz="1800" dirty="0"/>
          </a:p>
        </p:txBody>
      </p:sp>
      <p:sp>
        <p:nvSpPr>
          <p:cNvPr id="900" name="New 0"/>
          <p:cNvSpPr/>
          <p:nvPr/>
        </p:nvSpPr>
        <p:spPr>
          <a:xfrm>
            <a:off x="3401567" y="1661160"/>
            <a:ext cx="2615184" cy="3633216"/>
          </a:xfrm>
          <a:prstGeom prst="roundRect">
            <a:avLst>
              <a:gd name="adj" fmla="val 3200"/>
            </a:avLst>
          </a:prstGeom>
          <a:solidFill>
            <a:srgbClr val="FFFFFF"/>
          </a:solidFill>
          <a:ln w="12700">
            <a:solidFill>
              <a:srgbClr val="E2E8ED"/>
            </a:solidFill>
            <a:prstDash val="solid"/>
          </a:ln>
          <a:effectLst>
            <a:outerShdw sx="100000" sy="100000" kx="0" ky="0" algn="bl" rotWithShape="0" blurRad="101600" dist="38100" dir="5400000">
              <a:srgbClr val="16242E">
                <a:alpha val="12000"/>
              </a:srgbClr>
            </a:outerShdw>
          </a:effectLst>
        </p:spPr>
        <p:txBody>
          <a:bodyPr/>
          <a:p/>
        </p:txBody>
      </p:sp>
      <p:sp>
        <p:nvSpPr>
          <p:cNvPr id="901" name="New 1"/>
          <p:cNvSpPr/>
          <p:nvPr/>
        </p:nvSpPr>
        <p:spPr>
          <a:xfrm>
            <a:off x="3584447" y="1844040"/>
            <a:ext cx="731520" cy="731520"/>
          </a:xfrm>
          <a:prstGeom prst="ellipse">
            <a:avLst/>
          </a:prstGeom>
          <a:solidFill>
            <a:srgbClr val="0B1B29"/>
          </a:solidFill>
          <a:ln/>
        </p:spPr>
        <p:txBody>
          <a:bodyPr/>
          <a:p/>
        </p:txBody>
      </p:sp>
      <p:pic>
        <p:nvPicPr>
          <p:cNvPr id="902" name="New 2" descr="/tmp/claude-0/-home-user-SMX-0226-Seguretat-Informatica/a92ac1fc-9241-54c9-9c87-68470d7a571f/scratchpad/aa2/icon_heartbeat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767327" y="2026920"/>
            <a:ext cx="365760" cy="365760"/>
          </a:xfrm>
          <a:prstGeom prst="rect">
            <a:avLst/>
          </a:prstGeom>
        </p:spPr>
      </p:pic>
      <p:sp>
        <p:nvSpPr>
          <p:cNvPr id="903" name="New 3"/>
          <p:cNvSpPr txBox="1"/>
          <p:nvPr/>
        </p:nvSpPr>
        <p:spPr>
          <a:xfrm>
            <a:off x="3584447" y="2804160"/>
            <a:ext cx="22494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Mesurar i vigilar</a:t>
            </a:r>
            <a:endParaRPr lang="en-US" sz="1700" dirty="0"/>
          </a:p>
        </p:txBody>
      </p:sp>
      <p:sp>
        <p:nvSpPr>
          <p:cNvPr id="904" name="New 4"/>
          <p:cNvSpPr txBox="1"/>
          <p:nvPr/>
        </p:nvSpPr>
        <p:spPr>
          <a:xfrm>
            <a:off x="3584447" y="3215640"/>
            <a:ext cx="2249424" cy="18958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2488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Rendiment (latència, IOPS, throughput), disponibilitat i accessibilitat. SMART avisa abans que un disc falli.</a:t>
            </a:r>
            <a:endParaRPr lang="en-US" sz="18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B1B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18872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ARA ÉS EL TORN VOSTRE</a:t>
            </a:r>
            <a:endParaRPr lang="en-US" sz="1400" dirty="0"/>
          </a:p>
        </p:txBody>
      </p:sp>
      <p:pic>
        <p:nvPicPr>
          <p:cNvPr id="3" name="Image 0" descr="/tmp/claude-0/-home-user-SMX-0226-Seguretat-Informatica/cec25c9b-7e93-584a-a64a-196540977a59/scratchpad/build/icons/question_F2A54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75520" y="1097280"/>
            <a:ext cx="731520" cy="731520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822960" y="173736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Un petit despatx d'advocats (5 persones) vol centralitzar els seus documents.</a:t>
            </a:r>
            <a:endParaRPr lang="en-US" sz="2600" dirty="0"/>
          </a:p>
        </p:txBody>
      </p:sp>
      <p:sp>
        <p:nvSpPr>
          <p:cNvPr id="5" name="Text 2"/>
          <p:cNvSpPr txBox="1"/>
          <p:nvPr/>
        </p:nvSpPr>
        <p:spPr>
          <a:xfrm>
            <a:off x="822960" y="3291840"/>
            <a:ext cx="98755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92"/>
              </a:lnSpc>
              <a:buNone/>
            </a:pPr>
            <a:r>
              <a:rPr lang="en-US" sz="1800" dirty="0">
                <a:solidFill>
                  <a:srgbClr val="CADC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 grups de 3: decidiu si recomanaríeu un DAS, un NAS o un servei de núvol, tenint en compte que gestionen dades de clients (confidencials) i tenen un pressupost limitat. Justifiqueu quin nivell de RAID hi aplicaríeu internament.</a:t>
            </a:r>
            <a:endParaRPr lang="en-US" sz="1800" dirty="0"/>
          </a:p>
        </p:txBody>
      </p:sp>
      <p:sp>
        <p:nvSpPr>
          <p:cNvPr id="6" name="Text 3"/>
          <p:cNvSpPr txBox="1"/>
          <p:nvPr/>
        </p:nvSpPr>
        <p:spPr>
          <a:xfrm>
            <a:off x="822960" y="603504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i="1" dirty="0">
                <a:solidFill>
                  <a:srgbClr val="8FA6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minuts en grup + posada en comú</a:t>
            </a:r>
            <a:endParaRPr lang="en-US" sz="1800" dirty="0"/>
          </a:p>
        </p:txBody>
      </p:sp>
      <p:sp>
        <p:nvSpPr>
          <p:cNvPr id="7" name="Text 4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4F7F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457200"/>
            <a:ext cx="9144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00" kern="0" dirty="0">
                <a:solidFill>
                  <a:srgbClr val="F2A54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FONTS DEL MATERIAL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822960"/>
            <a:ext cx="107899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Webgrafia</a:t>
            </a:r>
            <a:endParaRPr lang="en-US" sz="2800" dirty="0"/>
          </a:p>
        </p:txBody>
      </p:sp>
      <p:pic>
        <p:nvPicPr>
          <p:cNvPr id="4" name="Image 0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40080" y="1653540"/>
            <a:ext cx="320040" cy="320040"/>
          </a:xfrm>
          <a:prstGeom prst="rect">
            <a:avLst/>
          </a:prstGeom>
        </p:spPr>
      </p:pic>
      <p:sp>
        <p:nvSpPr>
          <p:cNvPr id="5" name="Text 2"/>
          <p:cNvSpPr txBox="1"/>
          <p:nvPr/>
        </p:nvSpPr>
        <p:spPr>
          <a:xfrm>
            <a:off x="1143000" y="166116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NF2-AA2: Sistemes d'emmagatzematge</a:t>
            </a:r>
            <a:endParaRPr lang="en-US" sz="2000" dirty="0"/>
          </a:p>
        </p:txBody>
      </p:sp>
      <p:sp>
        <p:nvSpPr>
          <p:cNvPr id="6" name="Text 3"/>
          <p:cNvSpPr txBox="1"/>
          <p:nvPr/>
        </p:nvSpPr>
        <p:spPr>
          <a:xfrm>
            <a:off x="1143000" y="2039112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Repositori "Materials" (GitHub, SMX-0226SI) · Carlos Alonso Martínez, Escola Pia de Mataró · Llicència CC-BY-SA-4.0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6"/>
              </a:rPr>
              <a:t>github.com/SMX-0226SI/Materials/blob/main/NF2/AA2-SistemesEmmagatzematge.md</a:t>
            </a:r>
            <a:endParaRPr lang="en-US" sz="1800" dirty="0"/>
          </a:p>
        </p:txBody>
      </p:sp>
      <p:pic>
        <p:nvPicPr>
          <p:cNvPr id="7" name="Image 1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" y="3059430"/>
            <a:ext cx="320040" cy="32004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1143000" y="3067050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Taula de referència de tipus de RAID</a:t>
            </a:r>
            <a:endParaRPr lang="en-US" sz="2000" dirty="0"/>
          </a:p>
        </p:txBody>
      </p:sp>
      <p:sp>
        <p:nvSpPr>
          <p:cNvPr id="9" name="Text 5"/>
          <p:cNvSpPr txBox="1"/>
          <p:nvPr/>
        </p:nvSpPr>
        <p:spPr>
          <a:xfrm>
            <a:off x="1143000" y="3445002"/>
            <a:ext cx="10058400" cy="32194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7"/>
              </a:rPr>
              <a:t>raid-calculator.com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"RAID Types Reference"</a:t>
            </a:r>
            <a:endParaRPr lang="en-US" sz="1800" dirty="0"/>
          </a:p>
        </p:txBody>
      </p:sp>
      <p:pic>
        <p:nvPicPr>
          <p:cNvPr id="10" name="Image 2" descr="/tmp/claude-0/-home-user-SMX-0226-Seguretat-Informatica/cec25c9b-7e93-584a-a64a-196540977a59/scratchpad/build/icons/globe_3E6680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4143375"/>
            <a:ext cx="320040" cy="320040"/>
          </a:xfrm>
          <a:prstGeom prst="rect">
            <a:avLst/>
          </a:prstGeom>
        </p:spPr>
      </p:pic>
      <p:sp>
        <p:nvSpPr>
          <p:cNvPr id="11" name="Text 6"/>
          <p:cNvSpPr txBox="1"/>
          <p:nvPr/>
        </p:nvSpPr>
        <p:spPr>
          <a:xfrm>
            <a:off x="1143000" y="4150995"/>
            <a:ext cx="10058400" cy="304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6242E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Vídeos de referència</a:t>
            </a:r>
            <a:endParaRPr lang="en-US" sz="2000" dirty="0"/>
          </a:p>
        </p:txBody>
      </p:sp>
      <p:sp>
        <p:nvSpPr>
          <p:cNvPr id="12" name="Text 7"/>
          <p:cNvSpPr txBox="1"/>
          <p:nvPr/>
        </p:nvSpPr>
        <p:spPr>
          <a:xfrm>
            <a:off x="1143000" y="4528947"/>
            <a:ext cx="10058400" cy="64389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535"/>
              </a:lnSpc>
              <a:buNone/>
            </a:pP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NASEROS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8"/>
              </a:rPr>
              <a:t>"Tipos de RAID"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Pau Tomé (YouTube)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9"/>
              </a:rPr>
              <a:t>"RAID en Windows Server"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; IBM — </a:t>
            </a:r>
            <a:r>
              <a:rPr lang="en-US" sz="18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  <a:hlinkClick r:id="rId10"/>
              </a:rPr>
              <a:t>"What is a storage area network (SAN)?"</a:t>
            </a:r>
            <a:endParaRPr lang="en-US" sz="1800" dirty="0"/>
          </a:p>
        </p:txBody>
      </p:sp>
      <p:sp>
        <p:nvSpPr>
          <p:cNvPr id="13" name="Text 8"/>
          <p:cNvSpPr txBox="1"/>
          <p:nvPr/>
        </p:nvSpPr>
        <p:spPr>
          <a:xfrm>
            <a:off x="640080" y="6217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Llicència CC BY-SA 4.0 · Adaptat de "Materials" (SMX-0226SI), Carlos Alonso Martínez, Escola Pia de Mataró</a:t>
            </a:r>
            <a:endParaRPr lang="en-US" sz="1050" dirty="0"/>
          </a:p>
        </p:txBody>
      </p:sp>
      <p:sp>
        <p:nvSpPr>
          <p:cNvPr id="14" name="Text 9"/>
          <p:cNvSpPr txBox="1"/>
          <p:nvPr/>
        </p:nvSpPr>
        <p:spPr>
          <a:xfrm>
            <a:off x="11551615" y="6446520"/>
            <a:ext cx="457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5B6B7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31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2026-09-07T18:14:55Z</dcterms:created>
  <dcterms:modified xsi:type="dcterms:W3CDTF">2026-09-07T18:14:55Z</dcterms:modified>
</cp:coreProperties>
</file>