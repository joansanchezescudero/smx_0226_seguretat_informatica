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25"/>
    <p:sldId id="262" r:id="rId8"/>
    <p:sldId id="275" r:id="rId26"/>
    <p:sldId id="263" r:id="rId9"/>
    <p:sldId id="276" r:id="rId27"/>
    <p:sldId id="264" r:id="rId10"/>
    <p:sldId id="277" r:id="rId28"/>
    <p:sldId id="265" r:id="rId11"/>
    <p:sldId id="266" r:id="rId12"/>
    <p:sldId id="267" r:id="rId13"/>
    <p:sldId id="278" r:id="rId29"/>
    <p:sldId id="268" r:id="rId14"/>
    <p:sldId id="279" r:id="rId30"/>
    <p:sldId id="269" r:id="rId15"/>
    <p:sldId id="280" r:id="rId31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8.xml"/><Relationship Id="rId15" Type="http://schemas.openxmlformats.org/officeDocument/2006/relationships/slide" Target="slides/slide20.xml"/><Relationship Id="rId16" Type="http://schemas.openxmlformats.org/officeDocument/2006/relationships/slide" Target="slides/slide22.xml"/><Relationship Id="rId17" Type="http://schemas.openxmlformats.org/officeDocument/2006/relationships/slide" Target="slides/slide23.xml"/><Relationship Id="rId18" Type="http://schemas.openxmlformats.org/officeDocument/2006/relationships/slide" Target="slides/slide24.xml"/><Relationship Id="rId19" Type="http://schemas.openxmlformats.org/officeDocument/2006/relationships/slide" Target="slides/slide2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7.xml"/><Relationship Id="rId26" Type="http://schemas.openxmlformats.org/officeDocument/2006/relationships/slide" Target="slides/slide9.xml"/><Relationship Id="rId27" Type="http://schemas.openxmlformats.org/officeDocument/2006/relationships/slide" Target="slides/slide11.xml"/><Relationship Id="rId28" Type="http://schemas.openxmlformats.org/officeDocument/2006/relationships/slide" Target="slides/slide13.xml"/><Relationship Id="rId29" Type="http://schemas.openxmlformats.org/officeDocument/2006/relationships/slide" Target="slides/slide17.xml"/><Relationship Id="rId30" Type="http://schemas.openxmlformats.org/officeDocument/2006/relationships/slide" Target="slides/slide19.xml"/><Relationship Id="rId31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raid-calculator.com/raid-types-reference.aspx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support.hpe.com/hpesc/public/docDisplay?docId=a00019684en_us&amp;docLocale=en_US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hyperlink" Target="https://www.infores.es/productos/Almacenamiento-SAN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hyperlink" Target="https://github.com/SMX-0226SI/Materials/blob/main/NF2/AA2-SistemesEmmagatzematge.md" TargetMode="External"/><Relationship Id="rId7" Type="http://schemas.openxmlformats.org/officeDocument/2006/relationships/hyperlink" Target="https://www.raid-calculator.com/raid-types-reference.aspx" TargetMode="External"/><Relationship Id="rId8" Type="http://schemas.openxmlformats.org/officeDocument/2006/relationships/hyperlink" Target="https://youtu.be/x8MXkvgeD0w?si=PxmhBAzU1JfD0yvy" TargetMode="External"/><Relationship Id="rId9" Type="http://schemas.openxmlformats.org/officeDocument/2006/relationships/hyperlink" Target="https://youtu.be/3XO-GrcyxHg?si=gzZ1YTr-ovlSkkI4" TargetMode="External"/><Relationship Id="rId10" Type="http://schemas.openxmlformats.org/officeDocument/2006/relationships/hyperlink" Target="https://www.ibm.com/think/topics/storage-area-net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RA2 · NF2-AA2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Sistemes d'emmagatzematge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databas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viuen les dades, i com evitar que hi visquin soles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hd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Medis d'emmagatzematge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Discos durs, SSD, i tots els suports externs que fem servir per guardar informació.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layer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Redundància: RAID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combinar diversos discos per no dependre mai d'un de sol, i els 5 nivells de RAID més utilitzats.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network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DAS, NAS, SAN i núvol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diferents maneres de centralitzar l'emmagatzematge a nivell d'empresa, del més senzill al més professional.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 DE PARTIDA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es guarda la informació?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hd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Medis persistents a l'equip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Discs durs (tecnologia magnètica) i unitats SSD (semiconductors): els medis principals on viuen les dades dins de cada ordinador.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usb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Sistemes externs (tercer nivell)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Discos durs extraïbles, pendrives, cintes magnètiques i DVD: suports addicionals per a còpies, transport o arxiu.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 RESOLDRE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Duplicar la informació: la redundància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la informació permet evitar-ne la pèrdua davant l'avaria d'un disc. Es combinen diverses tècniques per evitar un únic punt de fallada (single point of failure).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2308" y="32004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348" y="352044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8" name="Image 0" descr="/tmp/claude-0/-home-user-SMX-0226-Seguretat-Informatica/cec25c9b-7e93-584a-a64a-196540977a59/scratchpad/build/icons/laye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3703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6628" y="44348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06628" y="50749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diverses unitats en una sola unitat lògica. Redundància LOCAL, a nivell del propi equip.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1348" y="32004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701388" y="352044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3" name="Image 1" descr="/tmp/claude-0/-home-user-SMX-0226-Seguretat-Informatica/cec25c9b-7e93-584a-a64a-196540977a59/scratchpad/build/icons/network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3703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55668" y="44348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Emmagatzematge en xarxa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55668" y="50749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Redundància a nivell de xarxa local (més d'un servidor o cabina). Internament, aquests sistemes ja usen RAID.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0388" y="320040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450428" y="352044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8" name="Image 2" descr="/tmp/claude-0/-home-user-SMX-0226-Seguretat-Informatica/cec25c9b-7e93-584a-a64a-196540977a59/scratchpad/build/icons/cloud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37033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04708" y="44348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Serveis de núvol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404708" y="507492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Dropbox, Google Drive, OneDrive... la informació queda "duplicada" a Internet: molt atractiu per a l'ús domèstic.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Redundant Array of Independent Disks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laye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aconseguim?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Segons el nivell triat: tolerància a fallades (si un disc falla, la informació no es perd) i/o millora del rendiment (les dades es distribueixen entre diversos discos i es llegeixen/escriuen en paral·lel).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hd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Maquinari o programari?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 controladores dedicades (més ràpid, permet hot swap: canviar un disc sense aturar el sistema) o implementat pel mateix sistema operatiu (més barat, però només nivells bàsics i menys rendiment).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striping: distribuir sense redundància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olt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funciona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dades es distribueixen entre dos o més discos (per exemple, els blocs A1, A3, A5... al disc 1, i A2, A4, A6... al disc 0). Com que s'escriu als dos discos alhora, el rendiment augmenta.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redundància: si falla un dels discos, es perd tota la informació de l'array. Només aporta velocitat, no seguretat.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SOTA EL CAPÓ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RAID 0 — Data striping</a:t>
            </a:r>
          </a:p>
        </p:txBody>
      </p:sp>
      <p:pic>
        <p:nvPicPr>
          <p:cNvPr id="4" name="Picture 3" descr="rai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271" y="1920240"/>
            <a:ext cx="3109153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RAID 0: la informació es distribueix entre els discos sense redundància.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Mirror: còpia exacta entre dos discos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opy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funciona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 de dades es guarda de manera idèntica als dos discos (mirall). Si un disc falla, l'altre ja conté tota la informació.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Rendiment i cost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ràpida (es pot llegir de qualsevol dels dos discos); escriptura equivalent a un sol disc (més lenta que RAID 0). Es perd la meitat de la capacitat total.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SOTA EL CAPÓ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RAID 1 — Mirror</a:t>
            </a:r>
          </a:p>
        </p:txBody>
      </p:sp>
      <p:pic>
        <p:nvPicPr>
          <p:cNvPr id="4" name="Picture 3" descr="rai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271" y="1920240"/>
            <a:ext cx="3109153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RAID 1: còpia exacta (mirall) de la informació entre dos discos.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 I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Paritat distribuïda: redundància eficient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laye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RAID 5 (mínim 3 discos)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Divideix les dades a nivell de bloc i distribueix la informació de paritat entre TOTS els discos. Solució popular: redundància més econòmica que el mirall, encara que més lenta. Suporta la pèrdua d'UN disc.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hiel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RAID 6 (mínim 4 discos)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RAID 5, però amb una SEGONA banda de paritat. Suporta la pèrdua de DOS discos simultàniament, a canvi de perdre la capacitat equivalent a dos discos.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SOTA EL CAPÓ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RAID 5 i 6 — Paritat distribuïda</a:t>
            </a:r>
          </a:p>
        </p:txBody>
      </p:sp>
      <p:pic>
        <p:nvPicPr>
          <p:cNvPr id="4" name="Picture 3" descr="rai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73" y="1965960"/>
            <a:ext cx="4385539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5318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B6B77"/>
                </a:solidFill>
                <a:latin typeface="Calibri"/>
              </a:rPr>
              <a:t>RAID 5: paritat distribuïda (mínim 3 discos).</a:t>
            </a:r>
          </a:p>
        </p:txBody>
      </p:sp>
      <p:pic>
        <p:nvPicPr>
          <p:cNvPr id="6" name="Picture 5" descr="rai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311" y="1965960"/>
            <a:ext cx="4754880" cy="30770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5180206"/>
            <a:ext cx="5318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B6B77"/>
                </a:solidFill>
                <a:latin typeface="Calibri"/>
              </a:rPr>
              <a:t>RAID 6: doble paritat (mínim 4 discos).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ANIUAT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RAID 10: el millor de dos mons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laye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funciona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RAID 1 i RAID 0 (mínim 4 discos): primer es formen parelles en mirall, i després es distribueix la informació entre les parelles.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bolt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què és tan bo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 ràpida i segura, però cal tenir en compte: només es pot perdre un disc per cada conjunt en mirall (si fallen els dos d'una mateixa parella, es perd la informació).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SOTA EL CAPÓ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RAID 10 — El millor de dos mons</a:t>
            </a:r>
          </a:p>
        </p:txBody>
      </p:sp>
      <p:pic>
        <p:nvPicPr>
          <p:cNvPr id="4" name="Picture 3" descr="ra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7" y="1920240"/>
            <a:ext cx="5943600" cy="38463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0375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RAID 10 combina mirall (RAID 1) i distribució (RAID 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de nivells de RAID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19072"/>
                <a:gridCol w="1719072"/>
                <a:gridCol w="1719072"/>
                <a:gridCol w="1719072"/>
                <a:gridCol w="17190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mínim de discos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Redundància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discos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Capacitat utilitzable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discos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Velocitat de lectura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Velocitat d'escriptura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Mitjana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Mitjana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Molt 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623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Font: </a:t>
            </a: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www.raid-calculator.com</a:t>
            </a: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(taula de referència de tipus de RAID)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CENTRALITZAR L'EMMAGATZEMATGE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què les dades no haurien d'estar a les estacions de treball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dades centralitzades eviten la inconsistència de les dades: quan un mateix document existeix en diversos equips amb versions diferents.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més, permeten fer còpies de seguretat de forma centralitzada i amb més facilitat, en lloc de dependre que cada usuari en faci al seu propi equip.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sistemes principals: DAS, NAS i SAN. Internament, el dispositiu que fa de servidor d'arxius sol usar RAID per tenir alta disponibilitat.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SISTEMES EN XARXA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· Direct Attached Storage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serve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és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Servidors que exposen carpetes compartides (per exemple, la xarxa de l'institut) mitjançant protocols com SMB o NFS. Pot ser tan bàsic com un servidor compartint les seves unitats internes, o tan avançat com un servidor amb cabines de discos dedicades i hot-plug.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Inconvenients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servidor no és dedicat, el rendiment pot ser baix. Disponibilitat limitada: si el servidor falla, no hi ha accés a les dades. Coll d'ampolla de xarxa si molts clients hi accedeixen alhora.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UN EXEMPLE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DAS — Direct Attached Storage</a:t>
            </a:r>
          </a:p>
        </p:txBody>
      </p:sp>
      <p:pic>
        <p:nvPicPr>
          <p:cNvPr id="4" name="Picture 3" descr="hp-prolia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03" y="1965960"/>
            <a:ext cx="4754880" cy="18821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985260"/>
            <a:ext cx="5318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B6B77"/>
                </a:solidFill>
                <a:latin typeface="Calibri"/>
                <a:hlinkClick r:id="rId4"/>
              </a:rPr>
              <a:t>Servidor HP ProLiant DL380 Gen9</a:t>
            </a:r>
            <a:r>
              <a:rPr sz="1150" b="0" i="1">
                <a:solidFill>
                  <a:srgbClr val="5B6B77"/>
                </a:solidFill>
                <a:latin typeface="Calibri"/>
              </a:rPr>
              <a:t>, usat habitualment com a DAS.</a:t>
            </a:r>
          </a:p>
        </p:txBody>
      </p:sp>
      <p:pic>
        <p:nvPicPr>
          <p:cNvPr id="6" name="Picture 5" descr="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311" y="1965960"/>
            <a:ext cx="4754880" cy="29602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5063356"/>
            <a:ext cx="53186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B6B77"/>
                </a:solidFill>
                <a:latin typeface="Calibri"/>
              </a:rPr>
              <a:t>Cada servidor exposa el seu propi emmagatzematge directament a la xarxa.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SISTEMES EN XARXA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· Network Attached Storage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databas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és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Dispositiu dedicat a l'emmagatzematge en xarxa: un petit servidor amb sistema operatiu especialitzat i interfície web de gestió. Molt apte per al mercat domèstic i la petita empresa.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Punts forts i límits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Fàcil de configurar i utilitzar. Limitacions de rendiment (CPU i RAM limitades) i la connexió de xarxa pot ser un coll d'ampolla si molts clients hi accedeixen a la vegada.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UN EXEMPLE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NAS — Network Attached Storage</a:t>
            </a:r>
          </a:p>
        </p:txBody>
      </p:sp>
      <p:pic>
        <p:nvPicPr>
          <p:cNvPr id="4" name="Picture 3" descr="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7" y="1920240"/>
            <a:ext cx="6858000" cy="2981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38725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Un NAS connecta diversos clients a través d'un switch; a la dreta, un dispositiu NAS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SISTEMES EN XARXA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 · Storage Area Network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Xarxa dedicada exclusivament a l'emmagatzematge, molt més complexa i costosa que un NAS, però amb un rendiment molt superior.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protocols optimitzats per a la transferència de fitxers (Fibre Channel, iSCSI, FCoE), diferents dels protocols habituals de la LAN (TCP/IP): calen switches i targetes de xarxa específics, a més de les de la LAN convencional.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servidors s'organitzen en clústers: redundància no només a nivell de disc (RAID), sinó també a nivell de servidor complet.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754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4805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escala més petita, es pot muntar un clúster d'emmagatzematge amb servidors normals de la LAN (DAS) usant tecnologies com Windows Server DFS o GlusterFS (Linux), sense necessitat d'una SAN completa.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UN EXEMPLE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SAN — Storage Area Network</a:t>
            </a:r>
          </a:p>
        </p:txBody>
      </p:sp>
      <p:pic>
        <p:nvPicPr>
          <p:cNvPr id="4" name="Picture 3" descr="cabina_de_dis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920240"/>
            <a:ext cx="5486400" cy="29489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0063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  <a:hlinkClick r:id="rId3"/>
              </a:rPr>
              <a:t>Cabines de discos dedicades</a:t>
            </a:r>
            <a:r>
              <a:rPr sz="1200" b="0" i="1">
                <a:solidFill>
                  <a:srgbClr val="5B6B77"/>
                </a:solidFill>
                <a:latin typeface="Calibri"/>
              </a:rPr>
              <a:t>, com les que s'utilitzen en un SAN.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ALTERNATIVA MODERNA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Serveis de núvol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 per ús en lloc d'infraestructura pròpia. Fins i tot en entorn domèstic hi ha plans gratuïts (Google Drive ofereix 15 GB a qualsevol compte de Gmail).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Permeten accedir a la informació des de qualsevol lloc i moment, amb una disponibilitat molt alta i un cost inicial baix.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10789920" cy="1463040"/>
          </a:xfrm>
          <a:prstGeom prst="roundRect">
            <a:avLst>
              <a:gd name="adj" fmla="val 6250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617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Però compte: la sincronització pot ser lenta amb fitxers grans; es perd el control complet de les dades (seguretat, continuïtat del proveïdor); i cal complir la normativa legal (RGPD) si hi ha dades de caràcter personal.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laye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nivells de RAID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(velocitat), 1 (mirall), 5 i 6 (paritat), 10 (mirall+distribució): cadascun amb el seu compromís.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network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&lt; NAS &lt; SAN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Complexitat i cost creixents, a canvi de més rendiment, disponibilitat i escalabilitat.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cloud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núvol no és gratis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Còmode i barat, però amb consideracions legals, de velocitat i de control que cal valorar.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petit despatx d'advocats (5 persones) vol centralitzar els seus documents.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grups de 3: decidiu si recomanaríeu un DAS, un NAS o un servei de núvol, tenint en compte que gestionen dades de clients (confidencials) i tenen un pressupost limitat. Justifiqueu quin nivell de RAID hi aplicaríeu internament.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grup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NF2-AA2: Sistemes d'emmagatzematge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github.com/SMX-0226SI/Materials/blob/main/NF2/AA2-SistemesEmmagatzematge.md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Taula de referència de tipus de RAID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raid-calculator.com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"RAID Types Reference"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Vídeos de referència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NASEROS (YouTube)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"Tipos de RAID"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Pau Tomé (YouTube)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"RAID en Windows Server"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IBM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"What is a storage area network (SAN)?"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2026-09-07T18:14:55Z</dcterms:created>
  <dcterms:modified xsi:type="dcterms:W3CDTF">2026-09-07T18:14:55Z</dcterms:modified>
</cp:coreProperties>
</file>