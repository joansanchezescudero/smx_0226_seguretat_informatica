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1" r:id="rId32"/>
    <p:sldId id="282" r:id="rId33"/>
    <p:sldId id="283" r:id="rId34"/>
    <p:sldId id="284" r:id="rId35"/>
    <p:sldId id="259" r:id="rId5"/>
    <p:sldId id="260" r:id="rId6"/>
    <p:sldId id="261" r:id="rId7"/>
    <p:sldId id="274" r:id="rId25"/>
    <p:sldId id="262" r:id="rId8"/>
    <p:sldId id="275" r:id="rId26"/>
    <p:sldId id="263" r:id="rId9"/>
    <p:sldId id="276" r:id="rId27"/>
    <p:sldId id="264" r:id="rId10"/>
    <p:sldId id="277" r:id="rId28"/>
    <p:sldId id="265" r:id="rId11"/>
    <p:sldId id="266" r:id="rId12"/>
    <p:sldId id="267" r:id="rId13"/>
    <p:sldId id="278" r:id="rId29"/>
    <p:sldId id="268" r:id="rId14"/>
    <p:sldId id="279" r:id="rId30"/>
    <p:sldId id="269" r:id="rId15"/>
    <p:sldId id="280" r:id="rId31"/>
    <p:sldId id="270" r:id="rId16"/>
    <p:sldId id="285" r:id="rId3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16.xml"/><Relationship Id="rId11" Type="http://schemas.openxmlformats.org/officeDocument/2006/relationships/slide" Target="slides/slide18.xml"/><Relationship Id="rId12" Type="http://schemas.openxmlformats.org/officeDocument/2006/relationships/slide" Target="slides/slide19.xml"/><Relationship Id="rId13" Type="http://schemas.openxmlformats.org/officeDocument/2006/relationships/slide" Target="slides/slide20.xml"/><Relationship Id="rId14" Type="http://schemas.openxmlformats.org/officeDocument/2006/relationships/slide" Target="slides/slide22.xml"/><Relationship Id="rId15" Type="http://schemas.openxmlformats.org/officeDocument/2006/relationships/slide" Target="slides/slide24.xml"/><Relationship Id="rId16" Type="http://schemas.openxmlformats.org/officeDocument/2006/relationships/slide" Target="slides/slide26.xml"/><Relationship Id="rId17" Type="http://schemas.openxmlformats.org/officeDocument/2006/relationships/slide" Target="slides/slide28.xml"/><Relationship Id="rId18" Type="http://schemas.openxmlformats.org/officeDocument/2006/relationships/slide" Target="slides/slide29.xml"/><Relationship Id="rId19" Type="http://schemas.openxmlformats.org/officeDocument/2006/relationships/slide" Target="slides/slide30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1.xml"/><Relationship Id="rId26" Type="http://schemas.openxmlformats.org/officeDocument/2006/relationships/slide" Target="slides/slide13.xml"/><Relationship Id="rId27" Type="http://schemas.openxmlformats.org/officeDocument/2006/relationships/slide" Target="slides/slide15.xml"/><Relationship Id="rId28" Type="http://schemas.openxmlformats.org/officeDocument/2006/relationships/slide" Target="slides/slide17.xml"/><Relationship Id="rId29" Type="http://schemas.openxmlformats.org/officeDocument/2006/relationships/slide" Target="slides/slide21.xml"/><Relationship Id="rId30" Type="http://schemas.openxmlformats.org/officeDocument/2006/relationships/slide" Target="slides/slide23.xml"/><Relationship Id="rId31" Type="http://schemas.openxmlformats.org/officeDocument/2006/relationships/slide" Target="slides/slide25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image" Target="../media/image-2-3.png"/><Relationship Id="rId5" Type="http://schemas.openxmlformats.org/officeDocument/2006/relationships/image" Target="../media/image10.png"/><Relationship Id="rId6" Type="http://schemas.openxmlformats.org/officeDocument/2006/relationships/image" Target="../media/image-8-2.png"/><Relationship Id="rId7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5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raid-calculator.com/raid-types-reference.aspx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raid-calculator.com/raid-types-reference.aspx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support.hpe.com/hpesc/public/docDisplay?docId=a00019684en_us&amp;docLocale=en_U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hyperlink" Target="https://www.infores.es/productos/Almacenamiento-SAN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raid-calculator.com/raid-types-reference.aspx" TargetMode="External"/><Relationship Id="rId3" Type="http://schemas.openxmlformats.org/officeDocument/2006/relationships/image" Target="../media/image-15-1.png"/><Relationship Id="rId4" Type="http://schemas.openxmlformats.org/officeDocument/2006/relationships/image" Target="../media/image-14-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6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6" Type="http://schemas.openxmlformats.org/officeDocument/2006/relationships/hyperlink" Target="https://github.com/SMX-0226SI/Materials/blob/main/NF2/AA2-SistemesEmmagatzematge.md" TargetMode="External"/><Relationship Id="rId7" Type="http://schemas.openxmlformats.org/officeDocument/2006/relationships/hyperlink" Target="https://www.raid-calculator.com/raid-types-reference.aspx" TargetMode="External"/><Relationship Id="rId8" Type="http://schemas.openxmlformats.org/officeDocument/2006/relationships/hyperlink" Target="https://youtu.be/x8MXkvgeD0w?si=PxmhBAzU1JfD0yvy" TargetMode="External"/><Relationship Id="rId9" Type="http://schemas.openxmlformats.org/officeDocument/2006/relationships/hyperlink" Target="https://youtu.be/3XO-GrcyxHg?si=gzZ1YTr-ovlSkkI4" TargetMode="External"/><Relationship Id="rId10" Type="http://schemas.openxmlformats.org/officeDocument/2006/relationships/hyperlink" Target="https://www.ibm.com/think/topics/storage-area-networ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viuen les dades, i com evitar que hi visquin soles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0936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13815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5" y="2026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3815" y="28041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d'emmagatzematge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13815" y="3489960"/>
            <a:ext cx="224942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durs, SSD, i tots els suports externs que fem servir per guardar informació.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172200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355080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26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55080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Redundància: RAID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combinar diversos discos per no dependre mai d'un de sol, i els 5 nivells de RAID més utilitzats.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942832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25711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1" y="2026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25711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DAS, NAS, SAN i núvol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9125711" y="321564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diferents maneres de centralitzar l'emmagatzematge a nivell d'empresa, del més senzill al més professional.</a:t>
            </a:r>
            <a:endParaRPr lang="en-US" sz="1800" dirty="0"/>
          </a:p>
        </p:txBody>
      </p:sp>
      <p:sp>
        <p:nvSpPr>
          <p:cNvPr id="900" name="New 0"/>
          <p:cNvSpPr/>
          <p:nvPr/>
        </p:nvSpPr>
        <p:spPr>
          <a:xfrm>
            <a:off x="3401567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01" name="New 1"/>
          <p:cNvSpPr/>
          <p:nvPr/>
        </p:nvSpPr>
        <p:spPr>
          <a:xfrm>
            <a:off x="3584447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902" name="New 2" descr="/tmp/claude-0/-home-user-SMX-0226-Seguretat-Informatica/a92ac1fc-9241-54c9-9c87-68470d7a571f/scratchpad/aa2/icon_gau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327" y="2026920"/>
            <a:ext cx="365760" cy="365760"/>
          </a:xfrm>
          <a:prstGeom prst="rect">
            <a:avLst/>
          </a:prstGeom>
        </p:spPr>
      </p:pic>
      <p:sp>
        <p:nvSpPr>
          <p:cNvPr id="903" name="New 3"/>
          <p:cNvSpPr txBox="1"/>
          <p:nvPr/>
        </p:nvSpPr>
        <p:spPr>
          <a:xfrm>
            <a:off x="3584447" y="28041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Paràmetres i salut dels discos</a:t>
            </a:r>
            <a:endParaRPr lang="en-US" sz="1700" dirty="0"/>
          </a:p>
        </p:txBody>
      </p:sp>
      <p:sp>
        <p:nvSpPr>
          <p:cNvPr id="904" name="New 4"/>
          <p:cNvSpPr txBox="1"/>
          <p:nvPr/>
        </p:nvSpPr>
        <p:spPr>
          <a:xfrm>
            <a:off x="3584447" y="348996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Rendiment, disponibilitat i accessibilitat, i com detectar amb SMART que un disc està a punt de fallar.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 DE 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es guarda la informació?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272491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persistents a l'equip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Discs durs (tecnologia magnètica) i unitats SSD (semiconductors): els medis principals on viuen les dades dins de cada ordinador.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272491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b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075688"/>
            <a:ext cx="348386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externs (tercer nivell)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 extraïbles, pendrives, cintes magnètiques i DVD: suports addicionals per a còpies, transport o arxiu.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PARÀMETRES DE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demanem a l'emmagatzematge?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gau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47776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llegeixi i escrigui les dades ràpidament. Es mesura amb la latència, les IOPS i el throughput.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a92ac1fc-9241-54c9-9c87-68470d7a571f/scratchpad/aa2/icon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Disponibilitat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sistema continuï funcionant encara que alguna peça falli: redundància (RAID), SAI i monitoratge dels discos.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a92ac1fc-9241-54c9-9c87-68470d7a571f/scratchpad/aa2/icon_ke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Accessibilitat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els usuaris arribin a les dades quan les necessiten: disc ben muntat, permisos correctes i sistema de fitxers sense errors.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mesura el rendiment?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574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Latència: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que triga el disc a respondre una operació. Es mesura en mil·lisegons (ms) o microsegons (µs): com menys, millor.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IOPS: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operacions de lectura o escriptura per segon. És clau quan hi ha moltes peticions petites i aleatòries (sistema operatiu, bases de dades).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 de dades transferides per segon, en MB/s o GB/s. És clau amb fitxers grans i seqüencials (vídeo, còpies de seguretat).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647057"/>
            <a:ext cx="10789920" cy="1161288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999101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98517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 pot tenir un bon throughput i poques IOPS: copiar una pel·lícula (accés seqüencial) no costa el mateix que obrir milers de fitxers petits (accés aleatori).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HDD, SSD i NVMe en xifres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20" cy="3767327"/>
        </p:xfrm>
        <a:graphic>
          <a:graphicData uri="http://schemas.openxmlformats.org/drawingml/2006/table">
            <a:tbl>
              <a:tblPr/>
              <a:tblGrid>
                <a:gridCol w="2011680"/>
                <a:gridCol w="2331720"/>
                <a:gridCol w="2240280"/>
                <a:gridCol w="2331720"/>
                <a:gridCol w="2331720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(7.200 rpm)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(M.2)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Llapis USB / 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Latència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0,02–0,1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IOPS (aleatòries)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75–200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Desenes de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Centenars de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Centenars o pocs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100–250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Fins a ≈ 550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3.000–14.000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Connexió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o lector de targetes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GB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més 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Mitjà-alt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Ús típic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 capacitat, arxiu i còpies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Equips d'oficina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Servidors i equips exigents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de dades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839967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Valors orientatius (ordre de magnitud): cada model concret pot variar.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 D'ANOMALIES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SMART: detectar la fallada abans que passi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heartbe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(Self-Monitoring, Analysis and Reporting Technology) és un sistema integrat als discos HDD, SSD i NVMe que registra indicadors de salut: sectors defectuosos reassignats, errors de lectura, temperatura, hores d'ús o desgast (SSD). Si empitjoren, cal substituir el disc abans que falli.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a92ac1fc-9241-54c9-9c87-68470d7a571f/scratchpad/aa2/icon_termi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consulta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Ubuntu, amb smartctl (cal instal·lar el paquet smartmontools): sudo smartctl -H /dev/sda mostra l'estat de salut i sudo smartctl -a /dev/sda, tots els indicadors. A l'escriptori, l'aplicació Discos també mostra les dades SMART. En una màquina virtual, SMART normalment no està disponible: el disc és virtual i no té sensors físics.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A RESOLDRE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Duplicar la informació: la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858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la informació permet evitar-ne la pèrdua davant l'avaria d'un disc. Es combinen diverses tècniques per evitar un únic punt de fallada (single point of failure).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230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834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499" y="3159379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8340" y="3890899"/>
            <a:ext cx="2916936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88340" y="4363339"/>
            <a:ext cx="2916936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diverses unitats en una sola unitat lògica. Redundància LOCAL, a nivell del propi equip.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8134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3738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540" y="3159379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37380" y="3890899"/>
            <a:ext cx="291693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en xarxa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637380" y="4698619"/>
            <a:ext cx="2916936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Redundància a nivell de xarxa local (més d'un servidor o cabina). Internament, aquests sistemes ja usen RAID.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13038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38642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8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580" y="3159379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6420" y="3890899"/>
            <a:ext cx="2916936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86420" y="4363339"/>
            <a:ext cx="2916936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Dropbox, Google Drive, OneDrive... la informació queda "duplicada" a Internet: molt atractiu per a l'ús domèstic.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Array of Independent Disks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aconseguim?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el nivell triat: tolerància a fallades (si un disc falla, la informació no es perd) i/o millora del rendiment (les dades es distribueixen entre diversos discos i es llegeixen/escriuen en paral·lel).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Maquinari o programari?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controladores dedicades (més ràpid, permet hot swap: canviar un disc sense aturar el sistema) o implementat pel mateix sistema operatiu (més barat, però només nivells bàsics i menys rendiment).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striping: distribuir sense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es distribueixen entre dos o més discos (per exemple, els blocs A1, A3, A5... al disc 1, i A2, A4, A6... al disc 0). Com que s'escriu als dos discos alhora, el rendiment augmenta.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redundància: si falla un dels discos, es perd tota la informació de l'array. Només aporta velocitat, no seguretat.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0 — Data striping</a:t>
            </a:r>
          </a:p>
        </p:txBody>
      </p:sp>
      <p:pic>
        <p:nvPicPr>
          <p:cNvPr id="4" name="Picture 3" descr="rai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662" y="1615440"/>
            <a:ext cx="3084369" cy="4172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0: la informació es distribueix entre els discos sense redundància.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Mirror: còpia exacta entre dos discos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 de dades es guarda de manera idèntica als dos discos (mirall). Si un disc falla, l'altre ja conté tota la informació.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 i cost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ràpida (es pot llegir de qualsevol dels dos discos); escriptura equivalent a un sol disc (més lenta que RAID 0). Es perd la meitat de la capacitat total.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 — Mirror</a:t>
            </a:r>
          </a:p>
        </p:txBody>
      </p:sp>
      <p:pic>
        <p:nvPicPr>
          <p:cNvPr id="4" name="Picture 3" descr="rai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662" y="1615440"/>
            <a:ext cx="3084369" cy="4172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1: còpia exacta (mirall) de la informació entre dos discos.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I 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Paritat distribuïda: redundància eficient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5 (mínim 3 discos)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Divideix les dades a nivell de bloc i distribueix la informació de paritat entre TOTS els discos. Solució popular: redundància més econòmica que el mirall, encara que més lenta. Suporta la pèrdua d'UN disc.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6 (mínim 4 discos)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que RAID 5, però amb una SEGONA banda de paritat. Suporta la pèrdua de DOS discos simultàniament, a canvi de perdre la capacitat equivalent a dos discos.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5 i 6 — Paritat distribuïda</a:t>
            </a:r>
          </a:p>
        </p:txBody>
      </p:sp>
      <p:pic>
        <p:nvPicPr>
          <p:cNvPr id="4" name="Picture 3" descr="rai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173" y="1615440"/>
            <a:ext cx="4385539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65648"/>
            <a:ext cx="53186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5: paritat distribuïda (mínim 3 discos).</a:t>
            </a:r>
          </a:p>
        </p:txBody>
      </p:sp>
      <p:pic>
        <p:nvPicPr>
          <p:cNvPr id="6" name="Picture 5" descr="ra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615440"/>
            <a:ext cx="4754880" cy="3077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4802254"/>
            <a:ext cx="53186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6: doble paritat (mínim 4 discos).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ANIUAT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10: el millor de dos mons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RAID 1 i RAID 0 (mínim 4 discos): primer es formen parelles en mirall, i després es distribueix la informació entre les parelles.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és tan bo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 ràpida i segura, però cal tenir en compte: només es pot perdre un disc per cada conjunt en mirall (si fallen els dos d'una mateixa parella, es perd la informació).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10 — El millor de dos mons</a:t>
            </a:r>
          </a:p>
        </p:txBody>
      </p:sp>
      <p:pic>
        <p:nvPicPr>
          <p:cNvPr id="4" name="Picture 3" descr="ra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6" y="1615440"/>
            <a:ext cx="5943600" cy="3846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152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10 combina mirall (RAID 1) i distribució (RAID 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 nivells de RAID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20" cy="2944368"/>
        </p:xfrm>
        <a:graphic>
          <a:graphicData uri="http://schemas.openxmlformats.org/drawingml/2006/table">
            <a:tbl>
              <a:tblPr/>
              <a:tblGrid>
                <a:gridCol w="2651760"/>
                <a:gridCol w="1719072"/>
                <a:gridCol w="1719072"/>
                <a:gridCol w="1719072"/>
                <a:gridCol w="1719072"/>
                <a:gridCol w="1719072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mínim de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Redundància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Capacitat utilitzable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de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d'escriptura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0170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</a:t>
            </a: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www.raid-calculator.com</a:t>
            </a: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(taula de referència de tipus de RAID)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CENTRALITZAR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les dades no haurien d'estar a les estacions de treball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574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centralitzades eviten la inconsistència de les dades: quan un mateix document existeix en diversos equips amb versions diferents.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més, permeten fer còpies de seguretat de forma centralitzada i amb més facilitat, en lloc de dependre que cada usuari en faci al seu propi equip.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sistemes principals: DAS, NAS i SAN. Internament, el dispositiu que fa de servidor d'arxius sol usar RAID per tenir alta disponibilitat.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· Direct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6576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Servidors que exposen carpetes compartides (per exemple, la xarxa de l'institut) mitjançant protocols com SMB o NFS. Pot ser tan bàsic com un servidor compartint les seves unitats internes, o tan avançat com un servidor amb cabines de discos dedicades i hot-plug.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6576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no és dedicat, el rendiment pot ser baix. Disponibilitat limitada: si el servidor falla, no hi ha accés a les dades. Coll d'ampolla de xarxa si molts clients hi accedeixen alhora.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DAS — Direct Attached Storage</a:t>
            </a:r>
          </a:p>
        </p:txBody>
      </p:sp>
      <p:pic>
        <p:nvPicPr>
          <p:cNvPr id="4" name="Picture 3" descr="hp-proli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2" y="1615440"/>
            <a:ext cx="4754880" cy="188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607307"/>
            <a:ext cx="53186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  <a:hlinkClick r:id="rId4"/>
              </a:rPr>
              <a:t>Servidor HP ProLiant DL380 Gen9</a:t>
            </a:r>
            <a:r>
              <a:rPr sz="1800" b="0" i="1">
                <a:solidFill>
                  <a:srgbClr val="5B6B77"/>
                </a:solidFill>
                <a:latin typeface="Calibri"/>
              </a:rPr>
              <a:t>, usat habitualment com a DAS.</a:t>
            </a:r>
          </a:p>
        </p:txBody>
      </p:sp>
      <p:pic>
        <p:nvPicPr>
          <p:cNvPr id="6" name="Picture 5" descr="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615440"/>
            <a:ext cx="4754880" cy="29602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4685404"/>
            <a:ext cx="53186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Cada servidor exposa el seu propi emmagatzematge directament a la xarxa.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· Network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 dedicat a l'emmagatzematge en xarxa: un petit servidor amb sistema operatiu especialitzat i interfície web de gestió. Molt apte per al mercat domèstic i la petita empresa.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Punts forts i límits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Fàcil de configurar i utilitzar. Limitacions de rendiment (CPU i RAM limitades) i la connexió de xarxa pot ser un coll d'ampolla si molts clients hi accedeixen a la vegada.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NAS — Network Attached Storage</a:t>
            </a:r>
          </a:p>
        </p:txBody>
      </p:sp>
      <p:pic>
        <p:nvPicPr>
          <p:cNvPr id="4" name="Picture 3" descr="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6" y="1615440"/>
            <a:ext cx="6858000" cy="2981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06493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Un NAS connecta diversos clients a través d'un switch; a la dreta, un dispositiu NAS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· Storage Area Network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Xarxa dedicada exclusivament a l'emmagatzematge, molt més complexa i costosa que un NAS, però amb un rendiment molt superior.</a:t>
            </a:r>
            <a:endParaRPr lang="en-US" sz="1800" dirty="0"/>
          </a:p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protocols optimitzats per a la transferència de fitxers (Fibre Channel, iSCSI, FCoE), diferents dels protocols habituals de la LAN (TCP/IP): calen switches i targetes de xarxa específics, a més de les de la LAN convencional.</a:t>
            </a:r>
            <a:endParaRPr lang="en-US" sz="1800" dirty="0"/>
          </a:p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servidors s'organitzen en clústers: redundància no només a nivell de disc (RAID), sinó també a nivell de servidor complet.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733544"/>
            <a:ext cx="10789920" cy="1490472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501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985004"/>
            <a:ext cx="9601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més petita, es pot muntar un clúster d'emmagatzematge amb servidors normals de la LAN (DAS) usant tecnologies com Windows Server DFS o GlusterFS (Linux), sense necessitat d'una SAN completa.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SAN — Storage Area Network</a:t>
            </a:r>
          </a:p>
        </p:txBody>
      </p:sp>
      <p:pic>
        <p:nvPicPr>
          <p:cNvPr id="4" name="Picture 3" descr="cabina_de_dis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6" y="1615440"/>
            <a:ext cx="5486400" cy="29489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7410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  <a:hlinkClick r:id="rId3"/>
              </a:rPr>
              <a:t>Cabines de discos dedicades</a:t>
            </a:r>
            <a:r>
              <a:rPr sz="1800" b="0" i="1">
                <a:solidFill>
                  <a:srgbClr val="5B6B77"/>
                </a:solidFill>
                <a:latin typeface="Calibri"/>
              </a:rPr>
              <a:t>, com les que s'utilitzen en un 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ALTERNATIVA MODERNA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1716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 per ús en lloc d'infraestructura pròpia. Fins i tot en entorn domèstic hi ha plans gratuïts (Google Drive ofereix 15 GB a qualsevol compte de Gmail).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accedir a la informació des de qualsevol lloc i moment, amb una disponibilitat molt alta i un cost inicial baix.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3788918"/>
            <a:ext cx="10789920" cy="1490472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05554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040378"/>
            <a:ext cx="9601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compte: la sincronització pot ser lenta amb fitxers grans; es perd el control complet de les dades (seguretat, continuïtat del proveïdor); i cal complir la normativa legal (RGPD) si hi ha dades de caràcter personal.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 NÚVOL?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local o al núvol?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19" cy="2944368"/>
        </p:xfrm>
        <a:graphic>
          <a:graphicData uri="http://schemas.openxmlformats.org/drawingml/2006/table">
            <a:tbl>
              <a:tblPr/>
              <a:tblGrid>
                <a:gridCol w="2377440"/>
                <a:gridCol w="4434840"/>
                <a:gridCol w="4434840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(on-premise)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Núvol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 inicial alta + manteniment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Pagament per 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 al maquinari propi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Pràcticament il·limitada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Xarxa local o VPN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 de qualsevol lloc amb Internet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Depèn dels equips propis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alta (centres de dades redundants)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i seguretat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total, però responsabilitat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Delegats al proveïdor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Depèn 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Maquinari i personal tècnic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Connexió a Internet i proveïdor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640080" y="5017008"/>
            <a:ext cx="10789920" cy="1161288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bul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369051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268468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híbrid: </a:t>
            </a:r>
            <a:r>
              <a:rPr lang="en-US" sz="1800" i="1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empreses combinen tots dos. Guarden en local les dades sensibles i les que necessiten més velocitat, i fan servir el núvol per a les còpies fora de l'empresa i per créixer quan cal.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0936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13815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5" y="2026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3815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nivells de RAID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13815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(velocitat), 1 (mirall), 5 i 6 (paritat), 10 (mirall+distribució): cadascun amb el seu compromís.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172200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355080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26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55080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&lt; NAS &lt; SAN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Complexitat i cost creixents, a canvi de més rendiment, disponibilitat i escalabilitat.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942832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25711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1" y="2026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25711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núvol no és gratis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9125711" y="3215640"/>
            <a:ext cx="224942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Còmode i barat, però amb consideracions legals, de velocitat i de control que cal valorar.</a:t>
            </a:r>
            <a:endParaRPr lang="en-US" sz="1800" dirty="0"/>
          </a:p>
        </p:txBody>
      </p:sp>
      <p:sp>
        <p:nvSpPr>
          <p:cNvPr id="900" name="New 0"/>
          <p:cNvSpPr/>
          <p:nvPr/>
        </p:nvSpPr>
        <p:spPr>
          <a:xfrm>
            <a:off x="3401567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01" name="New 1"/>
          <p:cNvSpPr/>
          <p:nvPr/>
        </p:nvSpPr>
        <p:spPr>
          <a:xfrm>
            <a:off x="3584447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902" name="New 2" descr="/tmp/claude-0/-home-user-SMX-0226-Seguretat-Informatica/a92ac1fc-9241-54c9-9c87-68470d7a571f/scratchpad/aa2/icon_heartbe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327" y="2026920"/>
            <a:ext cx="365760" cy="365760"/>
          </a:xfrm>
          <a:prstGeom prst="rect">
            <a:avLst/>
          </a:prstGeom>
        </p:spPr>
      </p:pic>
      <p:sp>
        <p:nvSpPr>
          <p:cNvPr id="903" name="New 3"/>
          <p:cNvSpPr txBox="1"/>
          <p:nvPr/>
        </p:nvSpPr>
        <p:spPr>
          <a:xfrm>
            <a:off x="3584447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Mesurar i vigilar</a:t>
            </a:r>
            <a:endParaRPr lang="en-US" sz="1700" dirty="0"/>
          </a:p>
        </p:txBody>
      </p:sp>
      <p:sp>
        <p:nvSpPr>
          <p:cNvPr id="904" name="New 4"/>
          <p:cNvSpPr txBox="1"/>
          <p:nvPr/>
        </p:nvSpPr>
        <p:spPr>
          <a:xfrm>
            <a:off x="3584447" y="321564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 (latència, IOPS, throughput), disponibilitat i accessibilitat. SMART avisa abans que un disc falli.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petit despatx d'advocats (5 persones) vol centralitzar els seus documents.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si recomanaríeu un DAS, un NAS o un servei de núvol, tenint en compte que gestionen dades de clients (confidencials) i tenen un pressupost limitat. Justifiqueu quin nivell de RAID hi aplicaríeu internament.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35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66116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NF2-AA2: Sistemes d'emmagatzematge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039112"/>
            <a:ext cx="10058400" cy="643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github.com/SMX-0226SI/Materials/blob/main/NF2/AA2-SistemesEmmagatzematge.md</a:t>
            </a:r>
            <a:endParaRPr lang="en-US" sz="180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5943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306705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Taula de referència de tipus de RAID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445002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raid-calculator.com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"RAID Types Reference"</a:t>
            </a:r>
            <a:endParaRPr lang="en-US" sz="180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43375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4150995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Vídeos de referència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528947"/>
            <a:ext cx="10058400" cy="643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NASEROS (YouTube)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"Tipos de RAID"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Pau Tomé (YouTube)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"RAID en Windows Server"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IBM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"What is a storage area network (SAN)?"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2026-09-07T18:14:55Z</dcterms:created>
  <dcterms:modified xsi:type="dcterms:W3CDTF">2026-09-07T18:14:55Z</dcterms:modified>
</cp:coreProperties>
</file>