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9" r:id="rId30"/>
    <p:sldId id="264" r:id="rId10"/>
    <p:sldId id="265" r:id="rId11"/>
    <p:sldId id="266" r:id="rId12"/>
    <p:sldId id="280" r:id="rId31"/>
    <p:sldId id="267" r:id="rId13"/>
    <p:sldId id="268" r:id="rId14"/>
    <p:sldId id="281" r:id="rId32"/>
    <p:sldId id="269" r:id="rId15"/>
    <p:sldId id="282" r:id="rId33"/>
    <p:sldId id="270" r:id="rId16"/>
    <p:sldId id="271" r:id="rId17"/>
    <p:sldId id="272" r:id="rId18"/>
    <p:sldId id="273" r:id="rId19"/>
    <p:sldId id="274" r:id="rId20"/>
    <p:sldId id="283" r:id="rId34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7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slide" Target="slides/slide21.xml"/><Relationship Id="rId19" Type="http://schemas.openxmlformats.org/officeDocument/2006/relationships/slide" Target="slides/slide22.xml"/><Relationship Id="rId20" Type="http://schemas.openxmlformats.org/officeDocument/2006/relationships/slide" Target="slides/slide23.xml"/><Relationship Id="rId21" Type="http://schemas.openxmlformats.org/officeDocument/2006/relationships/slide" Target="slides/slide25.xml"/><Relationship Id="rId22" Type="http://schemas.openxmlformats.org/officeDocument/2006/relationships/slide" Target="slides/slide26.xml"/><Relationship Id="rId23" Type="http://schemas.openxmlformats.org/officeDocument/2006/relationships/slide" Target="slides/slide27.xml"/><Relationship Id="rId24" Type="http://schemas.openxmlformats.org/officeDocument/2006/relationships/slide" Target="slides/slide28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9.xml"/><Relationship Id="rId31" Type="http://schemas.openxmlformats.org/officeDocument/2006/relationships/slide" Target="slides/slide13.xml"/><Relationship Id="rId32" Type="http://schemas.openxmlformats.org/officeDocument/2006/relationships/slide" Target="slides/slide16.xml"/><Relationship Id="rId33" Type="http://schemas.openxmlformats.org/officeDocument/2006/relationships/slide" Target="slides/slide18.xml"/><Relationship Id="rId34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Relationship Id="rId7" Type="http://schemas.openxmlformats.org/officeDocument/2006/relationships/hyperlink" Target="https://www.datacenterdynamics.com/es/noticias/ovhcloud-condenado-a-pagar-250000-a-dos-clientes-que-perdieron-datos-en-el-incendio-del-centro-de-datos-de-estrasburgo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4" Type="http://schemas.openxmlformats.org/officeDocument/2006/relationships/hyperlink" Target="https://www.redstor.com/resource-hub/five-of-the-biggest-scare-stories-in-data-backup-history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4" Type="http://schemas.openxmlformats.org/officeDocument/2006/relationships/hyperlink" Target="https://www.ironmountain.com/es-es/services/offsite-tape-vaulting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1.png"/><Relationship Id="rId3" Type="http://schemas.openxmlformats.org/officeDocument/2006/relationships/image" Target="../media/image-23-1.png"/><Relationship Id="rId4" Type="http://schemas.openxmlformats.org/officeDocument/2006/relationships/image" Target="../media/image-2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Relationship Id="rId7" Type="http://schemas.openxmlformats.org/officeDocument/2006/relationships/hyperlink" Target="https://github.com/SMX-0226SI/Materials/blob/main/NF2/AA3-CopiesSeguretat.md" TargetMode="External"/><Relationship Id="rId8" Type="http://schemas.openxmlformats.org/officeDocument/2006/relationships/hyperlink" Target="https://www.datacenterdynamics.com/es/noticias/ovhcloud-condenado-a-pagar-250000-a-dos-clientes-que-perdieron-datos-en-el-incendio-del-centro-de-datos-de-estrasburgo/" TargetMode="External"/><Relationship Id="rId9" Type="http://schemas.openxmlformats.org/officeDocument/2006/relationships/hyperlink" Target="https://www.nakivo.com/blog/backup-types-explained/" TargetMode="External"/><Relationship Id="rId10" Type="http://schemas.openxmlformats.org/officeDocument/2006/relationships/hyperlink" Target="https://www.incibe.es/index.php/empresas/guias/copias-seguridad-guia-aproximacion-el-empresario" TargetMode="External"/><Relationship Id="rId11" Type="http://schemas.openxmlformats.org/officeDocument/2006/relationships/hyperlink" Target="https://clonezilla.org/" TargetMode="External"/><Relationship Id="rId12" Type="http://schemas.openxmlformats.org/officeDocument/2006/relationships/hyperlink" Target="https://somebooks.es/clonezilla-crear-una-imagen-del-equipo-paso-pas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RA2 · NF2-AA3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Còpies de seguretat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diferència entre un ensurt i un desastre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istor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 de còpies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protegim, on ho guardem, amb quina freqüència i com ho comprovem.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archiv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Estratègies i rotació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Completa/incremental/diferencial, la regla 3-2-1, i els esquemes GFS i Torres de Hanoi.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Imatges del sistema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Clonació, imatges de disc i imatges forenses: quan no n'hi ha prou amb copiar només les dades.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COMENÇAR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Backup, archiving i imatges: no és el mateix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Còpies de les dades amb l'objectiu de preservar-les i recuperar-les en cas de contingència.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archiv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Emmagatzematge per a períodes molt llargs (anys), per motius legals. No permet recuperació ràpida, però garanteix la conservació a llarg termini.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Imatges del sistema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Còpia del sistema operatiu i les aplicacions instal·lades, per restaurar-lo ràpidament (no se centren en les dades d'usuari).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RAID no és una còpia de seguretat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SÍ protegeix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sistemes d'alta disponibilitat com el RAID només protegeixen contra errors del maquinari (que falli un disc).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NO protegeix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RAID no et salva d'un esborrat accidental, d'un atac de ransomware que xifra les dades, o d'una modificació no desitjada del contingut. Per això calen còpies de seguretat de debò.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ABANS DE COMENÇAR A COPIAR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Preguntes que cal respondre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volem protegir? No totes les dades tenen la mateixa importància ni són igual de recuperables.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farem les còpies? Locals, en xarxa, o a Internet.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quins dispositius? Disc, SSD, cinta, òptic, RDX...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quina freqüència?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les farem? Completa, incremental o diferencial.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les comprovarem? I finalment: com ho documentem tot en una política de còpies de seguretat.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VOLEM PROTEGIR?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totes les dades pesen igual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decidir quines dades són crítiques i quines no: documents d'usuaris, bases de dades, logs d'un servidor web...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 còpia de absolutament tot pot ser inviable per cost i temps: la selecció és una tasca prèvia imprescindible.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FAREM LES CÒPIES?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Locals, en xarxa, o a Internet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Còpies locals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 segon disc o dispositiu extern (USB, cinta). Ràpides de fer i recuperar, però si l'equip pateix un incendi, robatori o inundació, la còpia també es perd.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Còpies remotes en xarxa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Centralitzen les còpies de tots els equips (sovint amb robots de cintes automatitzats). Punt feble: solen estar a la mateixa ubicació física que l'original.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cloudup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Còpies a Internet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bona connexió (les completes poden ser lentes). Cal valorar ubicació legal (RGPD), redundància del proveïdor (tier del datacenter) i xifratge.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40080" y="5029200"/>
            <a:ext cx="10789920" cy="822960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21" name="Image 3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21208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51663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L'incendi del centre de dades d'OVH a Estrasburg (2021)</a:t>
            </a: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 destruir dades de clients que només tenien còpies al mateix edifici: un cas real que il·lustra per què cal separació física de debò.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RECOMANACIÓ DE REFERÈNCIA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Estratègia 3-2-1 (US-CERT)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58088" y="2011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158088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còpies de les dades: l'original i DUES còpies de seguretat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449928" y="2011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49928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suports diferents (per exemple, cinta externa + servei a Internet)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41768" y="2011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741768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còpia en una ubicació remota (backup offsite): un altre edifici o el núvol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2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34840"/>
            <a:ext cx="457200" cy="4572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463040" y="43434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aquest repartiment, un incendi pot destruir l'original i la còpia local, però la còpia offsite —que no ha patit el desastre— continua disponible.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L'ESTÀNDARD DEL SECTOR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La regla 3-2-1</a:t>
            </a:r>
          </a:p>
        </p:txBody>
      </p:sp>
      <p:pic>
        <p:nvPicPr>
          <p:cNvPr id="4" name="Picture 3" descr="3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447" y="1920240"/>
            <a:ext cx="6400800" cy="3600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65785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La regla 3-2-1 és l'estàndard de referència per organitzar les còpies de seguretat.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DISPOSITIUS PER FER CÒPIES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Quin suport triar?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Punts forts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Punts febles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Durada aprox.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Discos durs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 cost, bona relació preu/capacitat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Fiabilitat i durada limitades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10-15 anys (offline)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Millor rendiment i fiabilitat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Més car; es degrada sense alimentació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 any sense alimentar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Òptics (CD/DVD/BR)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Bons per a còpies immutables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Cars, capacitat limitada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 anys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Cintes (LTO/DLT)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 duradores i fiables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Més lentes que un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 anys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Combina velocitat de disc + cartutx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Més car que la cinta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FREQÜÈNCIA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finestra de recuperació (recovery window)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freqüència de còpia determina quantes dades podem arribar a perdre. Amb còpies cada 24h, en el pitjor cas perdem fins a 24h de feina.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 un comerç electrònic, perdre 24h de dades pot suposar una pèrdua econòmica molt gran; per a altres sistemes, pot ser perfectament acceptable.</a:t>
            </a:r>
            <a:endParaRPr lang="en-US" sz="16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freqüència és un compromís entre disponibilitat, cost (dispositius i temps de personal), i l'impacte en el negoci de fer la còpia.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FER LES CÒPIES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Completa, incremental o diferencial: quan triar cadascuna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69080"/>
                <a:gridCol w="40690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Estratègia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 usar-la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organitzar-la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 de dades no gaire elevat (&lt; 50 GB)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més senzilla de restaurar: un sol arxiu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Diferencial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 elevat (&gt; 50 GB) però poques dades modificades (&lt; 4 GB)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 setmanal + diferencials diàries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 elevat (&gt; 50 GB) i moltes dades modificades (&gt; 4 GB)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 més sovint (p. ex. diària) + incrementals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12064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28066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arxius de còpia solen comprimir-se (.zip, .bz2...) per optimitzar l'espai i el temps de transferència.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COM FER LES CÒPIES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Incremental vs. diferencial</a:t>
            </a:r>
          </a:p>
        </p:txBody>
      </p:sp>
      <p:pic>
        <p:nvPicPr>
          <p:cNvPr id="4" name="Picture 3" descr="increme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03" y="1965960"/>
            <a:ext cx="4754880" cy="30378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140960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</a:rPr>
              <a:t>Còpia incremental.</a:t>
            </a:r>
          </a:p>
        </p:txBody>
      </p:sp>
      <p:pic>
        <p:nvPicPr>
          <p:cNvPr id="6" name="Picture 5" descr="diferen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11" y="1965960"/>
            <a:ext cx="4754880" cy="29982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24447" y="5101336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</a:rPr>
              <a:t>Còpia diferencial.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ORGANITZAR-LES EN EL TEMPS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Esquemes de rotació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alenda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rotem les còpies?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còpies antigues no se substitueixen immediatament: es van rotant, per poder recuperar versions antigues si cal (per exemple, un fitxer modificat indegudament fa dos mesos).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recy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Avantatge afegit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rotació dels suports (cintes, discos) també reparteix el desgast de manera més uniforme, en lloc d'usar sempre el mateix suport.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DE ROTACIÓ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Grandfather-father-son (GFS)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(son): còpia incremental/diferencial diària. Una cinta per cada dia de la setmana, que es reutilitza cada setmana.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 (father): còpia completa setmanal (p. ex. cada diumenge). Una cinta per cada setmana del mes (S1...S5).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 (grandfather): l'última còpia completa del mes s'extreu de la rotació setmanal i es guarda com a còpia mensual.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L'última còpia mensual de l'any passa a arxiu (archiving) a llarg termini, sovint fora de l'organització.</a:t>
            </a:r>
            <a:endParaRPr lang="en-US" sz="15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ESQUEMA DE ROTACIÓ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Grandfather-father-son (GFS)</a:t>
            </a:r>
          </a:p>
        </p:txBody>
      </p:sp>
      <p:pic>
        <p:nvPicPr>
          <p:cNvPr id="4" name="Picture 3" descr="g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833" y="1920240"/>
            <a:ext cx="6760028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L'esquema GFS organitza les còpies en tres nivells: avi (mensual), pare (setmanal) i fill (diari).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DE ROTACIÓ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Torres de Hanoi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Objectiu: la màxima cobertura temporal amb el mínim de suports. Cada conjunt de suports (A, B, C, D...) s'utilitza amb una freqüència que es duplica a cada lletra.</a:t>
            </a:r>
            <a:endParaRPr lang="en-US" sz="15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3657600"/>
          <a:ext cx="94183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20440"/>
                <a:gridCol w="35204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Freqüència d'ús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Tipus de còpia habitual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Dies alterns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Incremental/diferencial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4 dies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Incremental/diferencial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8 dies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16 dies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371600" y="5623560"/>
            <a:ext cx="9418320" cy="640080"/>
          </a:xfrm>
          <a:prstGeom prst="roundRect">
            <a:avLst>
              <a:gd name="adj" fmla="val 14286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8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57150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28600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complex: recomanable només amb sistemes automatitzats per evitar errors humans en triar el suport.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ESQUEMA DE ROTACIÓ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Torres de Hanoi</a:t>
            </a:r>
          </a:p>
        </p:txBody>
      </p:sp>
      <p:pic>
        <p:nvPicPr>
          <p:cNvPr id="4" name="Picture 3" descr="han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047" y="1920240"/>
            <a:ext cx="5943600" cy="23526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410075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El període d'ús de cada suport es duplica a cada lletra (A, B, C, D...).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N'HI HA PROU AMB COPIAR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Comprovar les còpies de seguretat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789920" cy="1188720"/>
          </a:xfrm>
          <a:prstGeom prst="roundRect">
            <a:avLst>
              <a:gd name="adj" fmla="val 7692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945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9659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L'any 1998, </a:t>
            </a: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Pixar va arribar a perdre 90 minuts de la pel·lícula Toy Story 2</a:t>
            </a: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un error al sistema de còpies. Només es va poder recuperar perquè, per sort, una treballadora en tenia una còpia personal al seu propi equip.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38328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fer proves de restauració periòdiques: una còpia mai provada NO és fiable.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Aquestes proves també entrenen el personal per restaurar sota pressió real, quan el temps és crític.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Consell professional: en restaurar una base de dades, no sobreescriguis les dades existents — així pots comparar totes dues versions.</a:t>
            </a:r>
            <a:endParaRPr lang="en-US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POSEM TOT PER ESCRIT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política de còpies de seguretat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Defineix, a més de què/on/com/quan: qui n'és responsable, el temps de retenció, el procediment de restauració, com es protegeixen físicament les còpies, i el calendari de renovació i destrucció segura dels suports.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de ser coneguda per tot el personal implicat i revisar-se periòdicament.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521208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oc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7210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53492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 de les còpies: xifratge de les dades (si algú les roba, no les pot llegir) + protecció física (armaris ignífugs, o serveis especialitzats com </a:t>
            </a: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Iron Mountain</a:t>
            </a: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a l'arxiu a llarg termini).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PROGRAMARI DE CÒPIA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Eines reals, a Windows i a Linux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desktop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Windows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Còpia de seguretat de Windows (nativa, crea fitxers VHD però amb esquemes limitats); Cobian (gratuït, per a equips individuals); Acronis Backup (solució professional per a xarxa i servidors).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Linux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(empaquetat flexible, combinable amb cron); rsync (còpia remota per línia de comandes, eficient); Duplicity (backup local i remot); Areca Backup (interfície gràfica); Acronis (versió de pagament).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MÉS ENLLÀ DE LES 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Imatges de restauració del sistema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imatge conté l'estructura i el contingut complets d'un disc o partició: sistema operatiu, aplicacions i configuracions.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Instal·lar un SO, els controladors i totes les aplicacions pot trigar hores; restaurar-ho des d'una imatge es redueix a pocs minuts.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10789920" cy="822960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3891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3434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diferència del backup, les imatges no cal fer-les tan sovint: el sistema només canvia quan s'actualitza.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CASOS D'ÚS DIFERENTS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Clonació, imatge de disc o imatge forense?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Clonació de discos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el contingut d'un disc a un altre equip. Només copia els blocs "en ús" (no l'espai esborrat), per això pot ocupar menys que la capacitat total.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 de disc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a la clonació, però el destí és un fitxer de "respaldament" (no un altre disc final). Es pot comprimir per estalviar espai.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key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Imatge forense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Còpia TOT el contingut, bloc a bloc, inclòs l'espai no usat, i se'n calcula el hash per verificar-ne la integritat. S'usa en investigacions i peritatges.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TRES CASOS D'ÚS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Clonació, imatge de disc o imatge forense?</a:t>
            </a:r>
          </a:p>
        </p:txBody>
      </p:sp>
      <p:pic>
        <p:nvPicPr>
          <p:cNvPr id="4" name="Picture 3" descr="clonadora_for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920240"/>
            <a:ext cx="5486400" cy="3764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21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Una clonadora forense fa una còpia bloc a bloc d'un disc, preservant-ne la integritat per a investigacions.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EINES PER CREAR IMATGES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Windows, Linux, i eines forenses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503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Eina nativa d'imatge del sistema; Acronis True Image; Clonezilla; FOG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Clonezilla; comanda dd (còpia bit a bit); PartImage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FTK Imager; Guymager (calculen i verifiquen el hash de la imatge)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02336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20624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4160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Clonezilla és programari lliure que s'arrenca des d'un USB/CD, sense necessitat de tenir cap sistema operatiu instal·lat prèviament: ideal per a desplegaments massius a l'aula d'informàtica.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archiv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≠ archiving ≠ imatge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eines diferents per a tres objectius diferents de protecció de la informació.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istory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3-2-1 i rotació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còpies, 2 suports, 1 offsite; organitzades amb GFS o Torres de Hanoi.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Comprova sempre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còpia no verificada no és fiable: cal provar-ne la restauració periòdicament.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Dissenyeu la política de còpies de seguretat per a la biblioteca del vostre institut.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decidiu l'estratègia (completa/incremental/diferencial) amb la seva freqüència, com aplicaríeu la regla 3-2-1 amb els recursos típics d'un institut, i quin esquema de rotació (GFS o Hanoi) recomanaríeu.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NF2-AA3: Còpies de seguretat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github.com/SMX-0226SI/Materials/blob/main/NF2/AA3-CopiesSeguretat.md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L'incendi del datacenter d'OVH (Estrasburg, 2021)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DataCenterDynamics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notícia sobre la sentència i la pèrdua de dades de clients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Types Explained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NAKIVO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/>
              </a:rPr>
              <a:t>"Full, Incremental, and Differential Backup"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INCIBE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/>
              </a:rPr>
              <a:t>"Guía de copias de seguridad"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Clonezilla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/>
              </a:rPr>
              <a:t>clonezilla.org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documentació oficial; Somebooks.es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/>
              </a:rPr>
              <a:t>"Clonezilla: Crear una imagen del equipo paso a paso"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2026-09-07T18:17:08Z</dcterms:created>
  <dcterms:modified xsi:type="dcterms:W3CDTF">2026-09-07T18:17:08Z</dcterms:modified>
</cp:coreProperties>
</file>