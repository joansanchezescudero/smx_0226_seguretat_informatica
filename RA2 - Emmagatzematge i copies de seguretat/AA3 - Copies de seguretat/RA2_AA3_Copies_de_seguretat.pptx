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1.png"/><Relationship Id="rId3" Type="http://schemas.openxmlformats.org/officeDocument/2006/relationships/image" Target="../media/image-23-1.png"/><Relationship Id="rId4" Type="http://schemas.openxmlformats.org/officeDocument/2006/relationships/image" Target="../media/image-2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828800"/>
            <a:ext cx="6400800" cy="6400800"/>
          </a:xfrm>
          <a:prstGeom prst="ellipse">
            <a:avLst/>
          </a:prstGeom>
          <a:solidFill>
            <a:srgbClr val="13293D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-914400"/>
            <a:ext cx="4114800" cy="4114800"/>
          </a:xfrm>
          <a:prstGeom prst="ellipse">
            <a:avLst/>
          </a:prstGeom>
          <a:solidFill>
            <a:srgbClr val="16242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RA2 · NF2-AA3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Còpies de seguretat</a:t>
            </a:r>
            <a:endParaRPr lang="en-US" sz="4400" dirty="0"/>
          </a:p>
        </p:txBody>
      </p:sp>
      <p:pic>
        <p:nvPicPr>
          <p:cNvPr id="6" name="Image 0" descr="/tmp/claude-0/-home-user-SMX-0226-Seguretat-Informatica/cec25c9b-7e93-584a-a64a-196540977a59/scratchpad/build/icons/clon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246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diferència entre un ensurt i un desastre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6035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history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Política de còpies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Què protegim, on ho guardem, amb quina freqüència i com ho comprovem.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archiv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Estratègies i rotació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Completa/incremental/diferencial, la regla 3-2-1, i els esquemes GFS i Torres de Hanoi.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7" name="Image 2" descr="/tmp/claude-0/-home-user-SMX-0226-Seguretat-Informatica/cec25c9b-7e93-584a-a64a-196540977a59/scratchpad/build/icons/clone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Imatges del sistema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Clonació, imatges de disc i imatges forenses: quan no n'hi ha prou amb copiar només les dades.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COMENÇAR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Backup, archiving i imatges: no és el mateix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clon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Còpies de les dades amb l'objectiu de preservar-les i recuperar-les en cas de contingència.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archiv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Archiving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Emmagatzematge per a períodes molt llargs (anys), per motius legals. No permet recuperació ràpida, però garanteix la conservació a llarg termini.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7" name="Image 2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Imatges del sistema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Còpia del sistema operatiu i les aplicacions instal·lades, per restaurar-lo ràpidament (no se centren en les dades d'usuari).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SABIES?</a:t>
            </a:r>
            <a:endParaRPr lang="en-US" sz="1300" dirty="0"/>
          </a:p>
        </p:txBody>
      </p:sp>
      <p:pic>
        <p:nvPicPr>
          <p:cNvPr id="3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5029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96012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RAID no és una còpia de seguretat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SÍ protegeix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sistemes d'alta disponibilitat com el RAID només protegeixen contra errors del maquinari (que falli un disc).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NO protegeix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RAID no et salva d'un esborrat accidental, d'un atac de ransomware que xifra les dades, o d'una modificació no desitjada del contingut. Per això calen còpies de seguretat de debò.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ABANS DE COMENÇAR A COPIAR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Preguntes que cal respondre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Què volem protegir? No totes les dades tenen la mateixa importància ni són igual de recuperables.</a:t>
            </a:r>
            <a:endParaRPr lang="en-US" sz="16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farem les còpies? Locals, en xarxa, o a Internet.</a:t>
            </a:r>
            <a:endParaRPr lang="en-US" sz="16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 quins dispositius? Disc, SSD, cinta, òptic, RDX...</a:t>
            </a:r>
            <a:endParaRPr lang="en-US" sz="16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 quina freqüència?</a:t>
            </a:r>
            <a:endParaRPr lang="en-US" sz="16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les farem? Completa, incremental o diferencial.</a:t>
            </a:r>
            <a:endParaRPr lang="en-US" sz="16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les comprovarem? I finalment: com ho documentem tot en una política de còpies de seguretat.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QUÈ VOLEM PROTEGIR?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totes les dades pesen igual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 decidir quines dades són crítiques i quines no: documents d'usuaris, bases de dades, logs d'un servidor web...</a:t>
            </a:r>
            <a:endParaRPr lang="en-US" sz="16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 còpia de absolutament tot pot ser inviable per cost i temps: la selecció és una tasca prèvia imprescindible.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FAREM LES CÒPIES?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Locals, en xarxa, o a Internet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Còpies locals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 segon disc o dispositiu extern (USB, cinta). Ràpides de fer i recuperar, però si l'equip pateix un incendi, robatori o inundació, la còpia també es perd.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network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Còpies remotes en xarxa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Centralitzen les còpies de tots els equips (sovint amb robots de cintes automatitzats). Punt feble: solen estar a la mateixa ubicació física que l'original.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7" name="Image 2" descr="/tmp/claude-0/-home-user-SMX-0226-Seguretat-Informatica/cec25c9b-7e93-584a-a64a-196540977a59/scratchpad/build/icons/cloudup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Còpies a Internet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 bona connexió (les completes poden ser lentes). Cal valorar ubicació legal (RGPD), redundància del proveïdor (tier del datacenter) i xifratge.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40080" y="5029200"/>
            <a:ext cx="10789920" cy="822960"/>
          </a:xfrm>
          <a:prstGeom prst="roundRect">
            <a:avLst>
              <a:gd name="adj" fmla="val 11111"/>
            </a:avLst>
          </a:prstGeom>
          <a:solidFill>
            <a:srgbClr val="13293D"/>
          </a:solidFill>
          <a:ln/>
        </p:spPr>
      </p:sp>
      <p:pic>
        <p:nvPicPr>
          <p:cNvPr id="21" name="Image 3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212080"/>
            <a:ext cx="457200" cy="4572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54480" y="51663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L'incendi del centre de dades d'OVH a Estrasburg (2021) va destruir dades de clients que només tenien còpies al mateix edifici: un cas real que il·lustra per què cal separació física de debò.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RECOMANACIÓ DE REFERÈNCIA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Estratègia 3-2-1 (US-CERT)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58088" y="20116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158088" y="29260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còpies de les dades: l'original i DUES còpies de seguretat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449928" y="20116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49928" y="29260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suports diferents (per exemple, cinta externa + servei a Internet)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41768" y="20116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741768" y="29260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còpia en una ubicació remota (backup offsite): un altre edifici o el núvol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20624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13293D"/>
          </a:solidFill>
          <a:ln/>
        </p:spPr>
      </p:sp>
      <p:pic>
        <p:nvPicPr>
          <p:cNvPr id="12" name="Image 0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434840"/>
            <a:ext cx="457200" cy="45720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463040" y="434340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 aquest repartiment, un incendi pot destruir l'original i la còpia local, però la còpia offsite —que no ha patit el desastre— continua disponible.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DISPOSITIUS PER FER CÒPIES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Quin suport triar?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566160"/>
                <a:gridCol w="2651760"/>
                <a:gridCol w="26517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Punts forts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Punts febles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Durada aprox.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Discos durs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 cost, bona relació preu/capacitat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Fiabilitat i durada limitades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10-15 anys (offline)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Millor rendiment i fiabilitat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Més car; es degrada sense alimentació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 any sense alimentar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Òptics (CD/DVD/BR)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Bons per a còpies immutables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Cars, capacitat limitada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 anys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Cintes (LTO/DLT)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Molt duradores i fiables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Més lentes que un disc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 anys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Combina velocitat de disc + cartutx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Més car que la cinta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FREQÜÈNCIA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finestra de recuperació (recovery window)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freqüència de còpia determina quantes dades podem arribar a perdre. Amb còpies cada 24h, en el pitjor cas perdem fins a 24h de feina.</a:t>
            </a:r>
            <a:endParaRPr lang="en-US" sz="16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 un comerç electrònic, perdre 24h de dades pot suposar una pèrdua econòmica molt gran; per a altres sistemes, pot ser perfectament acceptable.</a:t>
            </a:r>
            <a:endParaRPr lang="en-US" sz="16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freqüència és un compromís entre disponibilitat, cost (dispositius i temps de personal), i l'impacte en el negoci de fer la còpia.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FER LES CÒPIES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Completa, incremental o diferencial: quan triar cadascuna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069080"/>
                <a:gridCol w="40690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Estratègia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 usar-la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organitzar-la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 de dades no gaire elevat (&lt; 50 GB)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més senzilla de restaurar: un sol arxiu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Diferencial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 elevat (&gt; 50 GB) però poques dades modificades (&lt; 4 GB)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Completa setmanal + diferencials diàries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Incremental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 elevat (&gt; 50 GB) i moltes dades modificades (&gt; 4 GB)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Completa més sovint (p. ex. diària) + incrementals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5120640"/>
            <a:ext cx="11247120" cy="777240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</p:sp>
      <p:pic>
        <p:nvPicPr>
          <p:cNvPr id="7" name="Image 0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280660"/>
            <a:ext cx="457200" cy="457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52578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arxius de còpia solen comprimir-se (.zip, .bz2...) per optimitzar l'espai i el temps de transferència.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ORGANITZAR-LES EN EL TEMPS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Esquemes de rotació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calenda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què rotem les còpies?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còpies antigues no se substitueixen immediatament: es van rotant, per poder recuperar versions antigues si cal (per exemple, un fitxer modificat indegudament fa dos mesos).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recycl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Avantatge afegit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rotació dels suports (cintes, discos) també reparteix el desgast de manera més uniforme, en lloc d'usar sempre el mateix suport.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DE ROTACIÓ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Grandfather-father-son (GFS)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(son): còpia incremental/diferencial diària. Una cinta per cada dia de la setmana, que es reutilitza cada setmana.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 (father): còpia completa setmanal (p. ex. cada diumenge). Una cinta per cada setmana del mes (S1...S5).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 (grandfather): l'última còpia completa del mes s'extreu de la rotació setmanal i es guarda com a còpia mensual.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L'última còpia mensual de l'any passa a arxiu (archiving) a llarg termini, sovint fora de l'organització.</a:t>
            </a:r>
            <a:endParaRPr lang="en-US" sz="15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DE ROTACIÓ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Torres de Hanoi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Objectiu: la màxima cobertura temporal amb el mínim de suports. Cada conjunt de suports (A, B, C, D...) s'utilitza amb una freqüència que es duplica a cada lletra.</a:t>
            </a:r>
            <a:endParaRPr lang="en-US" sz="15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3657600"/>
          <a:ext cx="94183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520440"/>
                <a:gridCol w="35204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Freqüència d'ús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Tipus de còpia habitual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Dies alterns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Incremental/diferencial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 4 dies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Incremental/diferencial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 8 dies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 16 dies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1371600" y="5623560"/>
            <a:ext cx="9418320" cy="640080"/>
          </a:xfrm>
          <a:prstGeom prst="roundRect">
            <a:avLst>
              <a:gd name="adj" fmla="val 14286"/>
            </a:avLst>
          </a:prstGeom>
          <a:solidFill>
            <a:srgbClr val="13293D"/>
          </a:solidFill>
          <a:ln/>
        </p:spPr>
      </p:sp>
      <p:pic>
        <p:nvPicPr>
          <p:cNvPr id="8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0" y="5715000"/>
            <a:ext cx="457200" cy="457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286000" y="5760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complex: recomanable només amb sistemes automatitzats per evitar errors humans en triar el suport.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N'HI HA PROU AMB COPIAR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Comprovar les còpies de seguretat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0789920" cy="1188720"/>
          </a:xfrm>
          <a:prstGeom prst="roundRect">
            <a:avLst>
              <a:gd name="adj" fmla="val 7692"/>
            </a:avLst>
          </a:prstGeom>
          <a:solidFill>
            <a:srgbClr val="0B1B29"/>
          </a:solidFill>
          <a:ln/>
        </p:spPr>
      </p:sp>
      <p:pic>
        <p:nvPicPr>
          <p:cNvPr id="6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9456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96596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L'any 1998, Pixar va arribar a perdre 90 minuts de la pel·lícula Toy Story 2 per un error al sistema de còpies. Només es va poder recuperar perquè, per sort, una treballadora en tenia una còpia personal al seu propi equip.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383280"/>
            <a:ext cx="10789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 fer proves de restauració periòdiques: una còpia mai provada NO és fiable.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Aquestes proves també entrenen el personal per restaurar sota pressió real, quan el temps és crític.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Consell professional: en restaurar una base de dades, no sobreescriguis les dades existents — així pots comparar totes dues versions.</a:t>
            </a:r>
            <a:endParaRPr lang="en-US" sz="15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POSEM TOT PER ESCRIT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política de còpies de seguretat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Defineix, a més de què/on/com/quan: qui n'és responsable, el temps de retenció, el procediment de restauració, com es protegeixen físicament les còpies, i el calendari de renovació i destrucció segura dels suports.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de ser coneguda per tot el personal implicat i revisar-se periòdicament.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521208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</p:sp>
      <p:pic>
        <p:nvPicPr>
          <p:cNvPr id="7" name="Image 0" descr="/tmp/claude-0/-home-user-SMX-0226-Seguretat-Informatica/cec25c9b-7e93-584a-a64a-196540977a59/scratchpad/build/icons/lock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37210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534924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 de les còpies: xifratge de les dades (si algú les roba, no les pot llegir) + protecció física (armaris ignífugs, o serveis especialitzats com Iron Mountain per a l'arxiu a llarg termini).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PROGRAMARI DE CÒPIA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Eines reals, a Windows i a Linux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desktop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Windows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Còpia de seguretat de Windows (nativa, crea fitxers VHD però amb esquemes limitats); Cobian (gratuït, per a equips individuals); Acronis Backup (solució professional per a xarxa i servidors).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terminal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Linux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 (empaquetat flexible, combinable amb cron); rsync (còpia remota per línia de comandes, eficient); Duplicity (backup local i remot); Areca Backup (interfície gràfica); Acronis (versió de pagament).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MÉS ENLLÀ DE LES DADES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Imatges de restauració del sistema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imatge conté l'estructura i el contingut complets d'un disc o partició: sistema operatiu, aplicacions i configuracions.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Instal·lar un SO, els controladors i totes les aplicacions pot trigar hores; restaurar-ho des d'una imatge es redueix a pocs minuts.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0080" y="4206240"/>
            <a:ext cx="10789920" cy="822960"/>
          </a:xfrm>
          <a:prstGeom prst="roundRect">
            <a:avLst>
              <a:gd name="adj" fmla="val 11111"/>
            </a:avLst>
          </a:prstGeom>
          <a:solidFill>
            <a:srgbClr val="13293D"/>
          </a:solidFill>
          <a:ln/>
        </p:spPr>
      </p:sp>
      <p:pic>
        <p:nvPicPr>
          <p:cNvPr id="7" name="Image 0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38912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3434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diferència del backup, les imatges no cal fer-les tan sovint: el sistema només canvia quan s'actualitza.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CASOS D'ÚS DIFERENTS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Clonació, imatge de disc o imatge forense?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clon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Clonació de discos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el contingut d'un disc a un altre equip. Només copia els blocs "en ús" (no l'espai esborrat), per això pot ocupar menys que la capacitat total.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Imatge de disc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 a la clonació, però el destí és un fitxer de "respaldament" (no un altre disc final). Es pot comprimir per estalviar espai.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7" name="Image 2" descr="/tmp/claude-0/-home-user-SMX-0226-Seguretat-Informatica/cec25c9b-7e93-584a-a64a-196540977a59/scratchpad/build/icons/key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Imatge forense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Còpia TOT el contingut, bloc a bloc, inclòs l'espai no usat, i se'n calcula el hash per verificar-ne la integritat. S'usa en investigacions i peritatges.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EINES PER CREAR IMATGES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Windows, Linux, i eines forenses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5039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Eina nativa d'imatge del sistema; Acronis True Image; Clonezilla; FOG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Linux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Clonezilla; comanda dd (còpia bit a bit); PartImage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Forense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FTK Imager; Guymager (calculen i verifiquen el hash de la imatge)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023360"/>
            <a:ext cx="11247120" cy="822960"/>
          </a:xfrm>
          <a:prstGeom prst="roundRect">
            <a:avLst>
              <a:gd name="adj" fmla="val 11111"/>
            </a:avLst>
          </a:prstGeom>
          <a:solidFill>
            <a:srgbClr val="13293D"/>
          </a:solidFill>
          <a:ln/>
        </p:spPr>
      </p:sp>
      <p:pic>
        <p:nvPicPr>
          <p:cNvPr id="7" name="Image 0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206240"/>
            <a:ext cx="457200" cy="457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41605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Clonezilla és programari lliure que s'arrenca des d'un USB/CD, sense necessitat de tenir cap sistema operatiu instal·lat prèviament: ideal per a desplegaments massius a l'aula d'informàtica.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archiv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 ≠ archiving ≠ imatge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eines diferents per a tres objectius diferents de protecció de la informació.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history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3-2-1 i rotació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còpies, 2 suports, 1 offsite; organitzades amb GFS o Torres de Hanoi.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7" name="Image 2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Comprova sempre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còpia no verificada no és fiable: cal provar-ne la restauració periòdicament.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188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pic>
        <p:nvPicPr>
          <p:cNvPr id="3" name="Image 0" descr="/tmp/claude-0/-home-user-SMX-0226-Seguretat-Informatica/cec25c9b-7e93-584a-a64a-196540977a59/scratchpad/build/icons/question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09728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Dissenyeu la política de còpies de seguretat per a la biblioteca del vostre institut.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29184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grups de 3: decidiu l'estratègia (completa/incremental/diferencial) amb la seva freqüència, com aplicaríeu la regla 3-2-1 amb els recursos típics d'un institut, i quin esquema de rotació (GFS o Hanoi) recomanaríeu.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en grup + posada en comú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2800" dirty="0"/>
          </a:p>
        </p:txBody>
      </p:sp>
      <p:pic>
        <p:nvPicPr>
          <p:cNvPr id="4" name="Image 0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828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NF2-AA3: Còpies de seguretat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17627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 "Materials" (GitHub, SMX-0226SI) · Carlos Alonso Martínez, Escola Pia de Mataró · Llicència CC-BY-SA-4.0 — github.com/SMX-0226SI/Materials/blob/main/NF2/AA3-CopiesSeguretat.md</a:t>
            </a:r>
            <a:endParaRPr lang="en-US" sz="1150" dirty="0"/>
          </a:p>
        </p:txBody>
      </p:sp>
      <p:pic>
        <p:nvPicPr>
          <p:cNvPr id="7" name="Image 1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2608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2880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L'incendi del datacenter d'OVH (Estrasburg, 2021)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322783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DataCenterDynamics — notícia sobre la sentència i la pèrdua de dades de clients</a:t>
            </a:r>
            <a:endParaRPr lang="en-US" sz="1150" dirty="0"/>
          </a:p>
        </p:txBody>
      </p:sp>
      <p:pic>
        <p:nvPicPr>
          <p:cNvPr id="10" name="Image 2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7764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3931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 Types Explained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42793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NAKIVO — "Full, Incremental, and Differential Backup"; INCIBE — "Guía de copias de seguridad"</a:t>
            </a:r>
            <a:endParaRPr lang="en-US" sz="1150" dirty="0"/>
          </a:p>
        </p:txBody>
      </p:sp>
      <p:pic>
        <p:nvPicPr>
          <p:cNvPr id="13" name="Image 3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29200"/>
            <a:ext cx="320040" cy="3200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43000" y="4983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Clonezilla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143000" y="533095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clonezilla.org — documentació oficial; Somebooks.es — "Clonezilla: Crear una imagen del equipo paso a paso"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64008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Creative Commons BY-NC-SA · Institut Obert de Catalunya, 2011 (materials adaptats i ampliats)</a:t>
            </a:r>
            <a:endParaRPr lang="en-US" sz="1050" dirty="0"/>
          </a:p>
        </p:txBody>
      </p:sp>
      <p:sp>
        <p:nvSpPr>
          <p:cNvPr id="17" name="Text 11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2026-09-07T18:17:08Z</dcterms:created>
  <dcterms:modified xsi:type="dcterms:W3CDTF">2026-09-07T18:17:08Z</dcterms:modified>
</cp:coreProperties>
</file>