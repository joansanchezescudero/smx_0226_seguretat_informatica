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79" r:id="rId30"/>
    <p:sldId id="264" r:id="rId10"/>
    <p:sldId id="265" r:id="rId11"/>
    <p:sldId id="266" r:id="rId12"/>
    <p:sldId id="280" r:id="rId31"/>
    <p:sldId id="267" r:id="rId13"/>
    <p:sldId id="268" r:id="rId14"/>
    <p:sldId id="281" r:id="rId32"/>
    <p:sldId id="269" r:id="rId15"/>
    <p:sldId id="282" r:id="rId33"/>
    <p:sldId id="270" r:id="rId16"/>
    <p:sldId id="271" r:id="rId17"/>
    <p:sldId id="272" r:id="rId18"/>
    <p:sldId id="273" r:id="rId19"/>
    <p:sldId id="274" r:id="rId20"/>
    <p:sldId id="283" r:id="rId34"/>
    <p:sldId id="275" r:id="rId21"/>
    <p:sldId id="276" r:id="rId22"/>
    <p:sldId id="277" r:id="rId23"/>
    <p:sldId id="278" r:id="rId24"/>
  </p:sldIdLst>
  <p:notesMasterIdLst>
    <p:notesMasterId r:id="rId2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10.xml"/><Relationship Id="rId11" Type="http://schemas.openxmlformats.org/officeDocument/2006/relationships/slide" Target="slides/slide11.xml"/><Relationship Id="rId12" Type="http://schemas.openxmlformats.org/officeDocument/2006/relationships/slide" Target="slides/slide12.xml"/><Relationship Id="rId13" Type="http://schemas.openxmlformats.org/officeDocument/2006/relationships/slide" Target="slides/slide14.xml"/><Relationship Id="rId14" Type="http://schemas.openxmlformats.org/officeDocument/2006/relationships/slide" Target="slides/slide15.xml"/><Relationship Id="rId15" Type="http://schemas.openxmlformats.org/officeDocument/2006/relationships/slide" Target="slides/slide17.xml"/><Relationship Id="rId16" Type="http://schemas.openxmlformats.org/officeDocument/2006/relationships/slide" Target="slides/slide19.xml"/><Relationship Id="rId17" Type="http://schemas.openxmlformats.org/officeDocument/2006/relationships/slide" Target="slides/slide20.xml"/><Relationship Id="rId18" Type="http://schemas.openxmlformats.org/officeDocument/2006/relationships/slide" Target="slides/slide21.xml"/><Relationship Id="rId19" Type="http://schemas.openxmlformats.org/officeDocument/2006/relationships/slide" Target="slides/slide22.xml"/><Relationship Id="rId20" Type="http://schemas.openxmlformats.org/officeDocument/2006/relationships/slide" Target="slides/slide23.xml"/><Relationship Id="rId21" Type="http://schemas.openxmlformats.org/officeDocument/2006/relationships/slide" Target="slides/slide25.xml"/><Relationship Id="rId22" Type="http://schemas.openxmlformats.org/officeDocument/2006/relationships/slide" Target="slides/slide26.xml"/><Relationship Id="rId23" Type="http://schemas.openxmlformats.org/officeDocument/2006/relationships/slide" Target="slides/slide27.xml"/><Relationship Id="rId24" Type="http://schemas.openxmlformats.org/officeDocument/2006/relationships/slide" Target="slides/slide28.xml"/><Relationship Id="rId25" Type="http://schemas.openxmlformats.org/officeDocument/2006/relationships/notesMaster" Target="notesMasters/notesMaster1.xml"/><Relationship Id="rId26" Type="http://schemas.openxmlformats.org/officeDocument/2006/relationships/presProps" Target="presProps.xml"/><Relationship Id="rId27" Type="http://schemas.openxmlformats.org/officeDocument/2006/relationships/viewProps" Target="viewProps.xml"/><Relationship Id="rId28" Type="http://schemas.openxmlformats.org/officeDocument/2006/relationships/theme" Target="theme/theme1.xml"/><Relationship Id="rId29" Type="http://schemas.openxmlformats.org/officeDocument/2006/relationships/tableStyles" Target="tableStyles.xml"/><Relationship Id="rId30" Type="http://schemas.openxmlformats.org/officeDocument/2006/relationships/slide" Target="slides/slide9.xml"/><Relationship Id="rId31" Type="http://schemas.openxmlformats.org/officeDocument/2006/relationships/slide" Target="slides/slide13.xml"/><Relationship Id="rId32" Type="http://schemas.openxmlformats.org/officeDocument/2006/relationships/slide" Target="slides/slide16.xml"/><Relationship Id="rId33" Type="http://schemas.openxmlformats.org/officeDocument/2006/relationships/slide" Target="slides/slide18.xml"/><Relationship Id="rId34" Type="http://schemas.openxmlformats.org/officeDocument/2006/relationships/slide" Target="slides/slide2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Relationship Id="rId7" Type="http://schemas.openxmlformats.org/officeDocument/2006/relationships/hyperlink" Target="https://www.datacenterdynamics.com/es/noticias/ovhcloud-condenado-a-pagar-250000-a-dos-clientes-que-perdieron-datos-en-el-incendio-del-centro-de-datos-de-estrasburgo/" TargetMode="Externa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Relationship Id="rId4" Type="http://schemas.openxmlformats.org/officeDocument/2006/relationships/hyperlink" Target="https://www.redstor.com/resource-hub/five-of-the-biggest-scare-stories-in-data-backup-history/" TargetMode="Externa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Relationship Id="rId4" Type="http://schemas.openxmlformats.org/officeDocument/2006/relationships/hyperlink" Target="https://www.ironmountain.com/es-es/services/offsite-tape-vaulting" TargetMode="Externa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image" Target="../media/image-1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9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.jp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2.png"/><Relationship Id="rId3" Type="http://schemas.openxmlformats.org/officeDocument/2006/relationships/image" Target="../media/image-2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1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image" Target="../media/image-23-1.png"/><Relationship Id="rId3" Type="http://schemas.openxmlformats.org/officeDocument/2006/relationships/image" Target="../media/image-23-1.png"/><Relationship Id="rId4" Type="http://schemas.openxmlformats.org/officeDocument/2006/relationships/image" Target="../media/image-23-1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3.xml"/><Relationship Id="rId7" Type="http://schemas.openxmlformats.org/officeDocument/2006/relationships/hyperlink" Target="https://github.com/SMX-0226SI/Materials/blob/main/NF2/AA3-CopiesSeguretat.md" TargetMode="External"/><Relationship Id="rId8" Type="http://schemas.openxmlformats.org/officeDocument/2006/relationships/hyperlink" Target="https://www.datacenterdynamics.com/es/noticias/ovhcloud-condenado-a-pagar-250000-a-dos-clientes-que-perdieron-datos-en-el-incendio-del-centro-de-datos-de-estrasburgo/" TargetMode="External"/><Relationship Id="rId9" Type="http://schemas.openxmlformats.org/officeDocument/2006/relationships/hyperlink" Target="https://www.nakivo.com/blog/backup-types-explained/" TargetMode="External"/><Relationship Id="rId10" Type="http://schemas.openxmlformats.org/officeDocument/2006/relationships/hyperlink" Target="https://www.incibe.es/index.php/empresas/guias/copias-seguridad-guia-aproximacion-el-empresario" TargetMode="External"/><Relationship Id="rId11" Type="http://schemas.openxmlformats.org/officeDocument/2006/relationships/hyperlink" Target="https://clonezilla.org/" TargetMode="External"/><Relationship Id="rId12" Type="http://schemas.openxmlformats.org/officeDocument/2006/relationships/hyperlink" Target="https://somebooks.es/clonezilla-crear-una-imagen-del-equipo-paso-paso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B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69680" y="-1828800"/>
            <a:ext cx="6400800" cy="6400800"/>
          </a:xfrm>
          <a:prstGeom prst="ellipse">
            <a:avLst/>
          </a:prstGeom>
          <a:solidFill>
            <a:srgbClr val="13293D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9875520" y="-914400"/>
            <a:ext cx="4114800" cy="4114800"/>
          </a:xfrm>
          <a:prstGeom prst="ellipse">
            <a:avLst/>
          </a:prstGeom>
          <a:solidFill>
            <a:srgbClr val="16242E"/>
          </a:solidFill>
          <a:ln/>
        </p:spPr>
        <p:txBody>
          <a:bodyPr/>
          <a:p/>
        </p:txBody>
      </p:sp>
      <p:sp>
        <p:nvSpPr>
          <p:cNvPr id="4" name="Text 2"/>
          <p:cNvSpPr txBox="1"/>
          <p:nvPr/>
        </p:nvSpPr>
        <p:spPr>
          <a:xfrm>
            <a:off x="822960" y="137160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MÒDUL 06 · SEGURETAT INFORMÀTICA — RA2 · NF2-AA3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1828800"/>
            <a:ext cx="98755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Còpies de seguretat</a:t>
            </a:r>
            <a:endParaRPr lang="en-US" sz="4400" dirty="0"/>
          </a:p>
        </p:txBody>
      </p:sp>
      <p:pic>
        <p:nvPicPr>
          <p:cNvPr id="6" name="Image 0" descr="/tmp/claude-0/-home-user-SMX-0226-Seguretat-Informatica/cec25c9b-7e93-584a-a64a-196540977a59/scratchpad/build/icons/clone_F2A54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3246120"/>
            <a:ext cx="502920" cy="50292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463040" y="32461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A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diferència entre un ensurt i un desastre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566928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FA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CFGM Sistemes Microinformàtics i Xarxes · 2n curs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822960" y="603504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Institut Puig Castellar</a:t>
            </a:r>
            <a:endParaRPr lang="en-US" sz="12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Joan Sánchez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AQUESTA SESSIÓ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2296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24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Què aprendrem avui?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1155161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32308" y="1737360"/>
            <a:ext cx="3429000" cy="384048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E2E8ED"/>
            </a:solidFill>
            <a:prstDash val="solid"/>
          </a:ln>
          <a:effectLst>
            <a:outerShdw sx="100000" sy="100000" kx="0" ky="0" algn="bl" rotWithShape="0" blurRad="101600" dist="38100" dir="5400000">
              <a:srgbClr val="16242E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952348" y="2057400"/>
            <a:ext cx="731520" cy="731520"/>
          </a:xfrm>
          <a:prstGeom prst="ellipse">
            <a:avLst/>
          </a:prstGeom>
          <a:solidFill>
            <a:srgbClr val="0B1B29"/>
          </a:solidFill>
          <a:ln/>
        </p:spPr>
        <p:txBody>
          <a:bodyPr/>
          <a:p/>
        </p:txBody>
      </p:sp>
      <p:pic>
        <p:nvPicPr>
          <p:cNvPr id="7" name="Image 0" descr="/tmp/claude-0/-home-user-SMX-0226-Seguretat-Informatica/cec25c9b-7e93-584a-a64a-196540977a59/scratchpad/build/icons/history_F2A54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5228" y="2240280"/>
            <a:ext cx="365760" cy="36576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906628" y="2971800"/>
            <a:ext cx="2880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24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Política de còpies</a:t>
            </a:r>
            <a:endParaRPr lang="en-US" sz="1700" dirty="0"/>
          </a:p>
        </p:txBody>
      </p:sp>
      <p:sp>
        <p:nvSpPr>
          <p:cNvPr id="9" name="Text 6"/>
          <p:cNvSpPr txBox="1"/>
          <p:nvPr/>
        </p:nvSpPr>
        <p:spPr>
          <a:xfrm>
            <a:off x="906628" y="3611880"/>
            <a:ext cx="28803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Què protegim, on ho guardem, amb quina freqüència i com ho comprovem.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4381348" y="1737360"/>
            <a:ext cx="3429000" cy="384048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E2E8ED"/>
            </a:solidFill>
            <a:prstDash val="solid"/>
          </a:ln>
          <a:effectLst>
            <a:outerShdw sx="100000" sy="100000" kx="0" ky="0" algn="bl" rotWithShape="0" blurRad="101600" dist="38100" dir="5400000">
              <a:srgbClr val="16242E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1" name="Shape 8"/>
          <p:cNvSpPr/>
          <p:nvPr/>
        </p:nvSpPr>
        <p:spPr>
          <a:xfrm>
            <a:off x="4701388" y="2057400"/>
            <a:ext cx="731520" cy="731520"/>
          </a:xfrm>
          <a:prstGeom prst="ellipse">
            <a:avLst/>
          </a:prstGeom>
          <a:solidFill>
            <a:srgbClr val="0B1B29"/>
          </a:solidFill>
          <a:ln/>
        </p:spPr>
        <p:txBody>
          <a:bodyPr/>
          <a:p/>
        </p:txBody>
      </p:sp>
      <p:pic>
        <p:nvPicPr>
          <p:cNvPr id="12" name="Image 1" descr="/tmp/claude-0/-home-user-SMX-0226-Seguretat-Informatica/cec25c9b-7e93-584a-a64a-196540977a59/scratchpad/build/icons/archive_F2A54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84268" y="2240280"/>
            <a:ext cx="365760" cy="36576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4655668" y="2971800"/>
            <a:ext cx="2880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24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Estratègies i rotació</a:t>
            </a:r>
            <a:endParaRPr lang="en-US" sz="1700" dirty="0"/>
          </a:p>
        </p:txBody>
      </p:sp>
      <p:sp>
        <p:nvSpPr>
          <p:cNvPr id="14" name="Text 10"/>
          <p:cNvSpPr txBox="1"/>
          <p:nvPr/>
        </p:nvSpPr>
        <p:spPr>
          <a:xfrm>
            <a:off x="4655668" y="3611880"/>
            <a:ext cx="28803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Completa/incremental/diferencial, la regla 3-2-1, i els esquemes GFS i Torres de Hanoi.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8130388" y="1737360"/>
            <a:ext cx="3429000" cy="384048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E2E8ED"/>
            </a:solidFill>
            <a:prstDash val="solid"/>
          </a:ln>
          <a:effectLst>
            <a:outerShdw sx="100000" sy="100000" kx="0" ky="0" algn="bl" rotWithShape="0" blurRad="101600" dist="38100" dir="5400000">
              <a:srgbClr val="16242E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6" name="Shape 12"/>
          <p:cNvSpPr/>
          <p:nvPr/>
        </p:nvSpPr>
        <p:spPr>
          <a:xfrm>
            <a:off x="8450428" y="2057400"/>
            <a:ext cx="731520" cy="731520"/>
          </a:xfrm>
          <a:prstGeom prst="ellipse">
            <a:avLst/>
          </a:prstGeom>
          <a:solidFill>
            <a:srgbClr val="0B1B29"/>
          </a:solidFill>
          <a:ln/>
        </p:spPr>
        <p:txBody>
          <a:bodyPr/>
          <a:p/>
        </p:txBody>
      </p:sp>
      <p:pic>
        <p:nvPicPr>
          <p:cNvPr id="17" name="Image 2" descr="/tmp/claude-0/-home-user-SMX-0226-Seguretat-Informatica/cec25c9b-7e93-584a-a64a-196540977a59/scratchpad/build/icons/clone_F2A541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33308" y="2240280"/>
            <a:ext cx="365760" cy="365760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8404708" y="2971800"/>
            <a:ext cx="2880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24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Imatges del sistema</a:t>
            </a:r>
            <a:endParaRPr lang="en-US" sz="1700" dirty="0"/>
          </a:p>
        </p:txBody>
      </p:sp>
      <p:sp>
        <p:nvSpPr>
          <p:cNvPr id="19" name="Text 14"/>
          <p:cNvSpPr txBox="1"/>
          <p:nvPr/>
        </p:nvSpPr>
        <p:spPr>
          <a:xfrm>
            <a:off x="8404708" y="3611880"/>
            <a:ext cx="28803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Clonació, imatges de disc i imatges forenses: quan no n'hi ha prou amb copiar només les dades.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COMENÇAR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2296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24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Backup, archiving i imatges: no és el mateix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1155161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32308" y="1737360"/>
            <a:ext cx="3429000" cy="384048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E2E8ED"/>
            </a:solidFill>
            <a:prstDash val="solid"/>
          </a:ln>
          <a:effectLst>
            <a:outerShdw sx="100000" sy="100000" kx="0" ky="0" algn="bl" rotWithShape="0" blurRad="101600" dist="38100" dir="5400000">
              <a:srgbClr val="16242E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952348" y="2057400"/>
            <a:ext cx="731520" cy="731520"/>
          </a:xfrm>
          <a:prstGeom prst="ellipse">
            <a:avLst/>
          </a:prstGeom>
          <a:solidFill>
            <a:srgbClr val="0B1B29"/>
          </a:solidFill>
          <a:ln/>
        </p:spPr>
        <p:txBody>
          <a:bodyPr/>
          <a:p/>
        </p:txBody>
      </p:sp>
      <p:pic>
        <p:nvPicPr>
          <p:cNvPr id="7" name="Image 0" descr="/tmp/claude-0/-home-user-SMX-0226-Seguretat-Informatica/cec25c9b-7e93-584a-a64a-196540977a59/scratchpad/build/icons/clone_F2A54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5228" y="2240280"/>
            <a:ext cx="365760" cy="36576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906628" y="2971800"/>
            <a:ext cx="2880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24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Backup</a:t>
            </a:r>
            <a:endParaRPr lang="en-US" sz="1700" dirty="0"/>
          </a:p>
        </p:txBody>
      </p:sp>
      <p:sp>
        <p:nvSpPr>
          <p:cNvPr id="9" name="Text 6"/>
          <p:cNvSpPr txBox="1"/>
          <p:nvPr/>
        </p:nvSpPr>
        <p:spPr>
          <a:xfrm>
            <a:off x="906628" y="3611880"/>
            <a:ext cx="28803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Còpies de les dades amb l'objectiu de preservar-les i recuperar-les en cas de contingència.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4381348" y="1737360"/>
            <a:ext cx="3429000" cy="384048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E2E8ED"/>
            </a:solidFill>
            <a:prstDash val="solid"/>
          </a:ln>
          <a:effectLst>
            <a:outerShdw sx="100000" sy="100000" kx="0" ky="0" algn="bl" rotWithShape="0" blurRad="101600" dist="38100" dir="5400000">
              <a:srgbClr val="16242E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1" name="Shape 8"/>
          <p:cNvSpPr/>
          <p:nvPr/>
        </p:nvSpPr>
        <p:spPr>
          <a:xfrm>
            <a:off x="4701388" y="2057400"/>
            <a:ext cx="731520" cy="731520"/>
          </a:xfrm>
          <a:prstGeom prst="ellipse">
            <a:avLst/>
          </a:prstGeom>
          <a:solidFill>
            <a:srgbClr val="0B1B29"/>
          </a:solidFill>
          <a:ln/>
        </p:spPr>
        <p:txBody>
          <a:bodyPr/>
          <a:p/>
        </p:txBody>
      </p:sp>
      <p:pic>
        <p:nvPicPr>
          <p:cNvPr id="12" name="Image 1" descr="/tmp/claude-0/-home-user-SMX-0226-Seguretat-Informatica/cec25c9b-7e93-584a-a64a-196540977a59/scratchpad/build/icons/archive_F2A54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84268" y="2240280"/>
            <a:ext cx="365760" cy="36576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4655668" y="2971800"/>
            <a:ext cx="2880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24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Archiving</a:t>
            </a:r>
            <a:endParaRPr lang="en-US" sz="1700" dirty="0"/>
          </a:p>
        </p:txBody>
      </p:sp>
      <p:sp>
        <p:nvSpPr>
          <p:cNvPr id="14" name="Text 10"/>
          <p:cNvSpPr txBox="1"/>
          <p:nvPr/>
        </p:nvSpPr>
        <p:spPr>
          <a:xfrm>
            <a:off x="4655668" y="3611880"/>
            <a:ext cx="28803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Emmagatzematge per a períodes molt llargs (anys), per motius legals. No permet recuperació ràpida, però garanteix la conservació a llarg termini.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8130388" y="1737360"/>
            <a:ext cx="3429000" cy="384048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E2E8ED"/>
            </a:solidFill>
            <a:prstDash val="solid"/>
          </a:ln>
          <a:effectLst>
            <a:outerShdw sx="100000" sy="100000" kx="0" ky="0" algn="bl" rotWithShape="0" blurRad="101600" dist="38100" dir="5400000">
              <a:srgbClr val="16242E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6" name="Shape 12"/>
          <p:cNvSpPr/>
          <p:nvPr/>
        </p:nvSpPr>
        <p:spPr>
          <a:xfrm>
            <a:off x="8450428" y="2057400"/>
            <a:ext cx="731520" cy="731520"/>
          </a:xfrm>
          <a:prstGeom prst="ellipse">
            <a:avLst/>
          </a:prstGeom>
          <a:solidFill>
            <a:srgbClr val="0B1B29"/>
          </a:solidFill>
          <a:ln/>
        </p:spPr>
        <p:txBody>
          <a:bodyPr/>
          <a:p/>
        </p:txBody>
      </p:sp>
      <p:pic>
        <p:nvPicPr>
          <p:cNvPr id="17" name="Image 2" descr="/tmp/claude-0/-home-user-SMX-0226-Seguretat-Informatica/cec25c9b-7e93-584a-a64a-196540977a59/scratchpad/build/icons/hdd_F2A541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33308" y="2240280"/>
            <a:ext cx="365760" cy="365760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8404708" y="2971800"/>
            <a:ext cx="2880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24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Imatges del sistema</a:t>
            </a:r>
            <a:endParaRPr lang="en-US" sz="1700" dirty="0"/>
          </a:p>
        </p:txBody>
      </p:sp>
      <p:sp>
        <p:nvSpPr>
          <p:cNvPr id="19" name="Text 14"/>
          <p:cNvSpPr txBox="1"/>
          <p:nvPr/>
        </p:nvSpPr>
        <p:spPr>
          <a:xfrm>
            <a:off x="8404708" y="3611880"/>
            <a:ext cx="28803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Còpia del sistema operatiu i les aplicacions instal·lades, per restaurar-lo ràpidament (no se centren en les dades d'usuari).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B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5486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 SABIES?</a:t>
            </a:r>
            <a:endParaRPr lang="en-US" sz="1300" dirty="0"/>
          </a:p>
        </p:txBody>
      </p:sp>
      <p:pic>
        <p:nvPicPr>
          <p:cNvPr id="3" name="Image 0" descr="/tmp/claude-0/-home-user-SMX-0226-Seguretat-Informatica/cec25c9b-7e93-584a-a64a-196540977a59/scratchpad/build/icons/warning_F2A54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98480" y="502920"/>
            <a:ext cx="548640" cy="54864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822960" y="960120"/>
            <a:ext cx="9509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RAID no és una còpia de seguretat</a:t>
            </a:r>
            <a:endParaRPr lang="en-US" sz="3000" dirty="0"/>
          </a:p>
        </p:txBody>
      </p:sp>
      <p:sp>
        <p:nvSpPr>
          <p:cNvPr id="5" name="Text 2"/>
          <p:cNvSpPr txBox="1"/>
          <p:nvPr/>
        </p:nvSpPr>
        <p:spPr>
          <a:xfrm>
            <a:off x="822960" y="228600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2A5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Què SÍ protegeix</a:t>
            </a:r>
            <a:endParaRPr lang="en-US" sz="1500" dirty="0"/>
          </a:p>
        </p:txBody>
      </p:sp>
      <p:sp>
        <p:nvSpPr>
          <p:cNvPr id="6" name="Text 3"/>
          <p:cNvSpPr txBox="1"/>
          <p:nvPr/>
        </p:nvSpPr>
        <p:spPr>
          <a:xfrm>
            <a:off x="822960" y="2743200"/>
            <a:ext cx="493776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450" dirty="0">
                <a:solidFill>
                  <a:srgbClr val="CA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Els sistemes d'alta disponibilitat com el RAID només protegeixen contra errors del maquinari (que falli un disc).</a:t>
            </a:r>
            <a:endParaRPr lang="en-US" sz="1450" dirty="0"/>
          </a:p>
        </p:txBody>
      </p:sp>
      <p:sp>
        <p:nvSpPr>
          <p:cNvPr id="7" name="Text 4"/>
          <p:cNvSpPr txBox="1"/>
          <p:nvPr/>
        </p:nvSpPr>
        <p:spPr>
          <a:xfrm>
            <a:off x="6035040" y="228600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2A5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Què NO protegeix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6035040" y="2743200"/>
            <a:ext cx="493776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450" dirty="0">
                <a:solidFill>
                  <a:srgbClr val="CA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RAID no et salva d'un esborrat accidental, d'un atac de ransomware que xifra les dades, o d'una modificació no desitjada del contingut. Per això calen còpies de seguretat de debò.</a:t>
            </a:r>
            <a:endParaRPr lang="en-US" sz="1450" dirty="0"/>
          </a:p>
        </p:txBody>
      </p:sp>
      <p:sp>
        <p:nvSpPr>
          <p:cNvPr id="9" name="Text 6"/>
          <p:cNvSpPr txBox="1"/>
          <p:nvPr/>
        </p:nvSpPr>
        <p:spPr>
          <a:xfrm>
            <a:off x="1155161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ABANS DE COMENÇAR A COPIAR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2296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24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Preguntes que cal respondre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1155161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737360"/>
            <a:ext cx="1078992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000"/>
              </a:lnSpc>
              <a:spcAft>
                <a:spcPts val="1000"/>
              </a:spcAft>
              <a:buSzPct val="100000"/>
              <a:buChar char="▪"/>
            </a:pPr>
            <a:r>
              <a:rPr lang="en-US" sz="1600" dirty="0">
                <a:solidFill>
                  <a:srgbClr val="16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Què volem protegir? No totes les dades tenen la mateixa importància ni són igual de recuperables.</a:t>
            </a:r>
            <a:endParaRPr lang="en-US" sz="1600" dirty="0"/>
          </a:p>
          <a:p>
            <a:pPr marL="342900" indent="-342900">
              <a:lnSpc>
                <a:spcPts val="2000"/>
              </a:lnSpc>
              <a:spcAft>
                <a:spcPts val="1000"/>
              </a:spcAft>
              <a:buSzPct val="100000"/>
              <a:buChar char="▪"/>
            </a:pPr>
            <a:r>
              <a:rPr lang="en-US" sz="1600" dirty="0">
                <a:solidFill>
                  <a:srgbClr val="16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farem les còpies? Locals, en xarxa, o a Internet.</a:t>
            </a:r>
            <a:endParaRPr lang="en-US" sz="1600" dirty="0"/>
          </a:p>
          <a:p>
            <a:pPr marL="342900" indent="-342900">
              <a:lnSpc>
                <a:spcPts val="2000"/>
              </a:lnSpc>
              <a:spcAft>
                <a:spcPts val="1000"/>
              </a:spcAft>
              <a:buSzPct val="100000"/>
              <a:buChar char="▪"/>
            </a:pPr>
            <a:r>
              <a:rPr lang="en-US" sz="1600" dirty="0">
                <a:solidFill>
                  <a:srgbClr val="16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 quins dispositius? Disc, SSD, cinta, òptic, RDX...</a:t>
            </a:r>
            <a:endParaRPr lang="en-US" sz="1600" dirty="0"/>
          </a:p>
          <a:p>
            <a:pPr marL="342900" indent="-342900">
              <a:lnSpc>
                <a:spcPts val="2000"/>
              </a:lnSpc>
              <a:spcAft>
                <a:spcPts val="1000"/>
              </a:spcAft>
              <a:buSzPct val="100000"/>
              <a:buChar char="▪"/>
            </a:pPr>
            <a:r>
              <a:rPr lang="en-US" sz="1600" dirty="0">
                <a:solidFill>
                  <a:srgbClr val="16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 quina freqüència?</a:t>
            </a:r>
            <a:endParaRPr lang="en-US" sz="1600" dirty="0"/>
          </a:p>
          <a:p>
            <a:pPr marL="342900" indent="-342900">
              <a:lnSpc>
                <a:spcPts val="2000"/>
              </a:lnSpc>
              <a:spcAft>
                <a:spcPts val="1000"/>
              </a:spcAft>
              <a:buSzPct val="100000"/>
              <a:buChar char="▪"/>
            </a:pPr>
            <a:r>
              <a:rPr lang="en-US" sz="1600" dirty="0">
                <a:solidFill>
                  <a:srgbClr val="16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 les farem? Completa, incremental o diferencial.</a:t>
            </a:r>
            <a:endParaRPr lang="en-US" sz="1600" dirty="0"/>
          </a:p>
          <a:p>
            <a:pPr marL="342900" indent="-342900">
              <a:lnSpc>
                <a:spcPts val="2000"/>
              </a:lnSpc>
              <a:spcAft>
                <a:spcPts val="1000"/>
              </a:spcAft>
              <a:buSzPct val="100000"/>
              <a:buChar char="▪"/>
            </a:pPr>
            <a:r>
              <a:rPr lang="en-US" sz="1600" dirty="0">
                <a:solidFill>
                  <a:srgbClr val="16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 les comprovarem? I finalment: com ho documentem tot en una política de còpies de seguretat.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QUÈ VOLEM PROTEGIR?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2296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24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totes les dades pesen igual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1155161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737360"/>
            <a:ext cx="107899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000"/>
              </a:lnSpc>
              <a:spcAft>
                <a:spcPts val="1000"/>
              </a:spcAft>
              <a:buSzPct val="100000"/>
              <a:buChar char="▪"/>
            </a:pPr>
            <a:r>
              <a:rPr lang="en-US" sz="1600" dirty="0">
                <a:solidFill>
                  <a:srgbClr val="16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 decidir quines dades són crítiques i quines no: documents d'usuaris, bases de dades, logs d'un servidor web...</a:t>
            </a:r>
            <a:endParaRPr lang="en-US" sz="1600" dirty="0"/>
          </a:p>
          <a:p>
            <a:pPr marL="342900" indent="-342900">
              <a:lnSpc>
                <a:spcPts val="2000"/>
              </a:lnSpc>
              <a:spcAft>
                <a:spcPts val="1000"/>
              </a:spcAft>
              <a:buSzPct val="100000"/>
              <a:buChar char="▪"/>
            </a:pPr>
            <a:r>
              <a:rPr lang="en-US" sz="1600" dirty="0">
                <a:solidFill>
                  <a:srgbClr val="16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Fer còpia de absolutament tot pot ser inviable per cost i temps: la selecció és una tasca prèvia imprescindible.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FAREM LES CÒPIES?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2296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24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Locals, en xarxa, o a Internet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1155161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32308" y="1737360"/>
            <a:ext cx="3429000" cy="384048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E2E8ED"/>
            </a:solidFill>
            <a:prstDash val="solid"/>
          </a:ln>
          <a:effectLst>
            <a:outerShdw sx="100000" sy="100000" kx="0" ky="0" algn="bl" rotWithShape="0" blurRad="101600" dist="38100" dir="5400000">
              <a:srgbClr val="16242E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952348" y="2057400"/>
            <a:ext cx="731520" cy="731520"/>
          </a:xfrm>
          <a:prstGeom prst="ellipse">
            <a:avLst/>
          </a:prstGeom>
          <a:solidFill>
            <a:srgbClr val="0B1B29"/>
          </a:solidFill>
          <a:ln/>
        </p:spPr>
        <p:txBody>
          <a:bodyPr/>
          <a:p/>
        </p:txBody>
      </p:sp>
      <p:pic>
        <p:nvPicPr>
          <p:cNvPr id="7" name="Image 0" descr="/tmp/claude-0/-home-user-SMX-0226-Seguretat-Informatica/cec25c9b-7e93-584a-a64a-196540977a59/scratchpad/build/icons/hdd_F2A54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5228" y="2240280"/>
            <a:ext cx="365760" cy="36576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906628" y="2971800"/>
            <a:ext cx="2880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24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Còpies locals</a:t>
            </a:r>
            <a:endParaRPr lang="en-US" sz="1700" dirty="0"/>
          </a:p>
        </p:txBody>
      </p:sp>
      <p:sp>
        <p:nvSpPr>
          <p:cNvPr id="9" name="Text 6"/>
          <p:cNvSpPr txBox="1"/>
          <p:nvPr/>
        </p:nvSpPr>
        <p:spPr>
          <a:xfrm>
            <a:off x="906628" y="3611880"/>
            <a:ext cx="28803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un segon disc o dispositiu extern (USB, cinta). Ràpides de fer i recuperar, però si l'equip pateix un incendi, robatori o inundació, la còpia també es perd.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4381348" y="1737360"/>
            <a:ext cx="3429000" cy="384048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E2E8ED"/>
            </a:solidFill>
            <a:prstDash val="solid"/>
          </a:ln>
          <a:effectLst>
            <a:outerShdw sx="100000" sy="100000" kx="0" ky="0" algn="bl" rotWithShape="0" blurRad="101600" dist="38100" dir="5400000">
              <a:srgbClr val="16242E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1" name="Shape 8"/>
          <p:cNvSpPr/>
          <p:nvPr/>
        </p:nvSpPr>
        <p:spPr>
          <a:xfrm>
            <a:off x="4701388" y="2057400"/>
            <a:ext cx="731520" cy="731520"/>
          </a:xfrm>
          <a:prstGeom prst="ellipse">
            <a:avLst/>
          </a:prstGeom>
          <a:solidFill>
            <a:srgbClr val="0B1B29"/>
          </a:solidFill>
          <a:ln/>
        </p:spPr>
        <p:txBody>
          <a:bodyPr/>
          <a:p/>
        </p:txBody>
      </p:sp>
      <p:pic>
        <p:nvPicPr>
          <p:cNvPr id="12" name="Image 1" descr="/tmp/claude-0/-home-user-SMX-0226-Seguretat-Informatica/cec25c9b-7e93-584a-a64a-196540977a59/scratchpad/build/icons/network_F2A54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84268" y="2240280"/>
            <a:ext cx="365760" cy="36576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4655668" y="2971800"/>
            <a:ext cx="2880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24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Còpies remotes en xarxa</a:t>
            </a:r>
            <a:endParaRPr lang="en-US" sz="1700" dirty="0"/>
          </a:p>
        </p:txBody>
      </p:sp>
      <p:sp>
        <p:nvSpPr>
          <p:cNvPr id="14" name="Text 10"/>
          <p:cNvSpPr txBox="1"/>
          <p:nvPr/>
        </p:nvSpPr>
        <p:spPr>
          <a:xfrm>
            <a:off x="4655668" y="3611880"/>
            <a:ext cx="28803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Centralitzen les còpies de tots els equips (sovint amb robots de cintes automatitzats). Punt feble: solen estar a la mateixa ubicació física que l'original.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8130388" y="1737360"/>
            <a:ext cx="3429000" cy="384048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E2E8ED"/>
            </a:solidFill>
            <a:prstDash val="solid"/>
          </a:ln>
          <a:effectLst>
            <a:outerShdw sx="100000" sy="100000" kx="0" ky="0" algn="bl" rotWithShape="0" blurRad="101600" dist="38100" dir="5400000">
              <a:srgbClr val="16242E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6" name="Shape 12"/>
          <p:cNvSpPr/>
          <p:nvPr/>
        </p:nvSpPr>
        <p:spPr>
          <a:xfrm>
            <a:off x="8450428" y="2057400"/>
            <a:ext cx="731520" cy="731520"/>
          </a:xfrm>
          <a:prstGeom prst="ellipse">
            <a:avLst/>
          </a:prstGeom>
          <a:solidFill>
            <a:srgbClr val="0B1B29"/>
          </a:solidFill>
          <a:ln/>
        </p:spPr>
        <p:txBody>
          <a:bodyPr/>
          <a:p/>
        </p:txBody>
      </p:sp>
      <p:pic>
        <p:nvPicPr>
          <p:cNvPr id="17" name="Image 2" descr="/tmp/claude-0/-home-user-SMX-0226-Seguretat-Informatica/cec25c9b-7e93-584a-a64a-196540977a59/scratchpad/build/icons/cloudup_F2A541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33308" y="2240280"/>
            <a:ext cx="365760" cy="365760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8404708" y="2971800"/>
            <a:ext cx="2880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24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Còpies a Internet</a:t>
            </a:r>
            <a:endParaRPr lang="en-US" sz="1700" dirty="0"/>
          </a:p>
        </p:txBody>
      </p:sp>
      <p:sp>
        <p:nvSpPr>
          <p:cNvPr id="19" name="Text 14"/>
          <p:cNvSpPr txBox="1"/>
          <p:nvPr/>
        </p:nvSpPr>
        <p:spPr>
          <a:xfrm>
            <a:off x="8404708" y="3611880"/>
            <a:ext cx="28803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 bona connexió (les completes poden ser lentes). Cal valorar ubicació legal (RGPD), redundància del proveïdor (tier del datacenter) i xifratge.</a:t>
            </a:r>
            <a:endParaRPr lang="en-US" sz="1250" dirty="0"/>
          </a:p>
        </p:txBody>
      </p:sp>
      <p:sp>
        <p:nvSpPr>
          <p:cNvPr id="20" name="Shape 15"/>
          <p:cNvSpPr/>
          <p:nvPr/>
        </p:nvSpPr>
        <p:spPr>
          <a:xfrm>
            <a:off x="640080" y="5029200"/>
            <a:ext cx="10789920" cy="822960"/>
          </a:xfrm>
          <a:prstGeom prst="roundRect">
            <a:avLst>
              <a:gd name="adj" fmla="val 11111"/>
            </a:avLst>
          </a:prstGeom>
          <a:solidFill>
            <a:srgbClr val="13293D"/>
          </a:solidFill>
          <a:ln/>
        </p:spPr>
        <p:txBody>
          <a:bodyPr/>
          <a:p/>
        </p:txBody>
      </p:sp>
      <p:pic>
        <p:nvPicPr>
          <p:cNvPr id="21" name="Image 3" descr="/tmp/claude-0/-home-user-SMX-0226-Seguretat-Informatica/cec25c9b-7e93-584a-a64a-196540977a59/scratchpad/build/icons/warning_F2A541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5212080"/>
            <a:ext cx="457200" cy="457200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1554480" y="516636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7"/>
              </a:rPr>
              <a:t>L'incendi del centre de dades d'OVH a Estrasburg (2021)</a:t>
            </a:r>
            <a:r>
              <a:rPr lang="en-US" sz="13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va destruir dades de clients que només tenien còpies al mateix edifici: un cas real que il·lustra per què cal separació física de debò.</a:t>
            </a:r>
            <a:endParaRPr 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RECOMANACIÓ DE REFERÈNCIA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2296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24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Estratègia 3-2-1 (US-CERT)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1155161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1158088" y="2011680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2A5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1158088" y="292608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còpies de les dades: l'original i DUES còpies de seguretat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4449928" y="2011680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2A5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4000" dirty="0"/>
          </a:p>
        </p:txBody>
      </p:sp>
      <p:sp>
        <p:nvSpPr>
          <p:cNvPr id="8" name="Text 6"/>
          <p:cNvSpPr txBox="1"/>
          <p:nvPr/>
        </p:nvSpPr>
        <p:spPr>
          <a:xfrm>
            <a:off x="4449928" y="292608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suports diferents (per exemple, cinta externa + servei a Internet)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7741768" y="2011680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2A5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4000" dirty="0"/>
          </a:p>
        </p:txBody>
      </p:sp>
      <p:sp>
        <p:nvSpPr>
          <p:cNvPr id="10" name="Text 8"/>
          <p:cNvSpPr txBox="1"/>
          <p:nvPr/>
        </p:nvSpPr>
        <p:spPr>
          <a:xfrm>
            <a:off x="7741768" y="292608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còpia en una ubicació remota (backup offsite): un altre edifici o el núvol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4206240"/>
            <a:ext cx="11064240" cy="914400"/>
          </a:xfrm>
          <a:prstGeom prst="roundRect">
            <a:avLst>
              <a:gd name="adj" fmla="val 10000"/>
            </a:avLst>
          </a:prstGeom>
          <a:solidFill>
            <a:srgbClr val="13293D"/>
          </a:solidFill>
          <a:ln/>
        </p:spPr>
        <p:txBody>
          <a:bodyPr/>
          <a:p/>
        </p:txBody>
      </p:sp>
      <p:pic>
        <p:nvPicPr>
          <p:cNvPr id="12" name="Image 0" descr="/tmp/claude-0/-home-user-SMX-0226-Seguretat-Informatica/cec25c9b-7e93-584a-a64a-196540977a59/scratchpad/build/icons/bulb_F2A54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4434840"/>
            <a:ext cx="457200" cy="457200"/>
          </a:xfrm>
          <a:prstGeom prst="rect">
            <a:avLst/>
          </a:prstGeom>
        </p:spPr>
      </p:pic>
      <p:sp>
        <p:nvSpPr>
          <p:cNvPr id="13" name="Text 10"/>
          <p:cNvSpPr txBox="1"/>
          <p:nvPr/>
        </p:nvSpPr>
        <p:spPr>
          <a:xfrm>
            <a:off x="1463040" y="4343400"/>
            <a:ext cx="9875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 aquest repartiment, un incendi pot destruir l'original i la còpia local, però la còpia offsite —que no ha patit el desastre— continua disponible.</a:t>
            </a:r>
            <a:endParaRPr lang="en-US" sz="13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2A541"/>
                </a:solidFill>
                <a:latin typeface="Calibri"/>
              </a:rPr>
              <a:t>L'ESTÀNDARD DEL SECTOR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858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6242E"/>
                </a:solidFill>
                <a:latin typeface="Cambria"/>
              </a:rPr>
              <a:t>La regla 3-2-1</a:t>
            </a:r>
          </a:p>
        </p:txBody>
      </p:sp>
      <p:pic>
        <p:nvPicPr>
          <p:cNvPr id="4" name="Picture 3" descr="3-2-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95447" y="1920240"/>
            <a:ext cx="6400800" cy="360045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5657850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5B6B77"/>
                </a:solidFill>
                <a:latin typeface="Calibri"/>
              </a:rPr>
              <a:t>La regla 3-2-1 és l'estàndard de referència per organitzar les còpies de seguretat.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B6B77"/>
                </a:solidFill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DISPOSITIUS PER FER CÒPIES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2296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24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Quin suport triar?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1155161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1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600200"/>
          <a:ext cx="1124712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3566160"/>
                <a:gridCol w="2651760"/>
                <a:gridCol w="2651760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Suport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2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Punts forts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2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Punts febles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2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Durada aprox.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2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624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Discos durs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624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Baix cost, bona relació preu/capacitat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624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Fiabilitat i durada limitades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624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10-15 anys (offline)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624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SSD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624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Millor rendiment i fiabilitat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624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Més car; es degrada sense alimentació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624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~1 any sense alimentar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624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Òptics (CD/DVD/BR)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624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Bons per a còpies immutables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624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Cars, capacitat limitada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624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~20 anys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624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Cintes (LTO/DLT)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624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Molt duradores i fiables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624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Més lentes que un disc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624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~50 anys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624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RDX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624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Combina velocitat de disc + cartutx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624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Més car que la cinta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624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FREQÜÈNCIA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2296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24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finestra de recuperació (recovery window)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1155161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737360"/>
            <a:ext cx="1078992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000"/>
              </a:lnSpc>
              <a:spcAft>
                <a:spcPts val="1000"/>
              </a:spcAft>
              <a:buSzPct val="100000"/>
              <a:buChar char="▪"/>
            </a:pPr>
            <a:r>
              <a:rPr lang="en-US" sz="1600" dirty="0">
                <a:solidFill>
                  <a:srgbClr val="16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freqüència de còpia determina quantes dades podem arribar a perdre. Amb còpies cada 24h, en el pitjor cas perdem fins a 24h de feina.</a:t>
            </a:r>
            <a:endParaRPr lang="en-US" sz="1600" dirty="0"/>
          </a:p>
          <a:p>
            <a:pPr marL="342900" indent="-342900">
              <a:lnSpc>
                <a:spcPts val="2000"/>
              </a:lnSpc>
              <a:spcAft>
                <a:spcPts val="1000"/>
              </a:spcAft>
              <a:buSzPct val="100000"/>
              <a:buChar char="▪"/>
            </a:pPr>
            <a:r>
              <a:rPr lang="en-US" sz="1600" dirty="0">
                <a:solidFill>
                  <a:srgbClr val="16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a un comerç electrònic, perdre 24h de dades pot suposar una pèrdua econòmica molt gran; per a altres sistemes, pot ser perfectament acceptable.</a:t>
            </a:r>
            <a:endParaRPr lang="en-US" sz="1600" dirty="0"/>
          </a:p>
          <a:p>
            <a:pPr marL="342900" indent="-342900">
              <a:lnSpc>
                <a:spcPts val="2000"/>
              </a:lnSpc>
              <a:spcAft>
                <a:spcPts val="1000"/>
              </a:spcAft>
              <a:buSzPct val="100000"/>
              <a:buChar char="▪"/>
            </a:pPr>
            <a:r>
              <a:rPr lang="en-US" sz="1600" dirty="0">
                <a:solidFill>
                  <a:srgbClr val="16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freqüència és un compromís entre disponibilitat, cost (dispositius i temps de personal), i l'impacte en el negoci de fer la còpia.</a:t>
            </a:r>
            <a:endParaRPr lang="en-US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 FER LES CÒPIES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2296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24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Completa, incremental o diferencial: quan triar cadascuna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1155161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1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600200"/>
          <a:ext cx="11247120" cy="914400"/>
        </p:xfrm>
        <a:graphic>
          <a:graphicData uri="http://schemas.openxmlformats.org/drawingml/2006/table">
            <a:tbl>
              <a:tblPr/>
              <a:tblGrid>
                <a:gridCol w="3108960"/>
                <a:gridCol w="4069080"/>
                <a:gridCol w="4069080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Estratègia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2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Quan usar-la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2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 organitzar-la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2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624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Completa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624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Volum de dades no gaire elevat (&lt; 50 GB)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624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 més senzilla de restaurar: un sol arxiu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624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Diferencial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624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Volum elevat (&gt; 50 GB) però poques dades modificades (&lt; 4 GB)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624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Completa setmanal + diferencials diàries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624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Incremental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624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Volum elevat (&gt; 50 GB) i moltes dades modificades (&gt; 4 GB)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624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Completa més sovint (p. ex. diària) + incrementals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457200" y="5120640"/>
            <a:ext cx="11247120" cy="777240"/>
          </a:xfrm>
          <a:prstGeom prst="roundRect">
            <a:avLst>
              <a:gd name="adj" fmla="val 11765"/>
            </a:avLst>
          </a:prstGeom>
          <a:solidFill>
            <a:srgbClr val="13293D"/>
          </a:solidFill>
          <a:ln/>
        </p:spPr>
        <p:txBody>
          <a:bodyPr/>
          <a:p/>
        </p:txBody>
      </p:sp>
      <p:pic>
        <p:nvPicPr>
          <p:cNvPr id="7" name="Image 0" descr="/tmp/claude-0/-home-user-SMX-0226-Seguretat-Informatica/cec25c9b-7e93-584a-a64a-196540977a59/scratchpad/build/icons/bulb_F2A54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5280660"/>
            <a:ext cx="457200" cy="45720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371600" y="5257800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Els arxius de còpia solen comprimir-se (.zip, .bz2...) per optimitzar l'espai i el temps de transferència.</a:t>
            </a:r>
            <a:endParaRPr lang="en-US" sz="13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2A541"/>
                </a:solidFill>
                <a:latin typeface="Calibri"/>
              </a:rPr>
              <a:t>COM FER LES CÒPIES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858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6242E"/>
                </a:solidFill>
                <a:latin typeface="Cambria"/>
              </a:rPr>
              <a:t>Incremental vs. diferencial</a:t>
            </a:r>
          </a:p>
        </p:txBody>
      </p:sp>
      <p:pic>
        <p:nvPicPr>
          <p:cNvPr id="4" name="Picture 3" descr="increment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0503" y="1965960"/>
            <a:ext cx="4754880" cy="303783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5140960"/>
            <a:ext cx="5318607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 i="1">
                <a:solidFill>
                  <a:srgbClr val="5B6B77"/>
                </a:solidFill>
                <a:latin typeface="Calibri"/>
              </a:rPr>
              <a:t>Còpia incremental.</a:t>
            </a:r>
          </a:p>
        </p:txBody>
      </p:sp>
      <p:pic>
        <p:nvPicPr>
          <p:cNvPr id="6" name="Picture 5" descr="diferenci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06311" y="1965960"/>
            <a:ext cx="4754880" cy="299821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324447" y="5101336"/>
            <a:ext cx="5318607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 i="1">
                <a:solidFill>
                  <a:srgbClr val="5B6B77"/>
                </a:solidFill>
                <a:latin typeface="Calibri"/>
              </a:rPr>
              <a:t>Còpia diferencial.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B6B77"/>
                </a:solidFill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ORGANITZAR-LES EN EL TEMPS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2296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24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Esquemes de rotació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1155161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55168" y="1737360"/>
            <a:ext cx="5212080" cy="3931920"/>
          </a:xfrm>
          <a:prstGeom prst="roundRect">
            <a:avLst>
              <a:gd name="adj" fmla="val 2791"/>
            </a:avLst>
          </a:prstGeom>
          <a:solidFill>
            <a:srgbClr val="FFFFFF"/>
          </a:solidFill>
          <a:ln w="12700">
            <a:solidFill>
              <a:srgbClr val="E2E8ED"/>
            </a:solidFill>
            <a:prstDash val="solid"/>
          </a:ln>
          <a:effectLst>
            <a:outerShdw sx="100000" sy="100000" kx="0" ky="0" algn="bl" rotWithShape="0" blurRad="101600" dist="38100" dir="5400000">
              <a:srgbClr val="16242E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1020928" y="2103120"/>
            <a:ext cx="822960" cy="822960"/>
          </a:xfrm>
          <a:prstGeom prst="ellipse">
            <a:avLst/>
          </a:prstGeom>
          <a:solidFill>
            <a:srgbClr val="0B1B29"/>
          </a:solidFill>
          <a:ln/>
        </p:spPr>
        <p:txBody>
          <a:bodyPr/>
          <a:p/>
        </p:txBody>
      </p:sp>
      <p:pic>
        <p:nvPicPr>
          <p:cNvPr id="7" name="Image 0" descr="/tmp/claude-0/-home-user-SMX-0226-Seguretat-Informatica/cec25c9b-7e93-584a-a64a-196540977a59/scratchpad/build/icons/calendar_F2A54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31240" y="2313432"/>
            <a:ext cx="402336" cy="402336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020928" y="310896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624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 què rotem les còpies?</a:t>
            </a:r>
            <a:endParaRPr lang="en-US" sz="1900" dirty="0"/>
          </a:p>
        </p:txBody>
      </p:sp>
      <p:sp>
        <p:nvSpPr>
          <p:cNvPr id="9" name="Text 6"/>
          <p:cNvSpPr txBox="1"/>
          <p:nvPr/>
        </p:nvSpPr>
        <p:spPr>
          <a:xfrm>
            <a:off x="1020928" y="3611880"/>
            <a:ext cx="44805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còpies antigues no se substitueixen immediatament: es van rotant, per poder recuperar versions antigues si cal (per exemple, un fitxer modificat indegudament fa dos mesos).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6324448" y="1737360"/>
            <a:ext cx="5212080" cy="3931920"/>
          </a:xfrm>
          <a:prstGeom prst="roundRect">
            <a:avLst>
              <a:gd name="adj" fmla="val 2791"/>
            </a:avLst>
          </a:prstGeom>
          <a:solidFill>
            <a:srgbClr val="FFFFFF"/>
          </a:solidFill>
          <a:ln w="12700">
            <a:solidFill>
              <a:srgbClr val="E2E8ED"/>
            </a:solidFill>
            <a:prstDash val="solid"/>
          </a:ln>
          <a:effectLst>
            <a:outerShdw sx="100000" sy="100000" kx="0" ky="0" algn="bl" rotWithShape="0" blurRad="101600" dist="38100" dir="5400000">
              <a:srgbClr val="16242E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1" name="Shape 8"/>
          <p:cNvSpPr/>
          <p:nvPr/>
        </p:nvSpPr>
        <p:spPr>
          <a:xfrm>
            <a:off x="6690208" y="2103120"/>
            <a:ext cx="822960" cy="822960"/>
          </a:xfrm>
          <a:prstGeom prst="ellipse">
            <a:avLst/>
          </a:prstGeom>
          <a:solidFill>
            <a:srgbClr val="0B1B29"/>
          </a:solidFill>
          <a:ln/>
        </p:spPr>
        <p:txBody>
          <a:bodyPr/>
          <a:p/>
        </p:txBody>
      </p:sp>
      <p:pic>
        <p:nvPicPr>
          <p:cNvPr id="12" name="Image 1" descr="/tmp/claude-0/-home-user-SMX-0226-Seguretat-Informatica/cec25c9b-7e93-584a-a64a-196540977a59/scratchpad/build/icons/recycle_F2A54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00520" y="2313432"/>
            <a:ext cx="402336" cy="402336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6690208" y="310896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624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Avantatge afegit</a:t>
            </a:r>
            <a:endParaRPr lang="en-US" sz="1900" dirty="0"/>
          </a:p>
        </p:txBody>
      </p:sp>
      <p:sp>
        <p:nvSpPr>
          <p:cNvPr id="14" name="Text 10"/>
          <p:cNvSpPr txBox="1"/>
          <p:nvPr/>
        </p:nvSpPr>
        <p:spPr>
          <a:xfrm>
            <a:off x="6690208" y="3611880"/>
            <a:ext cx="44805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rotació dels suports (cintes, discos) també reparteix el desgast de manera més uniforme, en lloc d'usar sempre el mateix suport.</a:t>
            </a:r>
            <a:endParaRPr lang="en-US" sz="13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ESQUEMA DE ROTACIÓ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2296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24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Grandfather-father-son (GFS)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1155161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737360"/>
            <a:ext cx="1078992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000"/>
              </a:lnSpc>
              <a:spcAft>
                <a:spcPts val="1000"/>
              </a:spcAft>
              <a:buSzPct val="100000"/>
              <a:buChar char="▪"/>
            </a:pPr>
            <a:r>
              <a:rPr lang="en-US" sz="1550" dirty="0">
                <a:solidFill>
                  <a:srgbClr val="16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 (son): còpia incremental/diferencial diària. Una cinta per cada dia de la setmana, que es reutilitza cada setmana.</a:t>
            </a:r>
            <a:endParaRPr lang="en-US" sz="1550" dirty="0"/>
          </a:p>
          <a:p>
            <a:pPr marL="342900" indent="-342900">
              <a:lnSpc>
                <a:spcPts val="2000"/>
              </a:lnSpc>
              <a:spcAft>
                <a:spcPts val="1000"/>
              </a:spcAft>
              <a:buSzPct val="100000"/>
              <a:buChar char="▪"/>
            </a:pPr>
            <a:r>
              <a:rPr lang="en-US" sz="1550" dirty="0">
                <a:solidFill>
                  <a:srgbClr val="16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 (father): còpia completa setmanal (p. ex. cada diumenge). Una cinta per cada setmana del mes (S1...S5).</a:t>
            </a:r>
            <a:endParaRPr lang="en-US" sz="1550" dirty="0"/>
          </a:p>
          <a:p>
            <a:pPr marL="342900" indent="-342900">
              <a:lnSpc>
                <a:spcPts val="2000"/>
              </a:lnSpc>
              <a:spcAft>
                <a:spcPts val="1000"/>
              </a:spcAft>
              <a:buSzPct val="100000"/>
              <a:buChar char="▪"/>
            </a:pPr>
            <a:r>
              <a:rPr lang="en-US" sz="1550" dirty="0">
                <a:solidFill>
                  <a:srgbClr val="16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AVI (grandfather): l'última còpia completa del mes s'extreu de la rotació setmanal i es guarda com a còpia mensual.</a:t>
            </a:r>
            <a:endParaRPr lang="en-US" sz="1550" dirty="0"/>
          </a:p>
          <a:p>
            <a:pPr marL="342900" indent="-342900">
              <a:lnSpc>
                <a:spcPts val="2000"/>
              </a:lnSpc>
              <a:spcAft>
                <a:spcPts val="1000"/>
              </a:spcAft>
              <a:buSzPct val="100000"/>
              <a:buChar char="▪"/>
            </a:pPr>
            <a:r>
              <a:rPr lang="en-US" sz="1550" dirty="0">
                <a:solidFill>
                  <a:srgbClr val="16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L'última còpia mensual de l'any passa a arxiu (archiving) a llarg termini, sovint fora de l'organització.</a:t>
            </a:r>
            <a:endParaRPr lang="en-US" sz="15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2A541"/>
                </a:solidFill>
                <a:latin typeface="Calibri"/>
              </a:rPr>
              <a:t>ESQUEMA DE ROTACIÓ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858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6242E"/>
                </a:solidFill>
                <a:latin typeface="Cambria"/>
              </a:rPr>
              <a:t>Grandfather-father-son (GFS)</a:t>
            </a:r>
          </a:p>
        </p:txBody>
      </p:sp>
      <p:pic>
        <p:nvPicPr>
          <p:cNvPr id="4" name="Picture 3" descr="gf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15833" y="1920240"/>
            <a:ext cx="6760028" cy="42062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6263640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5B6B77"/>
                </a:solidFill>
                <a:latin typeface="Calibri"/>
              </a:rPr>
              <a:t>L'esquema GFS organitza les còpies en tres nivells: avi (mensual), pare (setmanal) i fill (diari).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B6B77"/>
                </a:solidFill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ESQUEMA DE ROTACIÓ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2296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24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Torres de Hanoi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1155161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737360"/>
            <a:ext cx="107899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000"/>
              </a:lnSpc>
              <a:spcAft>
                <a:spcPts val="1000"/>
              </a:spcAft>
              <a:buSzPct val="100000"/>
              <a:buChar char="▪"/>
            </a:pPr>
            <a:r>
              <a:rPr lang="en-US" sz="1550" dirty="0">
                <a:solidFill>
                  <a:srgbClr val="16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Objectiu: la màxima cobertura temporal amb el mínim de suports. Cada conjunt de suports (A, B, C, D...) s'utilitza amb una freqüència que es duplica a cada lletra.</a:t>
            </a:r>
            <a:endParaRPr lang="en-US" sz="155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71600" y="3657600"/>
          <a:ext cx="941832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3520440"/>
                <a:gridCol w="3520440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Suport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2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Freqüència d'ús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2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Tipus de còpia habitual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2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624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624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Dies alterns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624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Incremental/diferencial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624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624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Cada 4 dies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624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Incremental/diferencial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624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624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Cada 8 dies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624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Completa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624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624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Cada 16 dies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624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Completa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1371600" y="5623560"/>
            <a:ext cx="9418320" cy="640080"/>
          </a:xfrm>
          <a:prstGeom prst="roundRect">
            <a:avLst>
              <a:gd name="adj" fmla="val 14286"/>
            </a:avLst>
          </a:prstGeom>
          <a:solidFill>
            <a:srgbClr val="13293D"/>
          </a:solidFill>
          <a:ln/>
        </p:spPr>
        <p:txBody>
          <a:bodyPr/>
          <a:p/>
        </p:txBody>
      </p:sp>
      <p:pic>
        <p:nvPicPr>
          <p:cNvPr id="8" name="Image 0" descr="/tmp/claude-0/-home-user-SMX-0226-Seguretat-Informatica/cec25c9b-7e93-584a-a64a-196540977a59/scratchpad/build/icons/warning_F2A54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45920" y="5715000"/>
            <a:ext cx="457200" cy="45720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2286000" y="57607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Esquema complex: recomanable només amb sistemes automatitzats per evitar errors humans en triar el suport.</a:t>
            </a:r>
            <a:endParaRPr lang="en-US" sz="13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2A541"/>
                </a:solidFill>
                <a:latin typeface="Calibri"/>
              </a:rPr>
              <a:t>ESQUEMA DE ROTACIÓ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858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6242E"/>
                </a:solidFill>
                <a:latin typeface="Cambria"/>
              </a:rPr>
              <a:t>Torres de Hanoi</a:t>
            </a:r>
          </a:p>
        </p:txBody>
      </p:sp>
      <p:pic>
        <p:nvPicPr>
          <p:cNvPr id="4" name="Picture 3" descr="hano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24047" y="1920240"/>
            <a:ext cx="5943600" cy="235267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4410075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5B6B77"/>
                </a:solidFill>
                <a:latin typeface="Calibri"/>
              </a:rPr>
              <a:t>El període d'ús de cada suport es duplica a cada lletra (A, B, C, D...).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B6B77"/>
                </a:solidFill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4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N'HI HA PROU AMB COPIAR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2296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24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Comprovar les còpies de seguretat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1155161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40080" y="1828800"/>
            <a:ext cx="10789920" cy="1188720"/>
          </a:xfrm>
          <a:prstGeom prst="roundRect">
            <a:avLst>
              <a:gd name="adj" fmla="val 7692"/>
            </a:avLst>
          </a:prstGeom>
          <a:solidFill>
            <a:srgbClr val="0B1B29"/>
          </a:solidFill>
          <a:ln/>
        </p:spPr>
        <p:txBody>
          <a:bodyPr/>
          <a:p/>
        </p:txBody>
      </p:sp>
      <p:pic>
        <p:nvPicPr>
          <p:cNvPr id="6" name="Image 0" descr="/tmp/claude-0/-home-user-SMX-0226-Seguretat-Informatica/cec25c9b-7e93-584a-a64a-196540977a59/scratchpad/build/icons/warning_F2A54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2194560"/>
            <a:ext cx="457200" cy="45720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554480" y="1965960"/>
            <a:ext cx="9601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L'any 1998, </a:t>
            </a:r>
            <a:r>
              <a:rPr lang="en-US" sz="13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/>
              </a:rPr>
              <a:t>Pixar va arribar a perdre 90 minuts de la pel·lícula Toy Story 2</a:t>
            </a:r>
            <a:r>
              <a:rPr lang="en-US" sz="13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per un error al sistema de còpies. Només es va poder recuperar perquè, per sort, una treballadora en tenia una còpia personal al seu propi equip.</a:t>
            </a:r>
            <a:endParaRPr lang="en-US" sz="1350" dirty="0"/>
          </a:p>
        </p:txBody>
      </p:sp>
      <p:sp>
        <p:nvSpPr>
          <p:cNvPr id="8" name="Text 5"/>
          <p:cNvSpPr txBox="1"/>
          <p:nvPr/>
        </p:nvSpPr>
        <p:spPr>
          <a:xfrm>
            <a:off x="640080" y="3383280"/>
            <a:ext cx="107899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000"/>
              </a:lnSpc>
              <a:spcAft>
                <a:spcPts val="1000"/>
              </a:spcAft>
              <a:buSzPct val="100000"/>
              <a:buChar char="▪"/>
            </a:pPr>
            <a:r>
              <a:rPr lang="en-US" sz="1550" dirty="0">
                <a:solidFill>
                  <a:srgbClr val="16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 fer proves de restauració periòdiques: una còpia mai provada NO és fiable.</a:t>
            </a:r>
            <a:endParaRPr lang="en-US" sz="1550" dirty="0"/>
          </a:p>
          <a:p>
            <a:pPr marL="342900" indent="-342900">
              <a:lnSpc>
                <a:spcPts val="2000"/>
              </a:lnSpc>
              <a:spcAft>
                <a:spcPts val="1000"/>
              </a:spcAft>
              <a:buSzPct val="100000"/>
              <a:buChar char="▪"/>
            </a:pPr>
            <a:r>
              <a:rPr lang="en-US" sz="1550" dirty="0">
                <a:solidFill>
                  <a:srgbClr val="16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Aquestes proves també entrenen el personal per restaurar sota pressió real, quan el temps és crític.</a:t>
            </a:r>
            <a:endParaRPr lang="en-US" sz="1550" dirty="0"/>
          </a:p>
          <a:p>
            <a:pPr marL="342900" indent="-342900">
              <a:lnSpc>
                <a:spcPts val="2000"/>
              </a:lnSpc>
              <a:spcAft>
                <a:spcPts val="1000"/>
              </a:spcAft>
              <a:buSzPct val="100000"/>
              <a:buChar char="▪"/>
            </a:pPr>
            <a:r>
              <a:rPr lang="en-US" sz="1550" dirty="0">
                <a:solidFill>
                  <a:srgbClr val="16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Consell professional: en restaurar una base de dades, no sobreescriguis les dades existents — així pots comparar totes dues versions.</a:t>
            </a:r>
            <a:endParaRPr lang="en-US" sz="15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4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 POSEM TOT PER ESCRIT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2296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24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política de còpies de seguretat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1155161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737360"/>
            <a:ext cx="1078992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000"/>
              </a:lnSpc>
              <a:spcAft>
                <a:spcPts val="1000"/>
              </a:spcAft>
              <a:buSzPct val="100000"/>
              <a:buChar char="▪"/>
            </a:pPr>
            <a:r>
              <a:rPr lang="en-US" sz="1500" dirty="0">
                <a:solidFill>
                  <a:srgbClr val="16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Defineix, a més de què/on/com/quan: qui n'és responsable, el temps de retenció, el procediment de restauració, com es protegeixen físicament les còpies, i el calendari de renovació i destrucció segura dels suports.</a:t>
            </a:r>
            <a:endParaRPr lang="en-US" sz="1500" dirty="0"/>
          </a:p>
          <a:p>
            <a:pPr marL="342900" indent="-342900">
              <a:lnSpc>
                <a:spcPts val="2000"/>
              </a:lnSpc>
              <a:spcAft>
                <a:spcPts val="1000"/>
              </a:spcAft>
              <a:buSzPct val="100000"/>
              <a:buChar char="▪"/>
            </a:pPr>
            <a:r>
              <a:rPr lang="en-US" sz="1500" dirty="0">
                <a:solidFill>
                  <a:srgbClr val="16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 de ser coneguda per tot el personal implicat i revisar-se periòdicament.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40080" y="5212080"/>
            <a:ext cx="10789920" cy="777240"/>
          </a:xfrm>
          <a:prstGeom prst="roundRect">
            <a:avLst>
              <a:gd name="adj" fmla="val 11765"/>
            </a:avLst>
          </a:prstGeom>
          <a:solidFill>
            <a:srgbClr val="13293D"/>
          </a:solidFill>
          <a:ln/>
        </p:spPr>
        <p:txBody>
          <a:bodyPr/>
          <a:p/>
        </p:txBody>
      </p:sp>
      <p:pic>
        <p:nvPicPr>
          <p:cNvPr id="7" name="Image 0" descr="/tmp/claude-0/-home-user-SMX-0226-Seguretat-Informatica/cec25c9b-7e93-584a-a64a-196540977a59/scratchpad/build/icons/lock_F2A54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5372100"/>
            <a:ext cx="457200" cy="45720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554480" y="5349240"/>
            <a:ext cx="9601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Protecció de les còpies: xifratge de les dades (si algú les roba, no les pot llegir) + protecció física (armaris ignífugs, o serveis especialitzats com </a:t>
            </a:r>
            <a:r>
              <a:rPr lang="en-US" sz="13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/>
              </a:rPr>
              <a:t>Iron Mountain</a:t>
            </a:r>
            <a:r>
              <a:rPr lang="en-US" sz="13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per a l'arxiu a llarg termini).</a:t>
            </a:r>
            <a:endParaRPr lang="en-US" sz="13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4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PROGRAMARI DE CÒPIA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2296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24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Eines reals, a Windows i a Linux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1155161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55168" y="1737360"/>
            <a:ext cx="5212080" cy="3931920"/>
          </a:xfrm>
          <a:prstGeom prst="roundRect">
            <a:avLst>
              <a:gd name="adj" fmla="val 2791"/>
            </a:avLst>
          </a:prstGeom>
          <a:solidFill>
            <a:srgbClr val="FFFFFF"/>
          </a:solidFill>
          <a:ln w="12700">
            <a:solidFill>
              <a:srgbClr val="E2E8ED"/>
            </a:solidFill>
            <a:prstDash val="solid"/>
          </a:ln>
          <a:effectLst>
            <a:outerShdw sx="100000" sy="100000" kx="0" ky="0" algn="bl" rotWithShape="0" blurRad="101600" dist="38100" dir="5400000">
              <a:srgbClr val="16242E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1020928" y="2103120"/>
            <a:ext cx="822960" cy="822960"/>
          </a:xfrm>
          <a:prstGeom prst="ellipse">
            <a:avLst/>
          </a:prstGeom>
          <a:solidFill>
            <a:srgbClr val="0B1B29"/>
          </a:solidFill>
          <a:ln/>
        </p:spPr>
        <p:txBody>
          <a:bodyPr/>
          <a:p/>
        </p:txBody>
      </p:sp>
      <p:pic>
        <p:nvPicPr>
          <p:cNvPr id="7" name="Image 0" descr="/tmp/claude-0/-home-user-SMX-0226-Seguretat-Informatica/cec25c9b-7e93-584a-a64a-196540977a59/scratchpad/build/icons/desktop_F2A54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31240" y="2313432"/>
            <a:ext cx="402336" cy="402336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020928" y="310896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624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Windows</a:t>
            </a:r>
            <a:endParaRPr lang="en-US" sz="1900" dirty="0"/>
          </a:p>
        </p:txBody>
      </p:sp>
      <p:sp>
        <p:nvSpPr>
          <p:cNvPr id="9" name="Text 6"/>
          <p:cNvSpPr txBox="1"/>
          <p:nvPr/>
        </p:nvSpPr>
        <p:spPr>
          <a:xfrm>
            <a:off x="1020928" y="3611880"/>
            <a:ext cx="44805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Còpia de seguretat de Windows (nativa, crea fitxers VHD però amb esquemes limitats); Cobian (gratuït, per a equips individuals); Acronis Backup (solució professional per a xarxa i servidors).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6324448" y="1737360"/>
            <a:ext cx="5212080" cy="3931920"/>
          </a:xfrm>
          <a:prstGeom prst="roundRect">
            <a:avLst>
              <a:gd name="adj" fmla="val 2791"/>
            </a:avLst>
          </a:prstGeom>
          <a:solidFill>
            <a:srgbClr val="FFFFFF"/>
          </a:solidFill>
          <a:ln w="12700">
            <a:solidFill>
              <a:srgbClr val="E2E8ED"/>
            </a:solidFill>
            <a:prstDash val="solid"/>
          </a:ln>
          <a:effectLst>
            <a:outerShdw sx="100000" sy="100000" kx="0" ky="0" algn="bl" rotWithShape="0" blurRad="101600" dist="38100" dir="5400000">
              <a:srgbClr val="16242E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1" name="Shape 8"/>
          <p:cNvSpPr/>
          <p:nvPr/>
        </p:nvSpPr>
        <p:spPr>
          <a:xfrm>
            <a:off x="6690208" y="2103120"/>
            <a:ext cx="822960" cy="822960"/>
          </a:xfrm>
          <a:prstGeom prst="ellipse">
            <a:avLst/>
          </a:prstGeom>
          <a:solidFill>
            <a:srgbClr val="0B1B29"/>
          </a:solidFill>
          <a:ln/>
        </p:spPr>
        <p:txBody>
          <a:bodyPr/>
          <a:p/>
        </p:txBody>
      </p:sp>
      <p:pic>
        <p:nvPicPr>
          <p:cNvPr id="12" name="Image 1" descr="/tmp/claude-0/-home-user-SMX-0226-Seguretat-Informatica/cec25c9b-7e93-584a-a64a-196540977a59/scratchpad/build/icons/terminal_F2A54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00520" y="2313432"/>
            <a:ext cx="402336" cy="402336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6690208" y="310896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624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Linux</a:t>
            </a:r>
            <a:endParaRPr lang="en-US" sz="1900" dirty="0"/>
          </a:p>
        </p:txBody>
      </p:sp>
      <p:sp>
        <p:nvSpPr>
          <p:cNvPr id="14" name="Text 10"/>
          <p:cNvSpPr txBox="1"/>
          <p:nvPr/>
        </p:nvSpPr>
        <p:spPr>
          <a:xfrm>
            <a:off x="6690208" y="3611880"/>
            <a:ext cx="44805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 (empaquetat flexible, combinable amb cron); rsync (còpia remota per línia de comandes, eficient); Duplicity (backup local i remot); Areca Backup (interfície gràfica); Acronis (versió de pagament).</a:t>
            </a:r>
            <a:endParaRPr lang="en-US" sz="13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4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MÉS ENLLÀ DE LES DADES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2296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24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Imatges de restauració del sistema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1155161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737360"/>
            <a:ext cx="107899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000"/>
              </a:lnSpc>
              <a:spcAft>
                <a:spcPts val="1000"/>
              </a:spcAft>
              <a:buSzPct val="100000"/>
              <a:buChar char="▪"/>
            </a:pPr>
            <a:r>
              <a:rPr lang="en-US" sz="1550" dirty="0">
                <a:solidFill>
                  <a:srgbClr val="16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imatge conté l'estructura i el contingut complets d'un disc o partició: sistema operatiu, aplicacions i configuracions.</a:t>
            </a:r>
            <a:endParaRPr lang="en-US" sz="1550" dirty="0"/>
          </a:p>
          <a:p>
            <a:pPr marL="342900" indent="-342900">
              <a:lnSpc>
                <a:spcPts val="2000"/>
              </a:lnSpc>
              <a:spcAft>
                <a:spcPts val="1000"/>
              </a:spcAft>
              <a:buSzPct val="100000"/>
              <a:buChar char="▪"/>
            </a:pPr>
            <a:r>
              <a:rPr lang="en-US" sz="1550" dirty="0">
                <a:solidFill>
                  <a:srgbClr val="16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Instal·lar un SO, els controladors i totes les aplicacions pot trigar hores; restaurar-ho des d'una imatge es redueix a pocs minuts.</a:t>
            </a:r>
            <a:endParaRPr lang="en-US" sz="1550" dirty="0"/>
          </a:p>
        </p:txBody>
      </p:sp>
      <p:sp>
        <p:nvSpPr>
          <p:cNvPr id="6" name="Shape 4"/>
          <p:cNvSpPr/>
          <p:nvPr/>
        </p:nvSpPr>
        <p:spPr>
          <a:xfrm>
            <a:off x="640080" y="4206240"/>
            <a:ext cx="10789920" cy="822960"/>
          </a:xfrm>
          <a:prstGeom prst="roundRect">
            <a:avLst>
              <a:gd name="adj" fmla="val 11111"/>
            </a:avLst>
          </a:prstGeom>
          <a:solidFill>
            <a:srgbClr val="13293D"/>
          </a:solidFill>
          <a:ln/>
        </p:spPr>
        <p:txBody>
          <a:bodyPr/>
          <a:p/>
        </p:txBody>
      </p:sp>
      <p:pic>
        <p:nvPicPr>
          <p:cNvPr id="7" name="Image 0" descr="/tmp/claude-0/-home-user-SMX-0226-Seguretat-Informatica/cec25c9b-7e93-584a-a64a-196540977a59/scratchpad/build/icons/bulb_F2A54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4389120"/>
            <a:ext cx="457200" cy="45720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554480" y="434340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diferència del backup, les imatges no cal fer-les tan sovint: el sistema només canvia quan s'actualitza.</a:t>
            </a:r>
            <a:endParaRPr lang="en-US" sz="13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4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TRES CASOS D'ÚS DIFERENTS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2296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24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Clonació, imatge de disc o imatge forense?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1155161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32308" y="1737360"/>
            <a:ext cx="3429000" cy="384048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E2E8ED"/>
            </a:solidFill>
            <a:prstDash val="solid"/>
          </a:ln>
          <a:effectLst>
            <a:outerShdw sx="100000" sy="100000" kx="0" ky="0" algn="bl" rotWithShape="0" blurRad="101600" dist="38100" dir="5400000">
              <a:srgbClr val="16242E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952348" y="2057400"/>
            <a:ext cx="731520" cy="731520"/>
          </a:xfrm>
          <a:prstGeom prst="ellipse">
            <a:avLst/>
          </a:prstGeom>
          <a:solidFill>
            <a:srgbClr val="0B1B29"/>
          </a:solidFill>
          <a:ln/>
        </p:spPr>
        <p:txBody>
          <a:bodyPr/>
          <a:p/>
        </p:txBody>
      </p:sp>
      <p:pic>
        <p:nvPicPr>
          <p:cNvPr id="7" name="Image 0" descr="/tmp/claude-0/-home-user-SMX-0226-Seguretat-Informatica/cec25c9b-7e93-584a-a64a-196540977a59/scratchpad/build/icons/clone_F2A54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5228" y="2240280"/>
            <a:ext cx="365760" cy="36576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906628" y="2971800"/>
            <a:ext cx="2880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24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Clonació de discos</a:t>
            </a:r>
            <a:endParaRPr lang="en-US" sz="1700" dirty="0"/>
          </a:p>
        </p:txBody>
      </p:sp>
      <p:sp>
        <p:nvSpPr>
          <p:cNvPr id="9" name="Text 6"/>
          <p:cNvSpPr txBox="1"/>
          <p:nvPr/>
        </p:nvSpPr>
        <p:spPr>
          <a:xfrm>
            <a:off x="906628" y="3611880"/>
            <a:ext cx="28803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Replica el contingut d'un disc a un altre equip. Només copia els blocs "en ús" (no l'espai esborrat), per això pot ocupar menys que la capacitat total.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4381348" y="1737360"/>
            <a:ext cx="3429000" cy="384048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E2E8ED"/>
            </a:solidFill>
            <a:prstDash val="solid"/>
          </a:ln>
          <a:effectLst>
            <a:outerShdw sx="100000" sy="100000" kx="0" ky="0" algn="bl" rotWithShape="0" blurRad="101600" dist="38100" dir="5400000">
              <a:srgbClr val="16242E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1" name="Shape 8"/>
          <p:cNvSpPr/>
          <p:nvPr/>
        </p:nvSpPr>
        <p:spPr>
          <a:xfrm>
            <a:off x="4701388" y="2057400"/>
            <a:ext cx="731520" cy="731520"/>
          </a:xfrm>
          <a:prstGeom prst="ellipse">
            <a:avLst/>
          </a:prstGeom>
          <a:solidFill>
            <a:srgbClr val="0B1B29"/>
          </a:solidFill>
          <a:ln/>
        </p:spPr>
        <p:txBody>
          <a:bodyPr/>
          <a:p/>
        </p:txBody>
      </p:sp>
      <p:pic>
        <p:nvPicPr>
          <p:cNvPr id="12" name="Image 1" descr="/tmp/claude-0/-home-user-SMX-0226-Seguretat-Informatica/cec25c9b-7e93-584a-a64a-196540977a59/scratchpad/build/icons/hdd_F2A54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84268" y="2240280"/>
            <a:ext cx="365760" cy="36576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4655668" y="2971800"/>
            <a:ext cx="2880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24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Imatge de disc</a:t>
            </a:r>
            <a:endParaRPr lang="en-US" sz="1700" dirty="0"/>
          </a:p>
        </p:txBody>
      </p:sp>
      <p:sp>
        <p:nvSpPr>
          <p:cNvPr id="14" name="Text 10"/>
          <p:cNvSpPr txBox="1"/>
          <p:nvPr/>
        </p:nvSpPr>
        <p:spPr>
          <a:xfrm>
            <a:off x="4655668" y="3611880"/>
            <a:ext cx="28803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Similar a la clonació, però el destí és un fitxer de "respaldament" (no un altre disc final). Es pot comprimir per estalviar espai.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8130388" y="1737360"/>
            <a:ext cx="3429000" cy="384048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E2E8ED"/>
            </a:solidFill>
            <a:prstDash val="solid"/>
          </a:ln>
          <a:effectLst>
            <a:outerShdw sx="100000" sy="100000" kx="0" ky="0" algn="bl" rotWithShape="0" blurRad="101600" dist="38100" dir="5400000">
              <a:srgbClr val="16242E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6" name="Shape 12"/>
          <p:cNvSpPr/>
          <p:nvPr/>
        </p:nvSpPr>
        <p:spPr>
          <a:xfrm>
            <a:off x="8450428" y="2057400"/>
            <a:ext cx="731520" cy="731520"/>
          </a:xfrm>
          <a:prstGeom prst="ellipse">
            <a:avLst/>
          </a:prstGeom>
          <a:solidFill>
            <a:srgbClr val="0B1B29"/>
          </a:solidFill>
          <a:ln/>
        </p:spPr>
        <p:txBody>
          <a:bodyPr/>
          <a:p/>
        </p:txBody>
      </p:sp>
      <p:pic>
        <p:nvPicPr>
          <p:cNvPr id="17" name="Image 2" descr="/tmp/claude-0/-home-user-SMX-0226-Seguretat-Informatica/cec25c9b-7e93-584a-a64a-196540977a59/scratchpad/build/icons/key_F2A541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33308" y="2240280"/>
            <a:ext cx="365760" cy="365760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8404708" y="2971800"/>
            <a:ext cx="2880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24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Imatge forense</a:t>
            </a:r>
            <a:endParaRPr lang="en-US" sz="1700" dirty="0"/>
          </a:p>
        </p:txBody>
      </p:sp>
      <p:sp>
        <p:nvSpPr>
          <p:cNvPr id="19" name="Text 14"/>
          <p:cNvSpPr txBox="1"/>
          <p:nvPr/>
        </p:nvSpPr>
        <p:spPr>
          <a:xfrm>
            <a:off x="8404708" y="3611880"/>
            <a:ext cx="28803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Còpia TOT el contingut, bloc a bloc, inclòs l'espai no usat, i se'n calcula el hash per verificar-ne la integritat. S'usa en investigacions i peritatges.</a:t>
            </a:r>
            <a:endParaRPr lang="en-US" sz="12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2A541"/>
                </a:solidFill>
                <a:latin typeface="Calibri"/>
              </a:rPr>
              <a:t>TRES CASOS D'ÚS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858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6242E"/>
                </a:solidFill>
                <a:latin typeface="Cambria"/>
              </a:rPr>
              <a:t>Clonació, imatge de disc o imatge forense?</a:t>
            </a:r>
          </a:p>
        </p:txBody>
      </p:sp>
      <p:pic>
        <p:nvPicPr>
          <p:cNvPr id="4" name="Picture 3" descr="clonadora_foren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52647" y="1920240"/>
            <a:ext cx="5486400" cy="3764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5821680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5B6B77"/>
                </a:solidFill>
                <a:latin typeface="Calibri"/>
              </a:rPr>
              <a:t>Una clonadora forense fa una còpia bloc a bloc d'un disc, preservant-ne la integritat per a investigacions.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B6B77"/>
                </a:solidFill>
              </a:rPr>
              <a:t>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4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EINES PER CREAR IMATGES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2296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24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Windows, Linux, i eines forenses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1155161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11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691640"/>
          <a:ext cx="1124712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8503920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Windows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2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Eina nativa d'imatge del sistema; Acronis True Image; Clonezilla; FOG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2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624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Linux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624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Clonezilla; comanda dd (còpia bit a bit); PartImage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624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Forense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624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FTK Imager; Guymager (calculen i verifiquen el hash de la imatge)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457200" y="4023360"/>
            <a:ext cx="11247120" cy="822960"/>
          </a:xfrm>
          <a:prstGeom prst="roundRect">
            <a:avLst>
              <a:gd name="adj" fmla="val 11111"/>
            </a:avLst>
          </a:prstGeom>
          <a:solidFill>
            <a:srgbClr val="13293D"/>
          </a:solidFill>
          <a:ln/>
        </p:spPr>
        <p:txBody>
          <a:bodyPr/>
          <a:p/>
        </p:txBody>
      </p:sp>
      <p:pic>
        <p:nvPicPr>
          <p:cNvPr id="7" name="Image 0" descr="/tmp/claude-0/-home-user-SMX-0226-Seguretat-Informatica/cec25c9b-7e93-584a-a64a-196540977a59/scratchpad/build/icons/bulb_F2A54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4206240"/>
            <a:ext cx="457200" cy="45720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371600" y="416052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Clonezilla és programari lliure que s'arrenca des d'un USB/CD, sense necessitat de tenir cap sistema operatiu instal·lat prèviament: ideal per a desplegaments massius a l'aula d'informàtica.</a:t>
            </a:r>
            <a:endParaRPr lang="en-US" sz="13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4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ACABAR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2296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24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Idees clau d'avui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1155161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32308" y="1737360"/>
            <a:ext cx="3429000" cy="384048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E2E8ED"/>
            </a:solidFill>
            <a:prstDash val="solid"/>
          </a:ln>
          <a:effectLst>
            <a:outerShdw sx="100000" sy="100000" kx="0" ky="0" algn="bl" rotWithShape="0" blurRad="101600" dist="38100" dir="5400000">
              <a:srgbClr val="16242E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952348" y="2057400"/>
            <a:ext cx="731520" cy="731520"/>
          </a:xfrm>
          <a:prstGeom prst="ellipse">
            <a:avLst/>
          </a:prstGeom>
          <a:solidFill>
            <a:srgbClr val="0B1B29"/>
          </a:solidFill>
          <a:ln/>
        </p:spPr>
        <p:txBody>
          <a:bodyPr/>
          <a:p/>
        </p:txBody>
      </p:sp>
      <p:pic>
        <p:nvPicPr>
          <p:cNvPr id="7" name="Image 0" descr="/tmp/claude-0/-home-user-SMX-0226-Seguretat-Informatica/cec25c9b-7e93-584a-a64a-196540977a59/scratchpad/build/icons/archive_F2A54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5228" y="2240280"/>
            <a:ext cx="365760" cy="36576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906628" y="2971800"/>
            <a:ext cx="2880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24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Backup ≠ archiving ≠ imatge</a:t>
            </a:r>
            <a:endParaRPr lang="en-US" sz="1700" dirty="0"/>
          </a:p>
        </p:txBody>
      </p:sp>
      <p:sp>
        <p:nvSpPr>
          <p:cNvPr id="9" name="Text 6"/>
          <p:cNvSpPr txBox="1"/>
          <p:nvPr/>
        </p:nvSpPr>
        <p:spPr>
          <a:xfrm>
            <a:off x="906628" y="3611880"/>
            <a:ext cx="28803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Tres eines diferents per a tres objectius diferents de protecció de la informació.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4381348" y="1737360"/>
            <a:ext cx="3429000" cy="384048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E2E8ED"/>
            </a:solidFill>
            <a:prstDash val="solid"/>
          </a:ln>
          <a:effectLst>
            <a:outerShdw sx="100000" sy="100000" kx="0" ky="0" algn="bl" rotWithShape="0" blurRad="101600" dist="38100" dir="5400000">
              <a:srgbClr val="16242E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1" name="Shape 8"/>
          <p:cNvSpPr/>
          <p:nvPr/>
        </p:nvSpPr>
        <p:spPr>
          <a:xfrm>
            <a:off x="4701388" y="2057400"/>
            <a:ext cx="731520" cy="731520"/>
          </a:xfrm>
          <a:prstGeom prst="ellipse">
            <a:avLst/>
          </a:prstGeom>
          <a:solidFill>
            <a:srgbClr val="0B1B29"/>
          </a:solidFill>
          <a:ln/>
        </p:spPr>
        <p:txBody>
          <a:bodyPr/>
          <a:p/>
        </p:txBody>
      </p:sp>
      <p:pic>
        <p:nvPicPr>
          <p:cNvPr id="12" name="Image 1" descr="/tmp/claude-0/-home-user-SMX-0226-Seguretat-Informatica/cec25c9b-7e93-584a-a64a-196540977a59/scratchpad/build/icons/history_F2A54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84268" y="2240280"/>
            <a:ext cx="365760" cy="36576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4655668" y="2971800"/>
            <a:ext cx="2880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24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3-2-1 i rotació</a:t>
            </a:r>
            <a:endParaRPr lang="en-US" sz="1700" dirty="0"/>
          </a:p>
        </p:txBody>
      </p:sp>
      <p:sp>
        <p:nvSpPr>
          <p:cNvPr id="14" name="Text 10"/>
          <p:cNvSpPr txBox="1"/>
          <p:nvPr/>
        </p:nvSpPr>
        <p:spPr>
          <a:xfrm>
            <a:off x="4655668" y="3611880"/>
            <a:ext cx="28803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còpies, 2 suports, 1 offsite; organitzades amb GFS o Torres de Hanoi.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8130388" y="1737360"/>
            <a:ext cx="3429000" cy="384048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E2E8ED"/>
            </a:solidFill>
            <a:prstDash val="solid"/>
          </a:ln>
          <a:effectLst>
            <a:outerShdw sx="100000" sy="100000" kx="0" ky="0" algn="bl" rotWithShape="0" blurRad="101600" dist="38100" dir="5400000">
              <a:srgbClr val="16242E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6" name="Shape 12"/>
          <p:cNvSpPr/>
          <p:nvPr/>
        </p:nvSpPr>
        <p:spPr>
          <a:xfrm>
            <a:off x="8450428" y="2057400"/>
            <a:ext cx="731520" cy="731520"/>
          </a:xfrm>
          <a:prstGeom prst="ellipse">
            <a:avLst/>
          </a:prstGeom>
          <a:solidFill>
            <a:srgbClr val="0B1B29"/>
          </a:solidFill>
          <a:ln/>
        </p:spPr>
        <p:txBody>
          <a:bodyPr/>
          <a:p/>
        </p:txBody>
      </p:sp>
      <p:pic>
        <p:nvPicPr>
          <p:cNvPr id="17" name="Image 2" descr="/tmp/claude-0/-home-user-SMX-0226-Seguretat-Informatica/cec25c9b-7e93-584a-a64a-196540977a59/scratchpad/build/icons/checkcircle_F2A541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33308" y="2240280"/>
            <a:ext cx="365760" cy="365760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8404708" y="2971800"/>
            <a:ext cx="2880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24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Comprova sempre</a:t>
            </a:r>
            <a:endParaRPr lang="en-US" sz="1700" dirty="0"/>
          </a:p>
        </p:txBody>
      </p:sp>
      <p:sp>
        <p:nvSpPr>
          <p:cNvPr id="19" name="Text 14"/>
          <p:cNvSpPr txBox="1"/>
          <p:nvPr/>
        </p:nvSpPr>
        <p:spPr>
          <a:xfrm>
            <a:off x="8404708" y="3611880"/>
            <a:ext cx="28803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còpia no verificada no és fiable: cal provar-ne la restauració periòdicament.</a:t>
            </a:r>
            <a:endParaRPr lang="en-US" sz="12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B1B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118872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ARA ÉS EL TORN VOSTRE</a:t>
            </a:r>
            <a:endParaRPr lang="en-US" sz="1400" dirty="0"/>
          </a:p>
        </p:txBody>
      </p:sp>
      <p:pic>
        <p:nvPicPr>
          <p:cNvPr id="3" name="Image 0" descr="/tmp/claude-0/-home-user-SMX-0226-Seguretat-Informatica/cec25c9b-7e93-584a-a64a-196540977a59/scratchpad/build/icons/question_F2A54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1097280"/>
            <a:ext cx="731520" cy="73152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822960" y="1737360"/>
            <a:ext cx="103327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Dissenyeu la política de còpies de seguretat per a la biblioteca del vostre institut.</a:t>
            </a:r>
            <a:endParaRPr lang="en-US" sz="2600" dirty="0"/>
          </a:p>
        </p:txBody>
      </p:sp>
      <p:sp>
        <p:nvSpPr>
          <p:cNvPr id="5" name="Text 2"/>
          <p:cNvSpPr txBox="1"/>
          <p:nvPr/>
        </p:nvSpPr>
        <p:spPr>
          <a:xfrm>
            <a:off x="822960" y="3291840"/>
            <a:ext cx="98755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500" dirty="0">
                <a:solidFill>
                  <a:srgbClr val="CA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grups de 3: decidiu l'estratègia (completa/incremental/diferencial) amb la seva freqüència, com aplicaríeu la regla 3-2-1 amb els recursos típics d'un institut, i quin esquema de rotació (GFS o Hanoi) recomanaríeu.</a:t>
            </a:r>
            <a:endParaRPr lang="en-US" sz="1500" dirty="0"/>
          </a:p>
        </p:txBody>
      </p:sp>
      <p:sp>
        <p:nvSpPr>
          <p:cNvPr id="6" name="Text 3"/>
          <p:cNvSpPr txBox="1"/>
          <p:nvPr/>
        </p:nvSpPr>
        <p:spPr>
          <a:xfrm>
            <a:off x="822960" y="60350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FA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minuts en grup + posada en comú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1155161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11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4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FONTS DEL MATERIAL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2296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24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Webgrafia</a:t>
            </a:r>
            <a:endParaRPr lang="en-US" sz="2800" dirty="0"/>
          </a:p>
        </p:txBody>
      </p:sp>
      <p:pic>
        <p:nvPicPr>
          <p:cNvPr id="4" name="Image 0" descr="/tmp/claude-0/-home-user-SMX-0226-Seguretat-Informatica/cec25c9b-7e93-584a-a64a-196540977a59/scratchpad/build/icons/globe_3E668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874520"/>
            <a:ext cx="320040" cy="3200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143000" y="182880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4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NF2-AA3: Còpies de seguretat</a:t>
            </a:r>
            <a:endParaRPr lang="en-US" sz="1500" dirty="0"/>
          </a:p>
        </p:txBody>
      </p:sp>
      <p:sp>
        <p:nvSpPr>
          <p:cNvPr id="6" name="Text 3"/>
          <p:cNvSpPr txBox="1"/>
          <p:nvPr/>
        </p:nvSpPr>
        <p:spPr>
          <a:xfrm>
            <a:off x="1143000" y="2176272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Repositori "Materials" (GitHub, SMX-0226SI) · Carlos Alonso Martínez, Escola Pia de Mataró · Llicència CC-BY-SA-4.0 — </a:t>
            </a:r>
            <a:r>
              <a:rPr lang="en-US" sz="115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7"/>
              </a:rPr>
              <a:t>github.com/SMX-0226SI/Materials/blob/main/NF2/AA3-CopiesSeguretat.md</a:t>
            </a:r>
            <a:endParaRPr lang="en-US" sz="1150" dirty="0"/>
          </a:p>
        </p:txBody>
      </p:sp>
      <p:pic>
        <p:nvPicPr>
          <p:cNvPr id="7" name="Image 1" descr="/tmp/claude-0/-home-user-SMX-0226-Seguretat-Informatica/cec25c9b-7e93-584a-a64a-196540977a59/scratchpad/build/icons/globe_3E6680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926080"/>
            <a:ext cx="320040" cy="32004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143000" y="288036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4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L'incendi del datacenter d'OVH (Estrasburg, 2021)</a:t>
            </a:r>
            <a:endParaRPr lang="en-US" sz="1500" dirty="0"/>
          </a:p>
        </p:txBody>
      </p:sp>
      <p:sp>
        <p:nvSpPr>
          <p:cNvPr id="9" name="Text 5"/>
          <p:cNvSpPr txBox="1"/>
          <p:nvPr/>
        </p:nvSpPr>
        <p:spPr>
          <a:xfrm>
            <a:off x="1143000" y="3227832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DataCenterDynamics — </a:t>
            </a:r>
            <a:r>
              <a:rPr lang="en-US" sz="115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8"/>
              </a:rPr>
              <a:t>notícia sobre la sentència i la pèrdua de dades de clients</a:t>
            </a:r>
            <a:endParaRPr lang="en-US" sz="1150" dirty="0"/>
          </a:p>
        </p:txBody>
      </p:sp>
      <p:pic>
        <p:nvPicPr>
          <p:cNvPr id="10" name="Image 2" descr="/tmp/claude-0/-home-user-SMX-0226-Seguretat-Informatica/cec25c9b-7e93-584a-a64a-196540977a59/scratchpad/build/icons/globe_3E6680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3977640"/>
            <a:ext cx="320040" cy="320040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1143000" y="393192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4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Backup Types Explained</a:t>
            </a:r>
            <a:endParaRPr lang="en-US" sz="1500" dirty="0"/>
          </a:p>
        </p:txBody>
      </p:sp>
      <p:sp>
        <p:nvSpPr>
          <p:cNvPr id="12" name="Text 7"/>
          <p:cNvSpPr txBox="1"/>
          <p:nvPr/>
        </p:nvSpPr>
        <p:spPr>
          <a:xfrm>
            <a:off x="1143000" y="4279392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NAKIVO — </a:t>
            </a:r>
            <a:r>
              <a:rPr lang="en-US" sz="115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9"/>
              </a:rPr>
              <a:t>"Full, Incremental, and Differential Backup"</a:t>
            </a:r>
            <a:r>
              <a:rPr lang="en-US" sz="115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; INCIBE — </a:t>
            </a:r>
            <a:r>
              <a:rPr lang="en-US" sz="115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0"/>
              </a:rPr>
              <a:t>"Guía de copias de seguridad"</a:t>
            </a:r>
            <a:endParaRPr lang="en-US" sz="1150" dirty="0"/>
          </a:p>
        </p:txBody>
      </p:sp>
      <p:pic>
        <p:nvPicPr>
          <p:cNvPr id="13" name="Image 3" descr="/tmp/claude-0/-home-user-SMX-0226-Seguretat-Informatica/cec25c9b-7e93-584a-a64a-196540977a59/scratchpad/build/icons/globe_3E6680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5029200"/>
            <a:ext cx="320040" cy="320040"/>
          </a:xfrm>
          <a:prstGeom prst="rect">
            <a:avLst/>
          </a:prstGeom>
        </p:spPr>
      </p:pic>
      <p:sp>
        <p:nvSpPr>
          <p:cNvPr id="14" name="Text 8"/>
          <p:cNvSpPr txBox="1"/>
          <p:nvPr/>
        </p:nvSpPr>
        <p:spPr>
          <a:xfrm>
            <a:off x="1143000" y="498348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4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Clonezilla</a:t>
            </a:r>
            <a:endParaRPr lang="en-US" sz="1500" dirty="0"/>
          </a:p>
        </p:txBody>
      </p:sp>
      <p:sp>
        <p:nvSpPr>
          <p:cNvPr id="15" name="Text 9"/>
          <p:cNvSpPr txBox="1"/>
          <p:nvPr/>
        </p:nvSpPr>
        <p:spPr>
          <a:xfrm>
            <a:off x="1143000" y="5330952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1"/>
              </a:rPr>
              <a:t>clonezilla.org</a:t>
            </a:r>
            <a:r>
              <a:rPr lang="en-US" sz="115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documentació oficial; Somebooks.es — </a:t>
            </a:r>
            <a:r>
              <a:rPr lang="en-US" sz="115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2"/>
              </a:rPr>
              <a:t>"Clonezilla: Crear una imagen del equipo paso a paso"</a:t>
            </a:r>
            <a:endParaRPr lang="en-US" sz="1150" dirty="0"/>
          </a:p>
        </p:txBody>
      </p:sp>
      <p:sp>
        <p:nvSpPr>
          <p:cNvPr id="16" name="Text 10"/>
          <p:cNvSpPr txBox="1"/>
          <p:nvPr/>
        </p:nvSpPr>
        <p:spPr>
          <a:xfrm>
            <a:off x="640080" y="62179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Llicència CC BY-SA 4.0 · Adaptat de "Materials" (SMX-0226SI), Carlos Alonso Martínez, Escola Pia de Mataró</a:t>
            </a:r>
            <a:endParaRPr lang="en-US" sz="1050" dirty="0"/>
          </a:p>
        </p:txBody>
      </p:sp>
      <p:sp>
        <p:nvSpPr>
          <p:cNvPr id="17" name="Text 11"/>
          <p:cNvSpPr txBox="1"/>
          <p:nvPr/>
        </p:nvSpPr>
        <p:spPr>
          <a:xfrm>
            <a:off x="1155161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2026-09-07T18:17:08Z</dcterms:created>
  <dcterms:modified xsi:type="dcterms:W3CDTF">2026-09-07T18:17:08Z</dcterms:modified>
</cp:coreProperties>
</file>