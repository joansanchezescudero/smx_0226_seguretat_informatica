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20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6" Type="http://schemas.openxmlformats.org/officeDocument/2006/relationships/hyperlink" Target="https://youtu.be/iC38D5am7go?si=d__dJDAlE-Zwb85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Relationship Id="rId7" Type="http://schemas.openxmlformats.org/officeDocument/2006/relationships/hyperlink" Target="https://github.com/SMX-0226SI/Materials/blob/main/NF2/AA1-ProtegintDades.md" TargetMode="External"/><Relationship Id="rId8" Type="http://schemas.openxmlformats.org/officeDocument/2006/relationships/hyperlink" Target="https://www.ionos.es/digitalguide/servidores/know-how/todo-sobre-el-disaster-recovery-plan-o-drp/" TargetMode="External"/><Relationship Id="rId9" Type="http://schemas.openxmlformats.org/officeDocument/2006/relationships/hyperlink" Target="https://www.pcmag.com/news/many-used-hard-drives-sold-on-ebay-still-contain-leftover-data" TargetMode="External"/><Relationship Id="rId10" Type="http://schemas.openxmlformats.org/officeDocument/2006/relationships/hyperlink" Target="https://youtu.be/iC38D5am7go?si=d__dJDAlE-Zwb85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Protegint les dades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programes es reinstal·len; les dades, si es perden, no tornen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661160"/>
            <a:ext cx="3429000" cy="3799839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16355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9235" y="2228088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16355" y="3005328"/>
            <a:ext cx="266090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de negoci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16355" y="3813048"/>
            <a:ext cx="2660904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seguir treballant sense interrupció encara que falli un component, gràcies a la redundància.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81348" y="1661160"/>
            <a:ext cx="3429000" cy="3799839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653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276" y="2228088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65396" y="3005328"/>
            <a:ext cx="266090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desastres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765396" y="3813048"/>
            <a:ext cx="2660904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tornar a l'estat anterior quan un incident ja ha provocat una pèrdua d'accés o de dades.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30388" y="1661160"/>
            <a:ext cx="3429000" cy="3799839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51443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7316" y="222808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514436" y="3005328"/>
            <a:ext cx="266090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Cicle de vida i destrucció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514436" y="3813048"/>
            <a:ext cx="2660904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donar de baixa un suport d'emmagatzematge sense deixar-hi dades recuperables.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dades són un dels objectius més cercats pels delinqüents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segrest de dades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81"/>
              </a:lnSpc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ransomware —programari que xifra les teves dades i en demana un rescat per desxifrar-les— s'ha convertit en una de les principals amenaces per a les empreses. Per això protegir les dades no és opcional: és una prioritat estratègica.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Dues estratègies complementàries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81"/>
              </a:lnSpc>
              <a:buNone/>
            </a:pPr>
            <a:r>
              <a:rPr lang="en-US" sz="1800" dirty="0" b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Continuïtat de negoci:</a:t>
            </a: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seguir operant sense pèrdua durant l'incident.</a:t>
            </a:r>
            <a:endParaRPr lang="en-US" sz="1800" dirty="0"/>
          </a:p>
          <a:p>
            <a:pPr indent="0" marL="0">
              <a:lnSpc>
                <a:spcPts val="2681"/>
              </a:lnSpc>
              <a:spcBef>
                <a:spcPts val="2234"/>
              </a:spcBef>
              <a:buNone/>
            </a:pPr>
            <a:r>
              <a:rPr lang="en-US" sz="1800" dirty="0" b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Recuperació de desastres:</a:t>
            </a: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recuperar la informació i tornar a l'estat anterior un cop ha passat.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CAS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El ransomware, cada cop més present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15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B6B77"/>
                </a:solidFill>
                <a:latin typeface="Calibri"/>
              </a:rPr>
              <a:t>Titulars recents mostren l'abast real d'aquesta amenaça, també a Catalunya.</a:t>
            </a:r>
          </a:p>
        </p:txBody>
      </p:sp>
      <p:pic>
        <p:nvPicPr>
          <p:cNvPr id="5" name="Picture 4" descr="ransom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545" y="2392680"/>
            <a:ext cx="1944602" cy="2910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El ransomware xifra les dades de la víctima i en demana un rescat econòmic per desxifrar-les.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de negoci: l'alta disponibilitat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225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clau per seguir operant i ser resistents davant d'un incident és l'alta disponibilitat: una infraestructura que garanteix l'accés a les dades malgrat es produeixin incidents.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Això vol dir disposar de sistemes tolerants a fallades: sistemes que continuen funcionant encara que un dels seus components falli.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aconseguir-ho necessitem redundància: duplicació de components crítics.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328541"/>
            <a:ext cx="10789920" cy="1161288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80584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580001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redundància és cara: cal analitzar quin nivell d'alta disponibilitat necessita realment cada cas concret, no tot ho necessita al mateix nivell.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ESTRATÈGIES DE REDUNDÀNCIA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Dues maneres de duplicar components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4745736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Servidors redundants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més d'un servidor amb la mateixa informació, encara que estiguin a la mateixa ubicació. Es pot implantar a la pròpia organització o amb serveis de núvol, que ofereixen servidors redundants dins el mateix centre de dades o en ubicacions geogràfiques diferents.</a:t>
            </a:r>
            <a:endParaRPr lang="en-US" sz="1800" dirty="0"/>
          </a:p>
          <a:p>
            <a:pPr indent="0" marL="0">
              <a:lnSpc>
                <a:spcPts val="2448"/>
              </a:lnSpc>
              <a:spcBef>
                <a:spcPts val="1200"/>
              </a:spcBef>
              <a:buNone/>
            </a:pPr>
            <a:r>
              <a:rPr lang="en-US" sz="1800" dirty="0" b="1">
                <a:solidFill>
                  <a:srgbClr val="14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 el servidor sencer: protegeix d'una avaria de qualsevol peça.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4745736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045208"/>
            <a:ext cx="3483864" cy="1005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d'emmagatzematge redundants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343656"/>
            <a:ext cx="4443984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més d'un sistema d'emmagatzematge amb la mateixa informació. Aquesta és l'estratègia que SEMPRE s'aplica: permet que, davant l'avaria d'un disc o SSD, el sistema continuï funcionant sense pèrdua de dades. En parlarem en detall al proper apartat (RAID).</a:t>
            </a:r>
            <a:endParaRPr lang="en-US" sz="1800" dirty="0"/>
          </a:p>
          <a:p>
            <a:pPr indent="0" marL="0">
              <a:lnSpc>
                <a:spcPts val="2448"/>
              </a:lnSpc>
              <a:spcBef>
                <a:spcPts val="1200"/>
              </a:spcBef>
              <a:buNone/>
            </a:pPr>
            <a:r>
              <a:rPr lang="en-US" sz="1800" dirty="0" b="1">
                <a:solidFill>
                  <a:srgbClr val="14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 només els discos: si falla la placa o la font, el servei s'atura.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desastres: dos escenaris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dels sistemes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Utilitzant imatges de restauració, es pot recuperar el sistema operatiu i les aplicacions en poc temps, sense haver de reinstal·lar-ho tot des de zero.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les dades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Utilitzant còpies de seguretat (backup), es poden recuperar els documents, bases de dades i altra informació generada per l'organització.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40080" y="5108448"/>
            <a:ext cx="10789920" cy="1161288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46049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359908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L'objectiu de la recuperació de desastres és tornar al funcionament normal en el mínim temps possible. Aprofundirem en imatges i còpies de seguretat als propers apartats.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 DE LES 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cicle de vida de la informació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1716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Protegir les dades també implica la seguretat física (evitar accessos no autoritzats als equips) i el xifratge (perquè, si les dades es roben, no es puguin llegir).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Però hi ha un aspecte sovint oblidat: gestionar el cicle de vida de les dades — com es creen, s'emmagatzemen, s'utilitzen i, finalment, es destrueixen els suports físics quan arriben al final de la seva vida útil.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3788918"/>
            <a:ext cx="10789920" cy="1161288"/>
          </a:xfrm>
          <a:prstGeom prst="roundRect">
            <a:avLst>
              <a:gd name="adj" fmla="val 1000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hartli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140962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040378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estudi de 2019 va descobrir que 3 de cada 5 discos durs de segona mà venuts a eBay encara contenien dades personals i confidencials dels seus antics propietaris.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DE LA VIDA ÚTIL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destruir dades de manera segura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661160"/>
            <a:ext cx="3429000" cy="4096511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16355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9235" y="2228088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16355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Destrucció física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16355" y="3477768"/>
            <a:ext cx="2660904" cy="1895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Destruir el suport físicament (trituradores, perforadores) perquè la informació no es pugui recuperar mai. La més segura, però no permet reutilitzar el dispositiu.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81348" y="1661160"/>
            <a:ext cx="3429000" cy="4096511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653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magne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276" y="2228088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65396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Desmagnetització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765396" y="3477768"/>
            <a:ext cx="266090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Desmagnetitzar el suport. Només funciona en suports magnètics (discs durs, cintes) i tampoc permet reutilitzar-lo després.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30388" y="1661160"/>
            <a:ext cx="3429000" cy="4096511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51443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7316" y="222808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514436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Sobrescriptura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514436" y="3477768"/>
            <a:ext cx="2660904" cy="1895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Sobreescriure la informació amb dades aleatòries. Funciona en suports magnètics i flaix (SSD, USB, targetes SD) i sí que permet reutilitzar el dispositiu.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ESTÀNDARD DE REFERÈNCIA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DoD 5220.22-M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14400" y="1661160"/>
            <a:ext cx="10332720" cy="1819656"/>
          </a:xfrm>
          <a:prstGeom prst="roundRect">
            <a:avLst>
              <a:gd name="adj" fmla="val 5556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342388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912620"/>
            <a:ext cx="91440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Departament de Defensa dels Estats Units recomana un procediment de sobrescriptura en 3 passades: 1) sobreescriure una vegada amb zeros; 2) sobreescriure tres vegades amb dades aleatòries; 3) sobreescriure una vegada amb uns. Aquesta és l'estratègia que recomana l'estàndard DoD 5220.22-M.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892296"/>
            <a:ext cx="1033272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92"/>
              </a:lnSpc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simple "Esborra" o un format ràpid NO elimina realment les dades: només marca l'espai com a disponible.</a:t>
            </a:r>
            <a:endParaRPr lang="en-US" sz="1800" dirty="0"/>
          </a:p>
          <a:p>
            <a:pPr marL="342900" indent="-342900">
              <a:lnSpc>
                <a:spcPts val="2592"/>
              </a:lnSpc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sobrescriptura no es pot aplicar a dispositius d'un sol ús, com un DVD gravat: en aquest cas només queda la destrucció física.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RISC QUE SOVINT S'OBLIDA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Impressores i fotocopiadores digitals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20040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6064" y="1972056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prin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656" y="2136648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26184" y="2170176"/>
            <a:ext cx="363016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Memòria interna oculta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66064" y="2996184"/>
            <a:ext cx="4590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Moltes impressores i fotocopiadores digitals tenen un disc dur intern on queden emmagatzemades còpies dels documents que s'han imprès, escanejat o fotocopiat, sovint durant mesos o anys.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20040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35344" y="1972056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video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9935" y="2136648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595464" y="2170176"/>
            <a:ext cx="363016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cas real i documentat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635344" y="2996184"/>
            <a:ext cx="4590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reportatge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"Copy Machines, a Security Risk?"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(CBS News) va destapar que fotocopiadores donades de baixa o revenudes conservaven milers de documents confidencials sense que ningú ho sabés.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40080" y="5163312"/>
            <a:ext cx="10789920" cy="1161288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515356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414772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Conclusió: a l'hora de donar de baixa equipament, cal pensar més enllà dels ordinadors: qualsevol dispositiu amb memòria interna és un risc potencial de fuita de dades.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661160"/>
            <a:ext cx="3429000" cy="41158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16355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9235" y="2228088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16355" y="3005328"/>
            <a:ext cx="266090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vs. desastres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16355" y="3813048"/>
            <a:ext cx="266090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operant durant l'incident, o recuperar-se després: dues estratègies complementàries, no excloents.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81348" y="1661160"/>
            <a:ext cx="3429000" cy="41158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653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276" y="2228088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65396" y="3005328"/>
            <a:ext cx="266090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redundància és la base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765396" y="3813048"/>
            <a:ext cx="266090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d'emmagatzematge redundants: l'estratègia que sempre s'ha d'aplicar per a l'alta disponibilitat.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30388" y="1661160"/>
            <a:ext cx="3429000" cy="41158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51443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7316" y="222808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514436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Destrucció segura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514436" y="3477768"/>
            <a:ext cx="266090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Física, desmagnetització o sobrescriptura (DoD 5220.22-M): cap suport es llença sense abans destruir-ne el contingut.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L'institut dona de baixa 15 ordinadors vells i una fotocopiadora multifunció.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proposeu un procediment de destrucció/esborrat segur per als discos durs dels ordinadors (que es volen donar a una ONG, per tant s'han de poder reutilitzar) i expliqueu per què cal tenir en compte també la fotocopiadora abans de desfer-se'n.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535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661160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NF2-AA1: Protegint les dades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039112"/>
            <a:ext cx="10058400" cy="643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github.com/SMX-0226SI/Materials/blob/main/NF2/AA1-ProtegintDades.md</a:t>
            </a:r>
            <a:endParaRPr lang="en-US" sz="180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5943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3067050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importància d'un pla de recuperació de desastres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445002"/>
            <a:ext cx="1005840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IONOS Digital Guide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"La importancia de contar con un disaster recovery plan"</a:t>
            </a:r>
            <a:endParaRPr lang="en-US" sz="180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43375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4150995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Estudi sobre discos durs de segona mà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528947"/>
            <a:ext cx="1005840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PCMag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/>
              </a:rPr>
              <a:t>"Many Used Hard Drives Sold on eBay Still Contain Leftover Data"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(2019)</a:t>
            </a:r>
            <a:endParaRPr lang="en-US" sz="180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22732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5234940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Vídeo: el risc de seguretat de les fotocopiadores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612892"/>
            <a:ext cx="1005840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/>
              </a:rPr>
              <a:t>"Copy Machines, a Security Risk?"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reportatge disponible a YouTube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2026-09-07T18:12:53Z</dcterms:created>
  <dcterms:modified xsi:type="dcterms:W3CDTF">2026-09-07T18:12:53Z</dcterms:modified>
</cp:coreProperties>
</file>