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20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6" Type="http://schemas.openxmlformats.org/officeDocument/2006/relationships/hyperlink" Target="https://youtu.be/iC38D5am7go?si=d__dJDAlE-Zwb85A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Relationship Id="rId7" Type="http://schemas.openxmlformats.org/officeDocument/2006/relationships/hyperlink" Target="https://github.com/SMX-0226SI/Materials/blob/main/NF2/AA1-ProtegintDades.md" TargetMode="External"/><Relationship Id="rId8" Type="http://schemas.openxmlformats.org/officeDocument/2006/relationships/hyperlink" Target="https://www.ionos.es/digitalguide/servidores/know-how/todo-sobre-el-disaster-recovery-plan-o-drp/" TargetMode="External"/><Relationship Id="rId9" Type="http://schemas.openxmlformats.org/officeDocument/2006/relationships/hyperlink" Target="https://www.pcmag.com/news/many-used-hard-drives-sold-on-ebay-still-contain-leftover-data" TargetMode="External"/><Relationship Id="rId10" Type="http://schemas.openxmlformats.org/officeDocument/2006/relationships/hyperlink" Target="https://youtu.be/iC38D5am7go?si=d__dJDAlE-Zwb85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6400800" cy="6400800"/>
          </a:xfrm>
          <a:prstGeom prst="ellipse">
            <a:avLst/>
          </a:prstGeom>
          <a:solidFill>
            <a:srgbClr val="13293D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875520" y="-914400"/>
            <a:ext cx="4114800" cy="4114800"/>
          </a:xfrm>
          <a:prstGeom prst="ellipse">
            <a:avLst/>
          </a:prstGeom>
          <a:solidFill>
            <a:srgbClr val="16242E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MÒDUL 06 · SEGURETAT INFORMÀTICA — RA2 · NF2-AA1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Protegint les dades</a:t>
            </a:r>
            <a:endParaRPr lang="en-US" sz="4400" dirty="0"/>
          </a:p>
        </p:txBody>
      </p:sp>
      <p:pic>
        <p:nvPicPr>
          <p:cNvPr id="6" name="Image 0" descr="/tmp/claude-0/-home-user-SMX-0226-Seguretat-Informatica/cec25c9b-7e93-584a-a64a-196540977a59/scratchpad/build/icons/heartbeat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programes es reinstal·len; les dades, si es perden, no tornen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CFGM Sistemes Microinformàtics i Xarxes · 2n curs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035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Puig Castellar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Sánchez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AQUESTA SESSIÓ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Què aprendrem avui?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eartbeat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Continuïtat de negoci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seguir treballant sense interrupció encara que falli un component, gràcies a la redundància.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syncalt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de desastres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tornar a l'estat anterior quan un incident ja ha provocat una pèrdua d'accés o de dades.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trash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Cicle de vida i destrucció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donar de baixa un suport d'emmagatzematge sense deixar-hi dades recuperables.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SABIES?</a:t>
            </a:r>
            <a:endParaRPr lang="en-US" sz="1300" dirty="0"/>
          </a:p>
        </p:txBody>
      </p:sp>
      <p:pic>
        <p:nvPicPr>
          <p:cNvPr id="3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5029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601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dades són un dels objectius més cercats pels delinqüents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segrest de dades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ransomware —programari que xifra les teves dades i en demana un rescat per desxifrar-les— s'ha convertit en una de les principals amenaces per a les empreses. Per això protegir les dades no és opcional: és una prioritat estratègica.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Dues estratègies complementàries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27432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Continuïtat de negoci: seguir operant sense pèrdua durant l'incident. Recuperació de desastres: recuperar la informació i tornar a l'estat anterior un cop ha passat.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2A541"/>
                </a:solidFill>
                <a:latin typeface="Calibri"/>
              </a:rPr>
              <a:t>UN CAS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6242E"/>
                </a:solidFill>
                <a:latin typeface="Cambria"/>
              </a:rPr>
              <a:t>El ransomware, cada cop més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B77"/>
                </a:solidFill>
                <a:latin typeface="Calibri"/>
              </a:rPr>
              <a:t>Titulars recents mostren l'abast real d'aquesta amenaça, també a Catalunya.</a:t>
            </a:r>
          </a:p>
        </p:txBody>
      </p:sp>
      <p:pic>
        <p:nvPicPr>
          <p:cNvPr id="5" name="Picture 4" descr="ransom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90" y="1920240"/>
            <a:ext cx="2748914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B6B77"/>
                </a:solidFill>
                <a:latin typeface="Calibri"/>
              </a:rPr>
              <a:t>El ransomware xifra les dades de la víctima i en demana un rescat econòmic per desxifrar-les.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B77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Continuïtat de negoci: l'alta disponibilitat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clau per seguir operant i ser resistents davant d'un incident és l'alta disponibilitat: una infraestructura que garanteix l'accés a les dades malgrat es produeixin incidents.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Això vol dir disposar de sistemes tolerants a fallades: sistemes que continuen funcionant encara que un dels seus components falli.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aconseguir-ho necessitem redundància: duplicació de components crítics.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12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51663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redundància és cara: cal analitzar quin nivell d'alta disponibilitat necessita realment cada cas concret, no tot ho necessita al mateix nivell.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ESTRATÈGIES DE REDUNDÀNCIA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Dues maneres de duplicar components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erver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Servidors redundants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més d'un servidor amb la mateixa informació, encara que estiguin a la mateixa ubicació. Es pot implantar a la pròpia organització o amb serveis de núvol, que ofereixen servidors redundants dins el mateix centre de dades o en ubicacions geogràfiques diferents.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Sistemes d'emmagatzematge redundants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més d'un sistema d'emmagatzematge amb la mateixa informació. Aquesta és l'estratègia que SEMPRE s'aplica: permet que, davant l'avaria d'un disc o SSD, el sistema continuï funcionant sense pèrdua de dades. En parlarem en detall al proper apartat (RAID).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CONCEPTE CLAU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de desastres: dos escenaris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syncalt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dels sistemes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Utilitzant imatges de restauració, es pot recuperar el sistema operatiu i les aplicacions en poc temps, sense haver de reinstal·lar-ho tot des de zero.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clone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 de les dades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Utilitzant còpies de seguretat (backup), es poden recuperar els documents, bases de dades i altra informació generada per l'organització.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493776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bulb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977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0749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L'objectiu de la recuperació de desastres és tornar al funcionament normal en el mínim temps possible. Aprofundirem en imatges i còpies de seguretat als propers apartats.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 DE LES DADES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cicle de vida de la informació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10789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Protegir les dades també implica la seguretat física (evitar accessos no autoritzats als equips) i el xifratge (perquè, si les dades es roben, no es puguin llegir).</a:t>
            </a:r>
            <a:endParaRPr lang="en-US" sz="15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5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Però hi ha un aspecte sovint oblidat: gestionar el cicle de vida de les dades — com es creen, s'emmagatzemen, s'utilitzen i, finalment, es destrueixen els suports físics quan arriben al final de la seva vida útil.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4846320"/>
            <a:ext cx="10789920" cy="914400"/>
          </a:xfrm>
          <a:prstGeom prst="roundRect">
            <a:avLst>
              <a:gd name="adj" fmla="val 10000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chartlin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4983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 de 2019 va descobrir que 3 de cada 5 discos durs de segona mà venuts a eBay encara contenien dades personals i confidencials dels seus antics propietaris.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DE LA VIDA ÚTIL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destruir dades de manera segura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trash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Destrucció física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Destruir el suport físicament (trituradores, perforadores) perquè la informació no es pugui recuperar mai. La més segura, però no permet reutilitzar el dispositiu.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magnet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Desmagnetització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Desmagnetitzar el suport. Només funciona en suports magnètics (discs durs, cintes) i tampoc permet reutilitzar-lo després.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syncalt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Sobrescriptura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Sobreescriure la informació amb dades aleatòries. Funciona en suports magnètics i flaix (SSD, USB, targetes SD) i sí que permet reutilitzar el dispositiu.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ESTÀNDARD DE REFERÈNCIA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 5220.22-M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10332720" cy="1645920"/>
          </a:xfrm>
          <a:prstGeom prst="roundRect">
            <a:avLst>
              <a:gd name="adj" fmla="val 5556"/>
            </a:avLst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6" name="Image 0" descr="/tmp/claude-0/-home-user-SMX-0226-Seguretat-Informatica/cec25c9b-7e93-584a-a64a-196540977a59/scratchpad/build/icons/checkcircle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2402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Departament de Defensa dels Estats Units recomana un procediment de sobrescriptura en 3 passades: 1) sobreescriure una vegada amb zeros; 2) sobreescriure tres vegades amb dades aleatòries; 3) sobreescriure una vegada amb uns. Aquesta és l'estratègia que recomana l'estàndard DoD 5220.22-M.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1148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simple "Esborra" o un format ràpid NO elimina realment les dades: només marca l'espai com a disponible.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6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sobrescriptura no es pot aplicar a dispositius d'un sol ús, com un DVD gravat: en aquest cas només queda la destrucció física.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RISC QUE SOVINT S'OBLIDA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Impressores i fotocopiadores digitals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516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2092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print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240" y="23134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2092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Memòria interna oculta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2092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Moltes impressores i fotocopiadores digitals tenen un disc dur intern on queden emmagatzemades còpies dels documents que s'han imprès, escanejat o fotocopiat, sovint durant mesos o anys.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690208" y="2103120"/>
            <a:ext cx="822960" cy="82296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video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0520" y="23134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0208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cas real i documentat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690208" y="361188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reportatge </a:t>
            </a: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"Copy Machines, a Security Risk?"</a:t>
            </a:r>
            <a:r>
              <a:rPr lang="en-US" sz="13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(CBS News) va destapar que fotocopiadores donades de baixa o revenudes conservaven milers de documents confidencials sense que ningú ho sabés.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5029200"/>
            <a:ext cx="10789920" cy="777240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  <p:txBody>
          <a:bodyPr/>
          <a:p/>
        </p:txBody>
      </p:sp>
      <p:pic>
        <p:nvPicPr>
          <p:cNvPr id="16" name="Image 2" descr="/tmp/claude-0/-home-user-SMX-0226-Seguretat-Informatica/cec25c9b-7e93-584a-a64a-196540977a59/scratchpad/build/icons/warning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892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Conclusió: a l'hora de donar de baixa equipament, cal pensar més enllà dels ordinadors: qualsevol dispositiu amb memòria interna és un risc potencial de fuita de dades.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ACABAR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Idees clau d'avui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3230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34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7" name="Image 0" descr="/tmp/claude-0/-home-user-SMX-0226-Seguretat-Informatica/cec25c9b-7e93-584a-a64a-196540977a59/scratchpad/build/icons/heartbeat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228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662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Continuïtat vs. desastres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0662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operant durant l'incident, o recuperar-se després: dues estratègies complementàries, no excloents.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134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70138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2" name="Image 1" descr="/tmp/claude-0/-home-user-SMX-0226-Seguretat-Informatica/cec25c9b-7e93-584a-a64a-196540977a59/scratchpad/build/icons/hdd_F2A54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268" y="22402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5566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redundància és la base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5566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Sistemes d'emmagatzematge redundants: l'estratègia que sempre s'ha d'aplicar per a l'alta disponibilitat.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1737360"/>
            <a:ext cx="3429000" cy="38404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1624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50428" y="2057400"/>
            <a:ext cx="731520" cy="731520"/>
          </a:xfrm>
          <a:prstGeom prst="ellipse">
            <a:avLst/>
          </a:prstGeom>
          <a:solidFill>
            <a:srgbClr val="0B1B29"/>
          </a:solidFill>
          <a:ln/>
        </p:spPr>
        <p:txBody>
          <a:bodyPr/>
          <a:p/>
        </p:txBody>
      </p:sp>
      <p:pic>
        <p:nvPicPr>
          <p:cNvPr id="17" name="Image 2" descr="/tmp/claude-0/-home-user-SMX-0226-Seguretat-Informatica/cec25c9b-7e93-584a-a64a-196540977a59/scratchpad/build/icons/trash_F2A54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308" y="2240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4708" y="297180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Destrucció segura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04708" y="36118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Física, desmagnetització o sobrescriptura (DoD 5220.22-M): cap suport es llença sense abans destruir-ne el contingut.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ÉS EL TORN VOSTRE</a:t>
            </a:r>
            <a:endParaRPr lang="en-US" sz="1400" dirty="0"/>
          </a:p>
        </p:txBody>
      </p:sp>
      <p:pic>
        <p:nvPicPr>
          <p:cNvPr id="3" name="Image 0" descr="/tmp/claude-0/-home-user-SMX-0226-Seguretat-Informatica/cec25c9b-7e93-584a-a64a-196540977a59/scratchpad/build/icons/question_F2A5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7373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L'institut dona de baixa 15 ordinadors vells i una fotocopiadora multifunció.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9184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grups de 3: proposeu un procediment de destrucció/esborrat segur per als discos durs dels ordinadors (que es volen donar a una ONG, per tant s'han de poder reutilitzar) i expliqueu per què cal tenir en compte també la fotocopiadora abans de desfer-se'n.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minuts en grup + posada en comú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 DEL MATERIAL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Webgrafia</a:t>
            </a:r>
            <a:endParaRPr lang="en-US" sz="2800" dirty="0"/>
          </a:p>
        </p:txBody>
      </p:sp>
      <p:pic>
        <p:nvPicPr>
          <p:cNvPr id="4" name="Image 0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828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NF2-AA1: Protegint les dades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1762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"Materials" (GitHub, SMX-0226SI) · Carlos Alonso Martínez, Escola Pia de Mataró · Llicència CC-BY-SA-4.0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github.com/SMX-0226SI/Materials/blob/main/NF2/AA1-ProtegintDades.md</a:t>
            </a:r>
            <a:endParaRPr lang="en-US" sz="1150" dirty="0"/>
          </a:p>
        </p:txBody>
      </p:sp>
      <p:pic>
        <p:nvPicPr>
          <p:cNvPr id="7" name="Image 1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2608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importància d'un pla de recuperació de desastres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32278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IONOS Digital Guide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"La importancia de contar con un disaster recovery plan"</a:t>
            </a:r>
            <a:endParaRPr lang="en-US" sz="1150" dirty="0"/>
          </a:p>
        </p:txBody>
      </p:sp>
      <p:pic>
        <p:nvPicPr>
          <p:cNvPr id="10" name="Image 2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77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43000" y="3931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Estudi sobre discos durs de segona mà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4279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PCMag — 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/>
              </a:rPr>
              <a:t>"Many Used Hard Drives Sold on eBay Still Contain Leftover Data"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(2019)</a:t>
            </a:r>
            <a:endParaRPr lang="en-US" sz="1150" dirty="0"/>
          </a:p>
        </p:txBody>
      </p:sp>
      <p:pic>
        <p:nvPicPr>
          <p:cNvPr id="13" name="Image 3" descr="/tmp/claude-0/-home-user-SMX-0226-Seguretat-Informatica/cec25c9b-7e93-584a-a64a-196540977a59/scratchpad/build/icons/globe_3E668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Vídeo: el risc de seguretat de les fotocopiadores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53309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"Copy Machines, a Security Risk?"</a:t>
            </a:r>
            <a:r>
              <a:rPr lang="en-US" sz="115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reportatge disponible a YouTube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6217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Llicència Creative Commons BY-NC-SA · Institut Obert de Catalunya, 2011 (materials adaptats i ampliats)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2026-09-07T18:12:53Z</dcterms:created>
  <dcterms:modified xsi:type="dcterms:W3CDTF">2026-09-07T18:12:53Z</dcterms:modified>
</cp:coreProperties>
</file>