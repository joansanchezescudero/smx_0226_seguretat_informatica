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1.png"/><Relationship Id="rId3" Type="http://schemas.openxmlformats.org/officeDocument/2006/relationships/image" Target="../media/image-13-1.png"/><Relationship Id="rId4" Type="http://schemas.openxmlformats.org/officeDocument/2006/relationships/image" Target="../media/image-13-1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B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869680" y="-1828800"/>
            <a:ext cx="6400800" cy="6400800"/>
          </a:xfrm>
          <a:prstGeom prst="ellipse">
            <a:avLst/>
          </a:prstGeom>
          <a:solidFill>
            <a:srgbClr val="13293D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9875520" y="-914400"/>
            <a:ext cx="4114800" cy="4114800"/>
          </a:xfrm>
          <a:prstGeom prst="ellipse">
            <a:avLst/>
          </a:prstGeom>
          <a:solidFill>
            <a:srgbClr val="16242E"/>
          </a:solidFill>
          <a:ln/>
        </p:spPr>
        <p:txBody>
          <a:bodyPr/>
          <a:p/>
        </p:txBody>
      </p:sp>
      <p:sp>
        <p:nvSpPr>
          <p:cNvPr id="4" name="Text 2"/>
          <p:cNvSpPr txBox="1"/>
          <p:nvPr/>
        </p:nvSpPr>
        <p:spPr>
          <a:xfrm>
            <a:off x="822960" y="137160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MÒDUL 06 · SEGURETAT INFORMÀTICA — RA4 · NF5-AA2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1828800"/>
            <a:ext cx="98755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Inventari i monitorització de la xarxa</a:t>
            </a:r>
            <a:endParaRPr lang="en-US" sz="4400" dirty="0"/>
          </a:p>
        </p:txBody>
      </p:sp>
      <p:pic>
        <p:nvPicPr>
          <p:cNvPr id="6" name="Image 0" descr="/tmp/claude-0/-home-user-SMX-0226-Seguretat-Informatica/cec25c9b-7e93-584a-a64a-196540977a59/scratchpad/build/icons/network_F2A54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3246120"/>
            <a:ext cx="502920" cy="50292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463040" y="32461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CA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Saber què hi ha connectat i què hi circula, per poder-ho protegir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566928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FA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CFGM Sistemes Microinformàtics i Xarxes · 2n curs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822960" y="603504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Institut Puig Castellar</a:t>
            </a:r>
            <a:endParaRPr lang="en-US" sz="12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Joan Sánchez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AQUESTA SESSIÓ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22960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624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Què aprendrem avui?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1155161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632308" y="1737360"/>
            <a:ext cx="3429000" cy="384048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2700">
            <a:solidFill>
              <a:srgbClr val="E2E8ED"/>
            </a:solidFill>
            <a:prstDash val="solid"/>
          </a:ln>
          <a:effectLst>
            <a:outerShdw sx="100000" sy="100000" kx="0" ky="0" algn="bl" rotWithShape="0" blurRad="101600" dist="38100" dir="5400000">
              <a:srgbClr val="16242E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952348" y="2057400"/>
            <a:ext cx="731520" cy="731520"/>
          </a:xfrm>
          <a:prstGeom prst="ellipse">
            <a:avLst/>
          </a:prstGeom>
          <a:solidFill>
            <a:srgbClr val="0B1B29"/>
          </a:solidFill>
          <a:ln/>
        </p:spPr>
        <p:txBody>
          <a:bodyPr/>
          <a:p/>
        </p:txBody>
      </p:sp>
      <p:pic>
        <p:nvPicPr>
          <p:cNvPr id="7" name="Image 0" descr="/tmp/claude-0/-home-user-SMX-0226-Seguretat-Informatica/cec25c9b-7e93-584a-a64a-196540977a59/scratchpad/build/icons/sitemap_F2A54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5228" y="2240280"/>
            <a:ext cx="365760" cy="36576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906628" y="2971800"/>
            <a:ext cx="2880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624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Inventari de xarxa</a:t>
            </a:r>
            <a:endParaRPr lang="en-US" sz="1700" dirty="0"/>
          </a:p>
        </p:txBody>
      </p:sp>
      <p:sp>
        <p:nvSpPr>
          <p:cNvPr id="9" name="Text 6"/>
          <p:cNvSpPr txBox="1"/>
          <p:nvPr/>
        </p:nvSpPr>
        <p:spPr>
          <a:xfrm>
            <a:off x="906628" y="3611880"/>
            <a:ext cx="28803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SNMP i escàners de xarxa: com descobrir automàticament tots els dispositius connectats.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4381348" y="1737360"/>
            <a:ext cx="3429000" cy="384048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2700">
            <a:solidFill>
              <a:srgbClr val="E2E8ED"/>
            </a:solidFill>
            <a:prstDash val="solid"/>
          </a:ln>
          <a:effectLst>
            <a:outerShdw sx="100000" sy="100000" kx="0" ky="0" algn="bl" rotWithShape="0" blurRad="101600" dist="38100" dir="5400000">
              <a:srgbClr val="16242E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11" name="Shape 8"/>
          <p:cNvSpPr/>
          <p:nvPr/>
        </p:nvSpPr>
        <p:spPr>
          <a:xfrm>
            <a:off x="4701388" y="2057400"/>
            <a:ext cx="731520" cy="731520"/>
          </a:xfrm>
          <a:prstGeom prst="ellipse">
            <a:avLst/>
          </a:prstGeom>
          <a:solidFill>
            <a:srgbClr val="0B1B29"/>
          </a:solidFill>
          <a:ln/>
        </p:spPr>
        <p:txBody>
          <a:bodyPr/>
          <a:p/>
        </p:txBody>
      </p:sp>
      <p:pic>
        <p:nvPicPr>
          <p:cNvPr id="12" name="Image 1" descr="/tmp/claude-0/-home-user-SMX-0226-Seguretat-Informatica/cec25c9b-7e93-584a-a64a-196540977a59/scratchpad/build/icons/binoculars_F2A541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84268" y="2240280"/>
            <a:ext cx="365760" cy="365760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4655668" y="2971800"/>
            <a:ext cx="2880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624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Monitorització i sniffers</a:t>
            </a:r>
            <a:endParaRPr lang="en-US" sz="1700" dirty="0"/>
          </a:p>
        </p:txBody>
      </p:sp>
      <p:sp>
        <p:nvSpPr>
          <p:cNvPr id="14" name="Text 10"/>
          <p:cNvSpPr txBox="1"/>
          <p:nvPr/>
        </p:nvSpPr>
        <p:spPr>
          <a:xfrm>
            <a:off x="4655668" y="3611880"/>
            <a:ext cx="28803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 capturar i analitzar el trànsit real que circula per la xarxa, amb Wireshark.</a:t>
            </a:r>
            <a:endParaRPr lang="en-US" sz="1250" dirty="0"/>
          </a:p>
        </p:txBody>
      </p:sp>
      <p:sp>
        <p:nvSpPr>
          <p:cNvPr id="15" name="Shape 11"/>
          <p:cNvSpPr/>
          <p:nvPr/>
        </p:nvSpPr>
        <p:spPr>
          <a:xfrm>
            <a:off x="8130388" y="1737360"/>
            <a:ext cx="3429000" cy="384048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2700">
            <a:solidFill>
              <a:srgbClr val="E2E8ED"/>
            </a:solidFill>
            <a:prstDash val="solid"/>
          </a:ln>
          <a:effectLst>
            <a:outerShdw sx="100000" sy="100000" kx="0" ky="0" algn="bl" rotWithShape="0" blurRad="101600" dist="38100" dir="5400000">
              <a:srgbClr val="16242E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16" name="Shape 12"/>
          <p:cNvSpPr/>
          <p:nvPr/>
        </p:nvSpPr>
        <p:spPr>
          <a:xfrm>
            <a:off x="8450428" y="2057400"/>
            <a:ext cx="731520" cy="731520"/>
          </a:xfrm>
          <a:prstGeom prst="ellipse">
            <a:avLst/>
          </a:prstGeom>
          <a:solidFill>
            <a:srgbClr val="0B1B29"/>
          </a:solidFill>
          <a:ln/>
        </p:spPr>
        <p:txBody>
          <a:bodyPr/>
          <a:p/>
        </p:txBody>
      </p:sp>
      <p:pic>
        <p:nvPicPr>
          <p:cNvPr id="17" name="Image 2" descr="/tmp/claude-0/-home-user-SMX-0226-Seguretat-Informatica/cec25c9b-7e93-584a-a64a-196540977a59/scratchpad/build/icons/wifi_F2A541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33308" y="2240280"/>
            <a:ext cx="365760" cy="365760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8404708" y="2971800"/>
            <a:ext cx="2880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624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Seguretat sense fils</a:t>
            </a:r>
            <a:endParaRPr lang="en-US" sz="1700" dirty="0"/>
          </a:p>
        </p:txBody>
      </p:sp>
      <p:sp>
        <p:nvSpPr>
          <p:cNvPr id="19" name="Text 14"/>
          <p:cNvSpPr txBox="1"/>
          <p:nvPr/>
        </p:nvSpPr>
        <p:spPr>
          <a:xfrm>
            <a:off x="8404708" y="3611880"/>
            <a:ext cx="28803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WEP a WPA3: l'evolució dels protocols de seguretat Wi-Fi.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B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54864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 SABIES?</a:t>
            </a:r>
            <a:endParaRPr lang="en-US" sz="1300" dirty="0"/>
          </a:p>
        </p:txBody>
      </p:sp>
      <p:pic>
        <p:nvPicPr>
          <p:cNvPr id="3" name="Image 0" descr="/tmp/claude-0/-home-user-SMX-0226-Seguretat-Informatica/cec25c9b-7e93-584a-a64a-196540977a59/scratchpad/build/icons/network_F2A54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98480" y="502920"/>
            <a:ext cx="548640" cy="54864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822960" y="960120"/>
            <a:ext cx="9509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1.000 equips, un sol tècnic: cal automatitzar</a:t>
            </a:r>
            <a:endParaRPr lang="en-US" sz="3000" dirty="0"/>
          </a:p>
        </p:txBody>
      </p:sp>
      <p:sp>
        <p:nvSpPr>
          <p:cNvPr id="5" name="Text 2"/>
          <p:cNvSpPr txBox="1"/>
          <p:nvPr/>
        </p:nvSpPr>
        <p:spPr>
          <a:xfrm>
            <a:off x="822960" y="228600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2A5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repte de l'escala</a:t>
            </a:r>
            <a:endParaRPr lang="en-US" sz="1500" dirty="0"/>
          </a:p>
        </p:txBody>
      </p:sp>
      <p:sp>
        <p:nvSpPr>
          <p:cNvPr id="6" name="Text 3"/>
          <p:cNvSpPr txBox="1"/>
          <p:nvPr/>
        </p:nvSpPr>
        <p:spPr>
          <a:xfrm>
            <a:off x="822960" y="2743200"/>
            <a:ext cx="493776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450" dirty="0">
                <a:solidFill>
                  <a:srgbClr val="CA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Imagineu una empresa amb 1.000 equips connectats. Com podríeu saber quins dispositius hi ha, quina IP i MAC tenen, i quins serveis executen, sense comprovar-ho un per un manualment?</a:t>
            </a:r>
            <a:endParaRPr lang="en-US" sz="1450" dirty="0"/>
          </a:p>
        </p:txBody>
      </p:sp>
      <p:sp>
        <p:nvSpPr>
          <p:cNvPr id="7" name="Text 4"/>
          <p:cNvSpPr txBox="1"/>
          <p:nvPr/>
        </p:nvSpPr>
        <p:spPr>
          <a:xfrm>
            <a:off x="6035040" y="228600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2A5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Mapa físic vs. mapa lògic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6035040" y="2743200"/>
            <a:ext cx="493776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450" dirty="0">
                <a:solidFill>
                  <a:srgbClr val="CA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mapa físic representa la ubicació real dels equips i la distribució del cablejat. El mapa lògic representa com estan interconnectats entre ells, independentment de la seva ubicació física.</a:t>
            </a:r>
            <a:endParaRPr lang="en-US" sz="1450" dirty="0"/>
          </a:p>
        </p:txBody>
      </p:sp>
      <p:sp>
        <p:nvSpPr>
          <p:cNvPr id="9" name="Text 6"/>
          <p:cNvSpPr txBox="1"/>
          <p:nvPr/>
        </p:nvSpPr>
        <p:spPr>
          <a:xfrm>
            <a:off x="1155161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AUTOMATITZANT L'INVENTARI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22960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624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SNMP i escàners de xarxa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1155161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655168" y="1737360"/>
            <a:ext cx="5212080" cy="3931920"/>
          </a:xfrm>
          <a:prstGeom prst="roundRect">
            <a:avLst>
              <a:gd name="adj" fmla="val 2791"/>
            </a:avLst>
          </a:prstGeom>
          <a:solidFill>
            <a:srgbClr val="FFFFFF"/>
          </a:solidFill>
          <a:ln w="12700">
            <a:solidFill>
              <a:srgbClr val="E2E8ED"/>
            </a:solidFill>
            <a:prstDash val="solid"/>
          </a:ln>
          <a:effectLst>
            <a:outerShdw sx="100000" sy="100000" kx="0" ky="0" algn="bl" rotWithShape="0" blurRad="101600" dist="38100" dir="5400000">
              <a:srgbClr val="16242E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1020928" y="2103120"/>
            <a:ext cx="822960" cy="822960"/>
          </a:xfrm>
          <a:prstGeom prst="ellipse">
            <a:avLst/>
          </a:prstGeom>
          <a:solidFill>
            <a:srgbClr val="0B1B29"/>
          </a:solidFill>
          <a:ln/>
        </p:spPr>
        <p:txBody>
          <a:bodyPr/>
          <a:p/>
        </p:txBody>
      </p:sp>
      <p:pic>
        <p:nvPicPr>
          <p:cNvPr id="7" name="Image 0" descr="/tmp/claude-0/-home-user-SMX-0226-Seguretat-Informatica/cec25c9b-7e93-584a-a64a-196540977a59/scratchpad/build/icons/server_F2A54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31240" y="2313432"/>
            <a:ext cx="402336" cy="402336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020928" y="3108960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624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Protocol SNMP</a:t>
            </a:r>
            <a:endParaRPr lang="en-US" sz="1900" dirty="0"/>
          </a:p>
        </p:txBody>
      </p:sp>
      <p:sp>
        <p:nvSpPr>
          <p:cNvPr id="9" name="Text 6"/>
          <p:cNvSpPr txBox="1"/>
          <p:nvPr/>
        </p:nvSpPr>
        <p:spPr>
          <a:xfrm>
            <a:off x="1020928" y="3611880"/>
            <a:ext cx="44805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35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Permet gestionar i monitoritzar dispositius de xarxa (routers, switches, servidors, impressores). Model client-servidor: els dispositius actuen com a agents que recopilen informació, i el sistema de gestió com a gestor SNMP.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6324448" y="1737360"/>
            <a:ext cx="5212080" cy="3931920"/>
          </a:xfrm>
          <a:prstGeom prst="roundRect">
            <a:avLst>
              <a:gd name="adj" fmla="val 2791"/>
            </a:avLst>
          </a:prstGeom>
          <a:solidFill>
            <a:srgbClr val="FFFFFF"/>
          </a:solidFill>
          <a:ln w="12700">
            <a:solidFill>
              <a:srgbClr val="E2E8ED"/>
            </a:solidFill>
            <a:prstDash val="solid"/>
          </a:ln>
          <a:effectLst>
            <a:outerShdw sx="100000" sy="100000" kx="0" ky="0" algn="bl" rotWithShape="0" blurRad="101600" dist="38100" dir="5400000">
              <a:srgbClr val="16242E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11" name="Shape 8"/>
          <p:cNvSpPr/>
          <p:nvPr/>
        </p:nvSpPr>
        <p:spPr>
          <a:xfrm>
            <a:off x="6690208" y="2103120"/>
            <a:ext cx="822960" cy="822960"/>
          </a:xfrm>
          <a:prstGeom prst="ellipse">
            <a:avLst/>
          </a:prstGeom>
          <a:solidFill>
            <a:srgbClr val="0B1B29"/>
          </a:solidFill>
          <a:ln/>
        </p:spPr>
        <p:txBody>
          <a:bodyPr/>
          <a:p/>
        </p:txBody>
      </p:sp>
      <p:pic>
        <p:nvPicPr>
          <p:cNvPr id="12" name="Image 1" descr="/tmp/claude-0/-home-user-SMX-0226-Seguretat-Informatica/cec25c9b-7e93-584a-a64a-196540977a59/scratchpad/build/icons/search_F2A541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00520" y="2313432"/>
            <a:ext cx="402336" cy="402336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6690208" y="3108960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624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Escàners de xarxa</a:t>
            </a:r>
            <a:endParaRPr lang="en-US" sz="1900" dirty="0"/>
          </a:p>
        </p:txBody>
      </p:sp>
      <p:sp>
        <p:nvSpPr>
          <p:cNvPr id="14" name="Text 10"/>
          <p:cNvSpPr txBox="1"/>
          <p:nvPr/>
        </p:nvSpPr>
        <p:spPr>
          <a:xfrm>
            <a:off x="6690208" y="3611880"/>
            <a:ext cx="44805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35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Descobreixen dispositius enviant paquets i analitzant respostes (Nmap, Angry IP Scanner). A diferència de SNMP, NO necessiten cap agent instal·lat al dispositiu objectiu.</a:t>
            </a:r>
            <a:endParaRPr lang="en-US" sz="1350" dirty="0"/>
          </a:p>
        </p:txBody>
      </p:sp>
      <p:sp>
        <p:nvSpPr>
          <p:cNvPr id="15" name="Shape 11"/>
          <p:cNvSpPr/>
          <p:nvPr/>
        </p:nvSpPr>
        <p:spPr>
          <a:xfrm>
            <a:off x="640080" y="5029200"/>
            <a:ext cx="10789920" cy="777240"/>
          </a:xfrm>
          <a:prstGeom prst="roundRect">
            <a:avLst>
              <a:gd name="adj" fmla="val 11765"/>
            </a:avLst>
          </a:prstGeom>
          <a:solidFill>
            <a:srgbClr val="13293D"/>
          </a:solidFill>
          <a:ln/>
        </p:spPr>
        <p:txBody>
          <a:bodyPr/>
          <a:p/>
        </p:txBody>
      </p:sp>
      <p:pic>
        <p:nvPicPr>
          <p:cNvPr id="16" name="Image 2" descr="/tmp/claude-0/-home-user-SMX-0226-Seguretat-Informatica/cec25c9b-7e93-584a-a64a-196540977a59/scratchpad/build/icons/warning_F2A541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5189220"/>
            <a:ext cx="457200" cy="457200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1554480" y="5166360"/>
            <a:ext cx="9601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Exploració activa (envia paquets i espera resposta) vs. passiva (només escolta el trànsit ja existent). En pentesting, sempre s'usa el mode passiu per no ser detectat.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PRÀCTICA REAL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22960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624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Inventariant serveis amb Nmap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1155161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737360"/>
            <a:ext cx="10789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000"/>
              </a:lnSpc>
              <a:spcAft>
                <a:spcPts val="1000"/>
              </a:spcAft>
              <a:buSzPct val="100000"/>
              <a:buChar char="▪"/>
            </a:pPr>
            <a:r>
              <a:rPr lang="en-US" sz="1500" dirty="0">
                <a:solidFill>
                  <a:srgbClr val="16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 coneixeu Nmap del RA3 (vulnerabilitats): aquí l'apliquem a l'inventari sistemàtic de tota una xarxa.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40080" y="3017520"/>
            <a:ext cx="10789920" cy="2651760"/>
          </a:xfrm>
          <a:prstGeom prst="roundRect">
            <a:avLst>
              <a:gd name="adj" fmla="val 3448"/>
            </a:avLst>
          </a:prstGeom>
          <a:solidFill>
            <a:srgbClr val="0B1B29"/>
          </a:solidFill>
          <a:ln/>
        </p:spPr>
        <p:txBody>
          <a:bodyPr/>
          <a:p/>
        </p:txBody>
      </p:sp>
      <p:pic>
        <p:nvPicPr>
          <p:cNvPr id="7" name="Image 0" descr="/tmp/claude-0/-home-user-SMX-0226-Seguretat-Informatica/cec25c9b-7e93-584a-a64a-196540977a59/scratchpad/build/icons/terminal_F2A54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4114800"/>
            <a:ext cx="457200" cy="45720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554480" y="3154680"/>
            <a:ext cx="96012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"nmap -sn 192.168.1.0/24" fa un descobriment d'amfitrions (host discovery): identifica quins dispositius estan actius a tota una subxarxa, sense necessitat d'escanejar-ne els ports. És el primer pas per construir un inventari complet.</a:t>
            </a:r>
            <a:endParaRPr lang="en-US" sz="13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ESCOLTANT LA XARXA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22960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624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Sniffers: monitorització del trànsit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1155161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737360"/>
            <a:ext cx="107899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000"/>
              </a:lnSpc>
              <a:spcAft>
                <a:spcPts val="1000"/>
              </a:spcAft>
              <a:buSzPct val="100000"/>
              <a:buChar char="▪"/>
            </a:pPr>
            <a:r>
              <a:rPr lang="en-US" sz="1500" dirty="0">
                <a:solidFill>
                  <a:srgbClr val="16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sniffer (com Wireshark) captura i analitza els paquets que circulen per la xarxa en temps real.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55168" y="3383280"/>
            <a:ext cx="5212080" cy="265176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 w="12700">
            <a:solidFill>
              <a:srgbClr val="E2E8ED"/>
            </a:solidFill>
            <a:prstDash val="solid"/>
          </a:ln>
          <a:effectLst>
            <a:outerShdw sx="100000" sy="100000" kx="0" ky="0" algn="bl" rotWithShape="0" blurRad="101600" dist="38100" dir="5400000">
              <a:srgbClr val="16242E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1020928" y="3749040"/>
            <a:ext cx="822960" cy="822960"/>
          </a:xfrm>
          <a:prstGeom prst="ellipse">
            <a:avLst/>
          </a:prstGeom>
          <a:solidFill>
            <a:srgbClr val="0B1B29"/>
          </a:solidFill>
          <a:ln/>
        </p:spPr>
        <p:txBody>
          <a:bodyPr/>
          <a:p/>
        </p:txBody>
      </p:sp>
      <p:pic>
        <p:nvPicPr>
          <p:cNvPr id="8" name="Image 0" descr="/tmp/claude-0/-home-user-SMX-0226-Seguretat-Informatica/cec25c9b-7e93-584a-a64a-196540977a59/scratchpad/build/icons/checkcircle_F2A54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31240" y="3959352"/>
            <a:ext cx="402336" cy="402336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1020928" y="4754880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624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Ús legítim</a:t>
            </a:r>
            <a:endParaRPr lang="en-US" sz="1900" dirty="0"/>
          </a:p>
        </p:txBody>
      </p:sp>
      <p:sp>
        <p:nvSpPr>
          <p:cNvPr id="10" name="Text 7"/>
          <p:cNvSpPr txBox="1"/>
          <p:nvPr/>
        </p:nvSpPr>
        <p:spPr>
          <a:xfrm>
            <a:off x="1020928" y="5257800"/>
            <a:ext cx="4480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35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Diagnosticar problemes de xarxa, analitzar el rendiment, verificar el trànsit.</a:t>
            </a:r>
            <a:endParaRPr lang="en-US" sz="1350" dirty="0"/>
          </a:p>
        </p:txBody>
      </p:sp>
      <p:sp>
        <p:nvSpPr>
          <p:cNvPr id="11" name="Shape 8"/>
          <p:cNvSpPr/>
          <p:nvPr/>
        </p:nvSpPr>
        <p:spPr>
          <a:xfrm>
            <a:off x="6324448" y="3383280"/>
            <a:ext cx="5212080" cy="265176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 w="12700">
            <a:solidFill>
              <a:srgbClr val="E2E8ED"/>
            </a:solidFill>
            <a:prstDash val="solid"/>
          </a:ln>
          <a:effectLst>
            <a:outerShdw sx="100000" sy="100000" kx="0" ky="0" algn="bl" rotWithShape="0" blurRad="101600" dist="38100" dir="5400000">
              <a:srgbClr val="16242E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12" name="Shape 9"/>
          <p:cNvSpPr/>
          <p:nvPr/>
        </p:nvSpPr>
        <p:spPr>
          <a:xfrm>
            <a:off x="6690208" y="3749040"/>
            <a:ext cx="822960" cy="822960"/>
          </a:xfrm>
          <a:prstGeom prst="ellipse">
            <a:avLst/>
          </a:prstGeom>
          <a:solidFill>
            <a:srgbClr val="0B1B29"/>
          </a:solidFill>
          <a:ln/>
        </p:spPr>
        <p:txBody>
          <a:bodyPr/>
          <a:p/>
        </p:txBody>
      </p:sp>
      <p:pic>
        <p:nvPicPr>
          <p:cNvPr id="13" name="Image 1" descr="/tmp/claude-0/-home-user-SMX-0226-Seguretat-Informatica/cec25c9b-7e93-584a-a64a-196540977a59/scratchpad/build/icons/warning_F2A541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00520" y="3959352"/>
            <a:ext cx="402336" cy="402336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6690208" y="4754880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624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Risc de seguretat</a:t>
            </a:r>
            <a:endParaRPr lang="en-US" sz="1900" dirty="0"/>
          </a:p>
        </p:txBody>
      </p:sp>
      <p:sp>
        <p:nvSpPr>
          <p:cNvPr id="15" name="Text 11"/>
          <p:cNvSpPr txBox="1"/>
          <p:nvPr/>
        </p:nvSpPr>
        <p:spPr>
          <a:xfrm>
            <a:off x="6690208" y="5257800"/>
            <a:ext cx="4480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35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s'usa en una xarxa NO xifrada, un atacant pot capturar contrasenyes i dades privades; eines avançades permeten fins i tot modificar paquets (man-in-the-middle).</a:t>
            </a:r>
            <a:endParaRPr lang="en-US" sz="13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 VEURE TOT EL TRÀNSIT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22960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624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 promiscu i port mirroring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1155161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737360"/>
            <a:ext cx="1078992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000"/>
              </a:lnSpc>
              <a:spcAft>
                <a:spcPts val="1000"/>
              </a:spcAft>
              <a:buSzPct val="100000"/>
              <a:buChar char="▪"/>
            </a:pPr>
            <a:r>
              <a:rPr lang="en-US" sz="1500" dirty="0">
                <a:solidFill>
                  <a:srgbClr val="16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 d'un equip normal, la targeta de xarxa només rep el trànsit destinat a ella mateixa. Per veure TOT el trànsit de la xarxa calen dues accions:</a:t>
            </a:r>
            <a:endParaRPr lang="en-US" sz="1500" dirty="0"/>
          </a:p>
          <a:p>
            <a:pPr marL="342900" indent="-342900">
              <a:lnSpc>
                <a:spcPts val="2000"/>
              </a:lnSpc>
              <a:spcAft>
                <a:spcPts val="1000"/>
              </a:spcAft>
              <a:buSzPct val="100000"/>
              <a:buChar char="▪"/>
            </a:pPr>
            <a:r>
              <a:rPr lang="en-US" sz="1500" dirty="0">
                <a:solidFill>
                  <a:srgbClr val="16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1) Posar la targeta de xarxa en mode promiscu, que li fa acceptar tots els paquets, siguin o no destinats a l'equip.</a:t>
            </a:r>
            <a:endParaRPr lang="en-US" sz="1500" dirty="0"/>
          </a:p>
          <a:p>
            <a:pPr marL="342900" indent="-342900">
              <a:lnSpc>
                <a:spcPts val="2000"/>
              </a:lnSpc>
              <a:spcAft>
                <a:spcPts val="1000"/>
              </a:spcAft>
              <a:buSzPct val="100000"/>
              <a:buChar char="▪"/>
            </a:pPr>
            <a:r>
              <a:rPr lang="en-US" sz="1500" dirty="0">
                <a:solidFill>
                  <a:srgbClr val="16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2) Configurar un port mirroring al switch: duplica el trànsit d'un port o VLAN i l'envia a un altre port on hi ha connectat l'equip amb el sniffer.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40080" y="4937760"/>
            <a:ext cx="10789920" cy="777240"/>
          </a:xfrm>
          <a:prstGeom prst="roundRect">
            <a:avLst>
              <a:gd name="adj" fmla="val 11765"/>
            </a:avLst>
          </a:prstGeom>
          <a:solidFill>
            <a:srgbClr val="13293D"/>
          </a:solidFill>
          <a:ln/>
        </p:spPr>
        <p:txBody>
          <a:bodyPr/>
          <a:p/>
        </p:txBody>
      </p:sp>
      <p:pic>
        <p:nvPicPr>
          <p:cNvPr id="7" name="Image 0" descr="/tmp/claude-0/-home-user-SMX-0226-Seguretat-Informatica/cec25c9b-7e93-584a-a64a-196540977a59/scratchpad/build/icons/bulb_F2A54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5097780"/>
            <a:ext cx="457200" cy="45720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554480" y="5074920"/>
            <a:ext cx="9601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Alternativa sense port mirroring: un "LAN tap", que s'instal·la físicament entre el switch i el router/servidor per interceptar el trànsit.</a:t>
            </a:r>
            <a:endParaRPr lang="en-US" sz="13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PRÀCTICA REAL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22960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624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Capturant i analitzant trànsit amb tshark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1155161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737360"/>
            <a:ext cx="10789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000"/>
              </a:lnSpc>
              <a:spcAft>
                <a:spcPts val="1000"/>
              </a:spcAft>
              <a:buSzPct val="100000"/>
              <a:buChar char="▪"/>
            </a:pPr>
            <a:r>
              <a:rPr lang="en-US" sz="1450" dirty="0">
                <a:solidFill>
                  <a:srgbClr val="16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tshark és la versió de línia de comandes de Wireshark: permet capturar i filtrar trànsit sense interfície gràfica.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640080" y="2834640"/>
            <a:ext cx="10789920" cy="2926080"/>
          </a:xfrm>
          <a:prstGeom prst="roundRect">
            <a:avLst>
              <a:gd name="adj" fmla="val 3125"/>
            </a:avLst>
          </a:prstGeom>
          <a:solidFill>
            <a:srgbClr val="0B1B29"/>
          </a:solidFill>
          <a:ln/>
        </p:spPr>
        <p:txBody>
          <a:bodyPr/>
          <a:p/>
        </p:txBody>
      </p:sp>
      <p:pic>
        <p:nvPicPr>
          <p:cNvPr id="7" name="Image 0" descr="/tmp/claude-0/-home-user-SMX-0226-Seguretat-Informatica/cec25c9b-7e93-584a-a64a-196540977a59/scratchpad/build/icons/terminal_F2A54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4069080"/>
            <a:ext cx="457200" cy="45720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554480" y="2971800"/>
            <a:ext cx="960120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"tshark -i lo -w captura.pcap" captura trànsit d'una interfície; "tshark -r captura.pcap -Y http" filtra només les peticions/respostes HTTP capturades, mostrant mètode, URI i codi de resposta de cada petició. Ho practicareu amb una captura real a l'exercici guiat.</a:t>
            </a:r>
            <a:endParaRPr lang="en-US" sz="13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XIFRAR PER PROTEGIR-SE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22960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624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Protecció del trànsit de xarxa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1155161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737360"/>
            <a:ext cx="107899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000"/>
              </a:lnSpc>
              <a:spcAft>
                <a:spcPts val="1000"/>
              </a:spcAft>
              <a:buSzPct val="100000"/>
              <a:buChar char="▪"/>
            </a:pPr>
            <a:r>
              <a:rPr lang="en-US" sz="1500" dirty="0">
                <a:solidFill>
                  <a:srgbClr val="16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evitar que un sniffer obtingui dades llegibles, la informació ha de viatjar xifrada:</a:t>
            </a:r>
            <a:endParaRPr lang="en-US" sz="1500" dirty="0"/>
          </a:p>
          <a:p>
            <a:pPr marL="342900" indent="-342900">
              <a:lnSpc>
                <a:spcPts val="2000"/>
              </a:lnSpc>
              <a:spcAft>
                <a:spcPts val="1000"/>
              </a:spcAft>
              <a:buSzPct val="100000"/>
              <a:buChar char="▪"/>
            </a:pPr>
            <a:r>
              <a:rPr lang="en-US" sz="1500" dirty="0">
                <a:solidFill>
                  <a:srgbClr val="16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TLS (Transport Layer Security): assegura HTTPS i altres protocols (SMTP, IMAP, FTP).</a:t>
            </a:r>
            <a:endParaRPr lang="en-US" sz="1500" dirty="0"/>
          </a:p>
          <a:p>
            <a:pPr marL="342900" indent="-342900">
              <a:lnSpc>
                <a:spcPts val="2000"/>
              </a:lnSpc>
              <a:spcAft>
                <a:spcPts val="1000"/>
              </a:spcAft>
              <a:buSzPct val="100000"/>
              <a:buChar char="▪"/>
            </a:pPr>
            <a:r>
              <a:rPr lang="en-US" sz="1500" dirty="0">
                <a:solidFill>
                  <a:srgbClr val="16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SSH en lloc de Telnet, per a connexions remotes.</a:t>
            </a:r>
            <a:endParaRPr lang="en-US" sz="1500" dirty="0"/>
          </a:p>
          <a:p>
            <a:pPr marL="342900" indent="-342900">
              <a:lnSpc>
                <a:spcPts val="2000"/>
              </a:lnSpc>
              <a:spcAft>
                <a:spcPts val="1000"/>
              </a:spcAft>
              <a:buSzPct val="100000"/>
              <a:buChar char="▪"/>
            </a:pPr>
            <a:r>
              <a:rPr lang="en-US" sz="1500" dirty="0">
                <a:solidFill>
                  <a:srgbClr val="16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VPN (Virtual Private Network): connexions segures a través d'Internet.</a:t>
            </a:r>
            <a:endParaRPr lang="en-US" sz="1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SENSE CABLES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22960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624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Seguretat en xarxes sense fils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1155161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640080" y="1737360"/>
            <a:ext cx="10789920" cy="1097280"/>
          </a:xfrm>
          <a:prstGeom prst="roundRect">
            <a:avLst>
              <a:gd name="adj" fmla="val 8333"/>
            </a:avLst>
          </a:prstGeom>
          <a:solidFill>
            <a:srgbClr val="0B1B29"/>
          </a:solidFill>
          <a:ln/>
        </p:spPr>
        <p:txBody>
          <a:bodyPr/>
          <a:p/>
        </p:txBody>
      </p:sp>
      <p:pic>
        <p:nvPicPr>
          <p:cNvPr id="6" name="Image 0" descr="/tmp/claude-0/-home-user-SMX-0226-Seguretat-Informatica/cec25c9b-7e93-584a-a64a-196540977a59/scratchpad/build/icons/wifi_F2A54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2057400"/>
            <a:ext cx="457200" cy="45720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554480" y="1874520"/>
            <a:ext cx="9601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una xarxa cablejada, la intrusió requereix accés físic; a una xarxa sense fils, es pot accedir des de qualsevol lloc dins l'àrea de cobertura.</a:t>
            </a:r>
            <a:endParaRPr lang="en-US" sz="135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3017520"/>
          <a:ext cx="1088136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9052560"/>
              </a:tblGrid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Protocol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B2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Estat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B2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624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WEP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624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Obsolet i molt insegur des de 2004 (xifrat RC4, clau estàtica).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624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WPA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624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Millora el WEP (clau dinàmica TKIP), però també vulnerable; no recomanat.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624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WPA2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624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AES amb clau de 128 bits. Popular i en general segur, amb vulnerabilitats conegudes (KRACK).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624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WPA3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624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El més recent i segur: AES 192 bits (empresarial), clau única per comunicació, SAE en lloc de PSK.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ACABAR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22960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624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Idees clau d'avui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1155161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632308" y="1737360"/>
            <a:ext cx="3429000" cy="384048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2700">
            <a:solidFill>
              <a:srgbClr val="E2E8ED"/>
            </a:solidFill>
            <a:prstDash val="solid"/>
          </a:ln>
          <a:effectLst>
            <a:outerShdw sx="100000" sy="100000" kx="0" ky="0" algn="bl" rotWithShape="0" blurRad="101600" dist="38100" dir="5400000">
              <a:srgbClr val="16242E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952348" y="2057400"/>
            <a:ext cx="731520" cy="731520"/>
          </a:xfrm>
          <a:prstGeom prst="ellipse">
            <a:avLst/>
          </a:prstGeom>
          <a:solidFill>
            <a:srgbClr val="0B1B29"/>
          </a:solidFill>
          <a:ln/>
        </p:spPr>
        <p:txBody>
          <a:bodyPr/>
          <a:p/>
        </p:txBody>
      </p:sp>
      <p:pic>
        <p:nvPicPr>
          <p:cNvPr id="7" name="Image 0" descr="/tmp/claude-0/-home-user-SMX-0226-Seguretat-Informatica/cec25c9b-7e93-584a-a64a-196540977a59/scratchpad/build/icons/sitemap_F2A54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5228" y="2240280"/>
            <a:ext cx="365760" cy="36576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906628" y="2971800"/>
            <a:ext cx="2880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624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Inventariar és el primer pas</a:t>
            </a:r>
            <a:endParaRPr lang="en-US" sz="1700" dirty="0"/>
          </a:p>
        </p:txBody>
      </p:sp>
      <p:sp>
        <p:nvSpPr>
          <p:cNvPr id="9" name="Text 6"/>
          <p:cNvSpPr txBox="1"/>
          <p:nvPr/>
        </p:nvSpPr>
        <p:spPr>
          <a:xfrm>
            <a:off x="906628" y="3611880"/>
            <a:ext cx="28803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SNMP i escàners de xarxa (Nmap) permeten conèixer automàticament què hi ha connectat.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4381348" y="1737360"/>
            <a:ext cx="3429000" cy="384048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2700">
            <a:solidFill>
              <a:srgbClr val="E2E8ED"/>
            </a:solidFill>
            <a:prstDash val="solid"/>
          </a:ln>
          <a:effectLst>
            <a:outerShdw sx="100000" sy="100000" kx="0" ky="0" algn="bl" rotWithShape="0" blurRad="101600" dist="38100" dir="5400000">
              <a:srgbClr val="16242E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11" name="Shape 8"/>
          <p:cNvSpPr/>
          <p:nvPr/>
        </p:nvSpPr>
        <p:spPr>
          <a:xfrm>
            <a:off x="4701388" y="2057400"/>
            <a:ext cx="731520" cy="731520"/>
          </a:xfrm>
          <a:prstGeom prst="ellipse">
            <a:avLst/>
          </a:prstGeom>
          <a:solidFill>
            <a:srgbClr val="0B1B29"/>
          </a:solidFill>
          <a:ln/>
        </p:spPr>
        <p:txBody>
          <a:bodyPr/>
          <a:p/>
        </p:txBody>
      </p:sp>
      <p:pic>
        <p:nvPicPr>
          <p:cNvPr id="12" name="Image 1" descr="/tmp/claude-0/-home-user-SMX-0226-Seguretat-Informatica/cec25c9b-7e93-584a-a64a-196540977a59/scratchpad/build/icons/binoculars_F2A541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84268" y="2240280"/>
            <a:ext cx="365760" cy="365760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4655668" y="2971800"/>
            <a:ext cx="2880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624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Monitoritzar és necessari</a:t>
            </a:r>
            <a:endParaRPr lang="en-US" sz="1700" dirty="0"/>
          </a:p>
        </p:txBody>
      </p:sp>
      <p:sp>
        <p:nvSpPr>
          <p:cNvPr id="14" name="Text 10"/>
          <p:cNvSpPr txBox="1"/>
          <p:nvPr/>
        </p:nvSpPr>
        <p:spPr>
          <a:xfrm>
            <a:off x="4655668" y="3611880"/>
            <a:ext cx="28803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Els sniffers (Wireshark/tshark) diagnostiquen problemes, però mal utilitzats són també una amenaça.</a:t>
            </a:r>
            <a:endParaRPr lang="en-US" sz="1250" dirty="0"/>
          </a:p>
        </p:txBody>
      </p:sp>
      <p:sp>
        <p:nvSpPr>
          <p:cNvPr id="15" name="Shape 11"/>
          <p:cNvSpPr/>
          <p:nvPr/>
        </p:nvSpPr>
        <p:spPr>
          <a:xfrm>
            <a:off x="8130388" y="1737360"/>
            <a:ext cx="3429000" cy="384048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2700">
            <a:solidFill>
              <a:srgbClr val="E2E8ED"/>
            </a:solidFill>
            <a:prstDash val="solid"/>
          </a:ln>
          <a:effectLst>
            <a:outerShdw sx="100000" sy="100000" kx="0" ky="0" algn="bl" rotWithShape="0" blurRad="101600" dist="38100" dir="5400000">
              <a:srgbClr val="16242E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16" name="Shape 12"/>
          <p:cNvSpPr/>
          <p:nvPr/>
        </p:nvSpPr>
        <p:spPr>
          <a:xfrm>
            <a:off x="8450428" y="2057400"/>
            <a:ext cx="731520" cy="731520"/>
          </a:xfrm>
          <a:prstGeom prst="ellipse">
            <a:avLst/>
          </a:prstGeom>
          <a:solidFill>
            <a:srgbClr val="0B1B29"/>
          </a:solidFill>
          <a:ln/>
        </p:spPr>
        <p:txBody>
          <a:bodyPr/>
          <a:p/>
        </p:txBody>
      </p:sp>
      <p:pic>
        <p:nvPicPr>
          <p:cNvPr id="17" name="Image 2" descr="/tmp/claude-0/-home-user-SMX-0226-Seguretat-Informatica/cec25c9b-7e93-584a-a64a-196540977a59/scratchpad/build/icons/wifi_F2A541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33308" y="2240280"/>
            <a:ext cx="365760" cy="365760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8404708" y="2971800"/>
            <a:ext cx="2880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624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WPA3 per defecte</a:t>
            </a:r>
            <a:endParaRPr lang="en-US" sz="1700" dirty="0"/>
          </a:p>
        </p:txBody>
      </p:sp>
      <p:sp>
        <p:nvSpPr>
          <p:cNvPr id="19" name="Text 14"/>
          <p:cNvSpPr txBox="1"/>
          <p:nvPr/>
        </p:nvSpPr>
        <p:spPr>
          <a:xfrm>
            <a:off x="8404708" y="3611880"/>
            <a:ext cx="28803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Sempre que sigui possible, cal usar WPA3 (o WPA2 com a mínim) i xifrar el trànsit sensible amb TLS/SSH/VPN.</a:t>
            </a:r>
            <a:endParaRPr lang="en-US" sz="12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1B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118872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ARA ÉS EL TORN VOSTRE</a:t>
            </a:r>
            <a:endParaRPr lang="en-US" sz="1400" dirty="0"/>
          </a:p>
        </p:txBody>
      </p:sp>
      <p:pic>
        <p:nvPicPr>
          <p:cNvPr id="3" name="Image 0" descr="/tmp/claude-0/-home-user-SMX-0226-Seguretat-Informatica/cec25c9b-7e93-584a-a64a-196540977a59/scratchpad/build/icons/question_F2A54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1097280"/>
            <a:ext cx="731520" cy="73152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822960" y="1737360"/>
            <a:ext cx="103327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L'administrador de xarxa d'un institut sospita que hi ha un dispositiu desconegut connectat a la xarxa del professorat.</a:t>
            </a:r>
            <a:endParaRPr lang="en-US" sz="2600" dirty="0"/>
          </a:p>
        </p:txBody>
      </p:sp>
      <p:sp>
        <p:nvSpPr>
          <p:cNvPr id="5" name="Text 2"/>
          <p:cNvSpPr txBox="1"/>
          <p:nvPr/>
        </p:nvSpPr>
        <p:spPr>
          <a:xfrm>
            <a:off x="822960" y="3291840"/>
            <a:ext cx="98755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500" dirty="0">
                <a:solidFill>
                  <a:srgbClr val="CA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parelles: proposeu un procediment (eines i passos concrets) per confirmar-ho i identificar el dispositiu, i expliqueu quina diferència hi hauria si volguéssiu fer-ho SENSE que el dispositiu sospitós es n'adonés.</a:t>
            </a:r>
            <a:endParaRPr lang="en-US" sz="1500" dirty="0"/>
          </a:p>
        </p:txBody>
      </p:sp>
      <p:sp>
        <p:nvSpPr>
          <p:cNvPr id="6" name="Text 3"/>
          <p:cNvSpPr txBox="1"/>
          <p:nvPr/>
        </p:nvSpPr>
        <p:spPr>
          <a:xfrm>
            <a:off x="822960" y="603504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8FA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minuts en parelles + posada en comú</a:t>
            </a:r>
            <a:endParaRPr lang="en-US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1155161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FONTS DEL MATERIAL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22960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624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Webgrafia</a:t>
            </a:r>
            <a:endParaRPr lang="en-US" sz="2800" dirty="0"/>
          </a:p>
        </p:txBody>
      </p:sp>
      <p:pic>
        <p:nvPicPr>
          <p:cNvPr id="4" name="Image 0" descr="/tmp/claude-0/-home-user-SMX-0226-Seguretat-Informatica/cec25c9b-7e93-584a-a64a-196540977a59/scratchpad/build/icons/globe_3E668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874520"/>
            <a:ext cx="320040" cy="3200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143000" y="182880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4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NF5-AA2: Inventari i Monitorització de la xarxa</a:t>
            </a:r>
            <a:endParaRPr lang="en-US" sz="1500" dirty="0"/>
          </a:p>
        </p:txBody>
      </p:sp>
      <p:sp>
        <p:nvSpPr>
          <p:cNvPr id="6" name="Text 3"/>
          <p:cNvSpPr txBox="1"/>
          <p:nvPr/>
        </p:nvSpPr>
        <p:spPr>
          <a:xfrm>
            <a:off x="1143000" y="2176272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Repositori "Materials" (GitHub, SMX-0226SI) · Carlos Alonso Martínez, Escola Pia de Mataró · Llicència CC-BY-SA-4.0</a:t>
            </a:r>
            <a:endParaRPr lang="en-US" sz="1150" dirty="0"/>
          </a:p>
        </p:txBody>
      </p:sp>
      <p:pic>
        <p:nvPicPr>
          <p:cNvPr id="7" name="Image 1" descr="/tmp/claude-0/-home-user-SMX-0226-Seguretat-Informatica/cec25c9b-7e93-584a-a64a-196540977a59/scratchpad/build/icons/globe_3E6680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2926080"/>
            <a:ext cx="320040" cy="32004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143000" y="288036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4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Wireshark</a:t>
            </a:r>
            <a:endParaRPr lang="en-US" sz="1500" dirty="0"/>
          </a:p>
        </p:txBody>
      </p:sp>
      <p:sp>
        <p:nvSpPr>
          <p:cNvPr id="9" name="Text 5"/>
          <p:cNvSpPr txBox="1"/>
          <p:nvPr/>
        </p:nvSpPr>
        <p:spPr>
          <a:xfrm>
            <a:off x="1143000" y="3227832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wireshark.org</a:t>
            </a:r>
            <a:endParaRPr lang="en-US" sz="1150" dirty="0"/>
          </a:p>
        </p:txBody>
      </p:sp>
      <p:pic>
        <p:nvPicPr>
          <p:cNvPr id="10" name="Image 2" descr="/tmp/claude-0/-home-user-SMX-0226-Seguretat-Informatica/cec25c9b-7e93-584a-a64a-196540977a59/scratchpad/build/icons/globe_3E6680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3977640"/>
            <a:ext cx="320040" cy="320040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1143000" y="393192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4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Nmap</a:t>
            </a:r>
            <a:endParaRPr lang="en-US" sz="1500" dirty="0"/>
          </a:p>
        </p:txBody>
      </p:sp>
      <p:sp>
        <p:nvSpPr>
          <p:cNvPr id="12" name="Text 7"/>
          <p:cNvSpPr txBox="1"/>
          <p:nvPr/>
        </p:nvSpPr>
        <p:spPr>
          <a:xfrm>
            <a:off x="1143000" y="4279392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nmap.org</a:t>
            </a:r>
            <a:endParaRPr lang="en-US" sz="1150" dirty="0"/>
          </a:p>
        </p:txBody>
      </p:sp>
      <p:pic>
        <p:nvPicPr>
          <p:cNvPr id="13" name="Image 3" descr="/tmp/claude-0/-home-user-SMX-0226-Seguretat-Informatica/cec25c9b-7e93-584a-a64a-196540977a59/scratchpad/build/icons/globe_3E6680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5029200"/>
            <a:ext cx="320040" cy="320040"/>
          </a:xfrm>
          <a:prstGeom prst="rect">
            <a:avLst/>
          </a:prstGeom>
        </p:spPr>
      </p:pic>
      <p:sp>
        <p:nvSpPr>
          <p:cNvPr id="14" name="Text 8"/>
          <p:cNvSpPr txBox="1"/>
          <p:nvPr/>
        </p:nvSpPr>
        <p:spPr>
          <a:xfrm>
            <a:off x="1143000" y="498348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4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Kaspersky — ¿Qué es WEP, WPA, WPA2 y WPA3?</a:t>
            </a:r>
            <a:endParaRPr lang="en-US" sz="1500" dirty="0"/>
          </a:p>
        </p:txBody>
      </p:sp>
      <p:sp>
        <p:nvSpPr>
          <p:cNvPr id="15" name="Text 9"/>
          <p:cNvSpPr txBox="1"/>
          <p:nvPr/>
        </p:nvSpPr>
        <p:spPr>
          <a:xfrm>
            <a:off x="1143000" y="5330952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latam.kaspersky.com/resource-center/definitions/wep-vs-wpa</a:t>
            </a:r>
            <a:endParaRPr lang="en-US" sz="1150" dirty="0"/>
          </a:p>
        </p:txBody>
      </p:sp>
      <p:sp>
        <p:nvSpPr>
          <p:cNvPr id="16" name="Text 10"/>
          <p:cNvSpPr txBox="1"/>
          <p:nvPr/>
        </p:nvSpPr>
        <p:spPr>
          <a:xfrm>
            <a:off x="640080" y="621792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Llicència CC BY-SA 4.0 · Adaptat de "Materials" (SMX-0226SI), Carlos Alonso Martínez, Escola Pia de Mataró</a:t>
            </a:r>
            <a:endParaRPr lang="en-US" sz="1050" dirty="0"/>
          </a:p>
        </p:txBody>
      </p:sp>
      <p:sp>
        <p:nvSpPr>
          <p:cNvPr id="17" name="Text 11"/>
          <p:cNvSpPr txBox="1"/>
          <p:nvPr/>
        </p:nvSpPr>
        <p:spPr>
          <a:xfrm>
            <a:off x="1155161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2026-09-09T14:20:00Z</dcterms:created>
  <dcterms:modified xsi:type="dcterms:W3CDTF">2026-09-09T14:20:00Z</dcterms:modified>
</cp:coreProperties>
</file>