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87" r:id="rId38"/>
    <p:sldId id="280" r:id="rId31"/>
    <p:sldId id="260" r:id="rId6"/>
    <p:sldId id="261" r:id="rId7"/>
    <p:sldId id="262" r:id="rId8"/>
    <p:sldId id="263" r:id="rId9"/>
    <p:sldId id="264" r:id="rId10"/>
    <p:sldId id="285" r:id="rId36"/>
    <p:sldId id="286" r:id="rId37"/>
    <p:sldId id="288" r:id="rId39"/>
    <p:sldId id="265" r:id="rId11"/>
    <p:sldId id="284" r:id="rId35"/>
    <p:sldId id="279" r:id="rId30"/>
    <p:sldId id="283" r:id="rId34"/>
    <p:sldId id="266" r:id="rId12"/>
    <p:sldId id="278" r:id="rId29"/>
    <p:sldId id="267" r:id="rId13"/>
    <p:sldId id="268" r:id="rId14"/>
    <p:sldId id="282" r:id="rId33"/>
    <p:sldId id="269" r:id="rId15"/>
    <p:sldId id="270" r:id="rId16"/>
    <p:sldId id="271" r:id="rId17"/>
    <p:sldId id="281" r:id="rId32"/>
    <p:sldId id="272" r:id="rId18"/>
    <p:sldId id="277" r:id="rId2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7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4.xml"/><Relationship Id="rId12" Type="http://schemas.openxmlformats.org/officeDocument/2006/relationships/slide" Target="slides/slide18.xml"/><Relationship Id="rId13" Type="http://schemas.openxmlformats.org/officeDocument/2006/relationships/slide" Target="slides/slide20.xml"/><Relationship Id="rId14" Type="http://schemas.openxmlformats.org/officeDocument/2006/relationships/slide" Target="slides/slide21.xml"/><Relationship Id="rId15" Type="http://schemas.openxmlformats.org/officeDocument/2006/relationships/slide" Target="slides/slide23.xml"/><Relationship Id="rId16" Type="http://schemas.openxmlformats.org/officeDocument/2006/relationships/slide" Target="slides/slide24.xml"/><Relationship Id="rId17" Type="http://schemas.openxmlformats.org/officeDocument/2006/relationships/slide" Target="slides/slide25.xml"/><Relationship Id="rId18" Type="http://schemas.openxmlformats.org/officeDocument/2006/relationships/slide" Target="slides/slide27.xml"/><Relationship Id="rId19" Type="http://schemas.openxmlformats.org/officeDocument/2006/relationships/slide" Target="slides/slide29.xml"/><Relationship Id="rId20" Type="http://schemas.openxmlformats.org/officeDocument/2006/relationships/slide" Target="slides/slide30.xml"/><Relationship Id="rId21" Type="http://schemas.openxmlformats.org/officeDocument/2006/relationships/slide" Target="slides/slide31.xml"/><Relationship Id="rId22" Type="http://schemas.openxmlformats.org/officeDocument/2006/relationships/slide" Target="slides/slide32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28.xml"/><Relationship Id="rId29" Type="http://schemas.openxmlformats.org/officeDocument/2006/relationships/slide" Target="slides/slide19.xml"/><Relationship Id="rId30" Type="http://schemas.openxmlformats.org/officeDocument/2006/relationships/slide" Target="slides/slide16.xml"/><Relationship Id="rId31" Type="http://schemas.openxmlformats.org/officeDocument/2006/relationships/slide" Target="slides/slide6.xml"/><Relationship Id="rId32" Type="http://schemas.openxmlformats.org/officeDocument/2006/relationships/slide" Target="slides/slide26.xml"/><Relationship Id="rId33" Type="http://schemas.openxmlformats.org/officeDocument/2006/relationships/slide" Target="slides/slide22.xml"/><Relationship Id="rId34" Type="http://schemas.openxmlformats.org/officeDocument/2006/relationships/slide" Target="slides/slide17.xml"/><Relationship Id="rId35" Type="http://schemas.openxmlformats.org/officeDocument/2006/relationships/slide" Target="slides/slide15.xml"/><Relationship Id="rId36" Type="http://schemas.openxmlformats.org/officeDocument/2006/relationships/slide" Target="slides/slide12.xml"/><Relationship Id="rId37" Type="http://schemas.openxmlformats.org/officeDocument/2006/relationships/slide" Target="slides/slide13.xml"/><Relationship Id="rId38" Type="http://schemas.openxmlformats.org/officeDocument/2006/relationships/slide" Target="slides/slide5.xml"/><Relationship Id="rId39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1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5.png"/><Relationship Id="rId7" Type="http://schemas.openxmlformats.org/officeDocument/2006/relationships/image" Target="../media/image-11-2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jpg"/><Relationship Id="rId3" Type="http://schemas.openxmlformats.org/officeDocument/2006/relationships/image" Target="../media/image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hyperlink" Target="https://ioc.xtec.cat/materials/FP/Recursos/fp_smx_m06_/web/fp_smx_m06_htmlindex/WebContent/u1/a3/continguts.html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4572000" cy="457200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371600" y="4572000"/>
            <a:ext cx="3657600" cy="3657600"/>
          </a:xfrm>
          <a:prstGeom prst="ellipse">
            <a:avLst/>
          </a:prstGeom>
          <a:solidFill>
            <a:srgbClr val="3E6680">
              <a:alpha val="30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731520" y="2377440"/>
            <a:ext cx="1371600" cy="137160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5" name="Image 0" descr="/home/claude/pptx_build/icons/finger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686050"/>
            <a:ext cx="754380" cy="7543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468880" y="196596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2423160" y="2331720"/>
            <a:ext cx="9326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Seguretat lògica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2468880" y="34290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ets i què pots fer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2468880" y="4069080"/>
            <a:ext cx="2926080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246888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246888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2468880" y="4937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760220" y="230886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6" name="Image 0" descr="/home/claude/pptx_build/icons/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0250" y="2548890"/>
            <a:ext cx="480060" cy="4800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3429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Autenticació i autorització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0690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un sistema comprova qui ets i què tens permís de fer un cop hi has entrat.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51960" y="201168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5463540" y="230886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11" name="Image 1" descr="/home/claude/pptx_build/icons/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3570" y="2548890"/>
            <a:ext cx="480060" cy="4800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80560" y="3429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Contrasenyes i biometria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40690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crear contrasenyes robustes i quan cal recórrer a sistemes biomètrics.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955280" y="201168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9166860" y="230886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16" name="Image 2" descr="/home/claude/pptx_build/icons/list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6890" y="2548890"/>
            <a:ext cx="480060" cy="4800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183880" y="3429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Permisos i registres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40690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es controlen els permisos d'accés als fitxers i per què cal registrar l'activitat del sistema.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COMENÇAR, UNA MICA D'HISTÒRIA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Molt abans dels ordinadors...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120640" cy="4206240"/>
          </a:xfrm>
          <a:prstGeom prst="roundRect">
            <a:avLst>
              <a:gd name="adj" fmla="val 2609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560320" y="2286000"/>
            <a:ext cx="1097280" cy="109728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6" name="Image 0" descr="/home/claude/pptx_build/icons/usersecr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4640" y="2560320"/>
            <a:ext cx="548640" cy="5486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520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SENTINELLES MILITARS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93192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s'acostava algú desconegut, calia dir una senya (pregunta) i respondre la contrasenya correcta per demostrar que eres del bàndol amic.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492240" y="1920240"/>
            <a:ext cx="5120640" cy="4206240"/>
          </a:xfrm>
          <a:prstGeom prst="roundRect">
            <a:avLst>
              <a:gd name="adj" fmla="val 2609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8503920" y="2286000"/>
            <a:ext cx="1097280" cy="109728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1" name="Image 1" descr="/home/claude/pptx_build/icons/fingerpr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56032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766560" y="3520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AVUI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6812280" y="393192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lògica és exactament la mateixa: el sistema ha de saber si ets “amic” (usuari autoritzat) o “enemic” (intrús) abans de deixar-te entrar.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5760720" y="3703320"/>
            <a:ext cx="640080" cy="64008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5" name="Image 2" descr="/home/claude/pptx_build/icons/arrowr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4738" y="3847338"/>
            <a:ext cx="352044" cy="3520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CONCEPTE CLAU DE TOTA LA UNITAT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Autenticació vs. autorització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12064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05840" y="2286000"/>
            <a:ext cx="1005840" cy="100584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6" name="Image 0" descr="/home/claude/pptx_build/icons/id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253746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40280" y="2468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Autenticació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749040"/>
            <a:ext cx="4389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 QUI ets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“Demostra que ets tu”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Contrasenya, targeta, empremta...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126480" y="1965960"/>
            <a:ext cx="512064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83680" y="2286000"/>
            <a:ext cx="1005840" cy="100584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1" name="Image 1" descr="/home/claude/pptx_build/icons/k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140" y="2537460"/>
            <a:ext cx="502920" cy="5029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818120" y="2468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Autorització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6492240" y="3749040"/>
            <a:ext cx="4389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 QUÈ pots fer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“Tens permís per a això?”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la base de dades d'autorització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57607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et cal AUTENTICAR-TE per entrar; després, el sistema AUTORITZA (o no) cada acció que vulguis fer.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UN PAS QUE SOL PASSAR DESAPERCEBUT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6242E"/>
                </a:solidFill>
                <a:latin typeface="Cambria"/>
              </a:rPr>
              <a:t>Identificació, autenticació i autorització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B6B77"/>
                </a:solidFill>
                <a:latin typeface="Calibri"/>
              </a:rPr>
              <a:t>Com en un hotel: primer et identifiques (reserva), després demostres qui ets (DNI a recepció), i finalment se't autoritza (la clau que obre la teva habitació).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410712" cy="1600200"/>
          </a:xfrm>
          <a:prstGeom prst="roundRect">
            <a:avLst/>
          </a:prstGeom>
          <a:solidFill>
            <a:srgbClr val="3E6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29535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400">
                <a:latin typeface="Cambria"/>
              </a:defRPr>
            </a:pPr>
            <a:r>
              <a:rPr sz="1200" b="1">
                <a:solidFill>
                  <a:srgbClr val="FFFFFF"/>
                </a:solidFill>
                <a:latin typeface="Calibri"/>
              </a:rPr>
              <a:t>1. Identificació</a:t>
            </a:r>
          </a:p>
          <a:p>
            <a:pPr algn="l">
              <a:lnSpc>
                <a:spcPct val="105000"/>
              </a:lnSpc>
              <a:defRPr sz="1150">
                <a:solidFill>
                  <a:srgbClr val="D7E4EE"/>
                </a:solidFill>
              </a:defRPr>
            </a:pPr>
            <a:r>
              <a:rPr sz="1200" b="0">
                <a:solidFill>
                  <a:srgbClr val="FFFFFF"/>
                </a:solidFill>
                <a:latin typeface="Calibri"/>
              </a:rPr>
              <a:t>Dius qui ets: un nom d'usuari (p. ex. nom.cognom). És la reserva de l'hotel: encara no s'ha comprovat 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42232" y="2057400"/>
            <a:ext cx="3410712" cy="1600200"/>
          </a:xfrm>
          <a:prstGeom prst="roundRect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70832" y="2194560"/>
            <a:ext cx="29535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400">
                <a:latin typeface="Cambria"/>
              </a:defRPr>
            </a:pPr>
            <a:r>
              <a:rPr sz="1200" b="1">
                <a:solidFill>
                  <a:srgbClr val="3A2E12"/>
                </a:solidFill>
                <a:latin typeface="Calibri"/>
              </a:rPr>
              <a:t>2. Autenticació</a:t>
            </a:r>
          </a:p>
          <a:p>
            <a:pPr algn="l">
              <a:lnSpc>
                <a:spcPct val="105000"/>
              </a:lnSpc>
              <a:defRPr sz="1150">
                <a:solidFill>
                  <a:srgbClr val="3A2E12"/>
                </a:solidFill>
              </a:defRPr>
            </a:pPr>
            <a:r>
              <a:rPr sz="1200" b="0">
                <a:solidFill>
                  <a:srgbClr val="3A2E12"/>
                </a:solidFill>
                <a:latin typeface="Calibri"/>
              </a:rPr>
              <a:t>Demostres que ets tu de veritat: contrasenya, empremta, targeta... És mostrar el DNI a recepció.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35824" y="2057400"/>
            <a:ext cx="3410712" cy="1600200"/>
          </a:xfrm>
          <a:prstGeom prst="roundRect">
            <a:avLst/>
          </a:prstGeom>
          <a:solidFill>
            <a:srgbClr val="3E6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64424" y="2194560"/>
            <a:ext cx="29535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400">
                <a:latin typeface="Cambria"/>
              </a:defRPr>
            </a:pPr>
            <a:r>
              <a:rPr sz="1200" b="1">
                <a:solidFill>
                  <a:srgbClr val="FFFFFF"/>
                </a:solidFill>
                <a:latin typeface="Calibri"/>
              </a:rPr>
              <a:t>3. Autorització</a:t>
            </a:r>
          </a:p>
          <a:p>
            <a:pPr algn="l">
              <a:lnSpc>
                <a:spcPct val="105000"/>
              </a:lnSpc>
              <a:defRPr sz="1150">
                <a:solidFill>
                  <a:srgbClr val="D7E4EE"/>
                </a:solidFill>
              </a:defRPr>
            </a:pPr>
            <a:r>
              <a:rPr sz="1200" b="0">
                <a:solidFill>
                  <a:srgbClr val="FFFFFF"/>
                </a:solidFill>
                <a:latin typeface="Calibri"/>
              </a:rPr>
              <a:t>El sistema decideix què pots fer un cop dins. És la clau que només obre la teva habitació.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77639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242E"/>
                </a:solidFill>
                <a:latin typeface="Calibri"/>
              </a:rPr>
              <a:t>CONTROL D'ACCÉS LOCAL VS. CENTRALITZAT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4840"/>
            <a:ext cx="512064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57200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500">
                <a:latin typeface="Cambria"/>
              </a:defRPr>
            </a:pPr>
            <a:r>
              <a:rPr sz="1300" b="1">
                <a:solidFill>
                  <a:srgbClr val="16242E"/>
                </a:solidFill>
                <a:latin typeface="Calibri"/>
              </a:rPr>
              <a:t>Local</a:t>
            </a:r>
          </a:p>
          <a:p>
            <a:pPr algn="l">
              <a:lnSpc>
                <a:spcPct val="105000"/>
              </a:lnSpc>
              <a:defRPr sz="1200">
                <a:solidFill>
                  <a:srgbClr val="5B6B77"/>
                </a:solidFill>
              </a:defRPr>
            </a:pPr>
            <a:r>
              <a:rPr sz="1300" b="0">
                <a:solidFill>
                  <a:srgbClr val="16242E"/>
                </a:solidFill>
                <a:latin typeface="Calibri"/>
              </a:rPr>
              <a:t>Cada equip gestiona els seus propis usuaris i contrasenyes (p. ex. un PC domèstic o un servidor autònom).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59" y="4434840"/>
            <a:ext cx="512064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457200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500">
                <a:latin typeface="Cambria"/>
              </a:defRPr>
            </a:pPr>
            <a:r>
              <a:rPr sz="1300" b="1">
                <a:solidFill>
                  <a:srgbClr val="16242E"/>
                </a:solidFill>
                <a:latin typeface="Calibri"/>
              </a:rPr>
              <a:t>Centralitzat</a:t>
            </a:r>
          </a:p>
          <a:p>
            <a:pPr algn="l">
              <a:lnSpc>
                <a:spcPct val="105000"/>
              </a:lnSpc>
              <a:defRPr sz="1200">
                <a:solidFill>
                  <a:srgbClr val="5B6B77"/>
                </a:solidFill>
              </a:defRPr>
            </a:pPr>
            <a:r>
              <a:rPr sz="1300" b="0">
                <a:solidFill>
                  <a:srgbClr val="16242E"/>
                </a:solidFill>
                <a:latin typeface="Calibri"/>
              </a:rPr>
              <a:t>Un servidor gestiona tots els usuaris de la xarxa (Active Directory, compte de Google...). Un sol usuari obre múltiples serveis.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2A541"/>
                </a:solidFill>
                <a:latin typeface="Calibri"/>
              </a:rPr>
              <a:t>FIGURA DE REFERÈNCIA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42E"/>
                </a:solidFill>
                <a:latin typeface="Cambria"/>
              </a:rPr>
              <a:t>Esquema del sistema d'autenticació</a:t>
            </a:r>
          </a:p>
        </p:txBody>
      </p:sp>
      <p:pic>
        <p:nvPicPr>
          <p:cNvPr id="4" name="Picture 3" descr="fig31_esquema_autenticac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828800"/>
            <a:ext cx="7772400" cy="39355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47211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i="1" sz="1300">
                <a:solidFill>
                  <a:srgbClr val="5B6B77"/>
                </a:solidFill>
              </a:rPr>
              <a:t>Figura 3.1 — Esquema del sistema d'autenticació per a l'entrada al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B6B77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VOCABULARI CLAU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Objectes, subjectes i drets d'accés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07899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68680" y="1943100"/>
            <a:ext cx="731520" cy="73152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6" name="Image 0" descr="/home/claude/pptx_build/icons/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12598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28800" y="19202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Objecte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393192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recurs que té l'accés controlat: un fitxer, un directori, un registre...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2971800"/>
            <a:ext cx="107899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868680" y="3086100"/>
            <a:ext cx="731520" cy="73152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1" name="Image 1" descr="/home/claude/pptx_build/icons/user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326898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828800" y="30632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Subjecte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931920" y="3063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vol accedir a l'objecte: normalment, un usuari (a través d'un procés).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4251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classes de subjecte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035040" y="4251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drets d'accés possibles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48640" y="4663440"/>
            <a:ext cx="5120640" cy="1417320"/>
          </a:xfrm>
          <a:prstGeom prst="roundRect">
            <a:avLst>
              <a:gd name="adj" fmla="val 6452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17" name="Text 13"/>
          <p:cNvSpPr txBox="1"/>
          <p:nvPr/>
        </p:nvSpPr>
        <p:spPr>
          <a:xfrm>
            <a:off x="822960" y="48006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Propietari — el creador del recurs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 — usuaris amb privilegis compartits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Altres — la resta d'usuaris del sistema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035040" y="4663440"/>
            <a:ext cx="5120640" cy="1417320"/>
          </a:xfrm>
          <a:prstGeom prst="roundRect">
            <a:avLst>
              <a:gd name="adj" fmla="val 6452"/>
            </a:avLst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19" name="Text 15"/>
          <p:cNvSpPr txBox="1"/>
          <p:nvPr/>
        </p:nvSpPr>
        <p:spPr>
          <a:xfrm>
            <a:off x="6309360" y="48006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· Escriptura · Execució · Esborrament · Creació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D'ACCÉS DISCRECIONAL (DAC)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matriu de control d'accés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= subjectes. Columnes = objectes. Cada cel·la indica els drets que té aquell subjecte sobre aquell objecte.</a:t>
            </a:r>
            <a:endParaRPr lang="en-US" sz="14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10789920" cy="1737360"/>
        </p:xfrm>
        <a:graphic>
          <a:graphicData uri="http://schemas.openxmlformats.org/drawingml/2006/table">
            <a:tbl>
              <a:tblPr/>
              <a:tblGrid>
                <a:gridCol w="2103120"/>
                <a:gridCol w="3200400"/>
                <a:gridCol w="3200400"/>
                <a:gridCol w="2286000"/>
              </a:tblGrid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Subjecte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/home/albert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/home/berta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/etc/passwd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Albert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Lectura, escriptura, cd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Lectura, escriptura, cd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Lectura, escriptura, cd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Lectura, escriptura, cd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Lectura, escriptura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251960"/>
            <a:ext cx="5120640" cy="1508760"/>
          </a:xfrm>
          <a:prstGeom prst="roundRect">
            <a:avLst>
              <a:gd name="adj" fmla="val 6061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822960" y="4389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Llistes de control d'accés (ACL)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782312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descompon la matriu per columnes: cada objecte porta la llista de qui hi pot accedir. Windows funciona així.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26480" y="4251960"/>
            <a:ext cx="5120640" cy="1508760"/>
          </a:xfrm>
          <a:prstGeom prst="roundRect">
            <a:avLst>
              <a:gd name="adj" fmla="val 6061"/>
            </a:avLst>
          </a:prstGeom>
          <a:solidFill>
            <a:srgbClr val="F2A541"/>
          </a:solidFill>
          <a:ln/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400800" y="4389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Capacitats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00800" y="4782312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2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descompon la matriu per files: cada subjecte porta la llista del que pot fer. Linux/UNIX combinen ambdós sistemes.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mal ús de contrasenyes pot fer molt mal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120640" cy="3657600"/>
          </a:xfrm>
          <a:prstGeom prst="roundRect">
            <a:avLst>
              <a:gd name="adj" fmla="val 3000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2560320" y="2651760"/>
            <a:ext cx="1097280" cy="1097280"/>
          </a:xfrm>
          <a:prstGeom prst="ellipse">
            <a:avLst/>
          </a:prstGeom>
          <a:solidFill>
            <a:srgbClr val="D64545"/>
          </a:solidFill>
          <a:ln/>
        </p:spPr>
        <p:txBody>
          <a:bodyPr/>
          <a:p/>
        </p:txBody>
      </p:sp>
      <p:pic>
        <p:nvPicPr>
          <p:cNvPr id="7" name="Image 0" descr="/home/claude/pptx_build/icons/chart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4640" y="2926080"/>
            <a:ext cx="548640" cy="5486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22960" y="3886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2002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29768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periodista es va fer famosa per aconseguir accés al compte de correu de Saddam Hussein.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492240" y="2286000"/>
            <a:ext cx="5120640" cy="3657600"/>
          </a:xfrm>
          <a:prstGeom prst="roundRect">
            <a:avLst>
              <a:gd name="adj" fmla="val 3000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8503920" y="2651760"/>
            <a:ext cx="1097280" cy="109728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2" name="Image 1" descr="/home/claude/pptx_build/icons/k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92608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766560" y="3886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 pirateria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812280" y="429768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 van caldre grans coneixements tècnics. El mal ús de les contrasenyes és una de les 10 amenaces més habituals.</a:t>
            </a:r>
            <a:endParaRPr lang="en-US" sz="1450" dirty="0"/>
          </a:p>
        </p:txBody>
      </p:sp>
      <p:sp>
        <p:nvSpPr>
          <p:cNvPr id="15" name="Text 11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 DE CONTRASENYES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Febles vs. robustes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120640" cy="374904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05840" y="2286000"/>
            <a:ext cx="1005840" cy="1005840"/>
          </a:xfrm>
          <a:prstGeom prst="ellipse">
            <a:avLst/>
          </a:prstGeom>
          <a:solidFill>
            <a:srgbClr val="D64545"/>
          </a:solidFill>
          <a:ln/>
        </p:spPr>
        <p:txBody>
          <a:bodyPr/>
          <a:p/>
        </p:txBody>
      </p:sp>
      <p:pic>
        <p:nvPicPr>
          <p:cNvPr id="6" name="Image 0" descr="/home/claude/pptx_build/icons/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253746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40280" y="2468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Febles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74904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Menys de 10 caràcters</a:t>
            </a:r>
            <a:endParaRPr lang="en-US" sz="14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paraula de diccionari</a:t>
            </a:r>
            <a:endParaRPr lang="en-US" sz="14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 de familiar, mascota...</a:t>
            </a:r>
            <a:endParaRPr lang="en-US" sz="14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patró: 1234, qwerty...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26480" y="1965960"/>
            <a:ext cx="5120640" cy="374904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83680" y="2286000"/>
            <a:ext cx="1005840" cy="100584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11" name="Image 1" descr="/home/claude/pptx_build/icons/check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140" y="2537460"/>
            <a:ext cx="502920" cy="5029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818120" y="2468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Robustes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6492240" y="374904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Majúscules i minúscules</a:t>
            </a:r>
            <a:endParaRPr lang="en-US" sz="14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+ números + alfanumèrics</a:t>
            </a:r>
            <a:endParaRPr lang="en-US" sz="14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 10 caràcters</a:t>
            </a:r>
            <a:endParaRPr lang="en-US" sz="14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 relació amb dades personals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TRUC PRÀCTIC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Robustes... i fàcils de recordar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0607040" cy="1051560"/>
          </a:xfrm>
          <a:prstGeom prst="roundRect">
            <a:avLst>
              <a:gd name="adj" fmla="val 8696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1965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Pensa una frase fàcil de recordar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“Això és una manera de recordar una contrasenya”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063240"/>
            <a:ext cx="10607040" cy="1051560"/>
          </a:xfrm>
          <a:prstGeom prst="roundRect">
            <a:avLst>
              <a:gd name="adj" fmla="val 8696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22960" y="32004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Agafa la inicial de cada paraula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5661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é · u · m · d · r · u · c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4297680"/>
            <a:ext cx="10607040" cy="1051560"/>
          </a:xfrm>
          <a:prstGeom prst="roundRect">
            <a:avLst>
              <a:gd name="adj" fmla="val 8696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22960" y="44348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Canvia “una” per “1” i afegeix un símbol final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800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Ae1MdR1c!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778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Resultat: una contrasenya de 9 caràcters, amb majúscules, minúscules, números i símbols, i que tu pots reconstruir mentalment en 2 segons.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MATEMÀTICA (I POLÍTICA) DE LES CONTRASENYES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6242E"/>
                </a:solidFill>
                <a:latin typeface="Cambria"/>
              </a:rPr>
              <a:t>La longitud importa més que la complexitat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6858000" cy="2331720"/>
          </a:xfrm>
          <a:prstGeom prst="roundRect">
            <a:avLst/>
          </a:prstGeom>
          <a:solidFill>
            <a:srgbClr val="0B1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6309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300">
                <a:solidFill>
                  <a:srgbClr val="F2A541"/>
                </a:solidFill>
              </a:defRPr>
            </a:pPr>
            <a:r>
              <a:rPr sz="1300" b="1">
                <a:solidFill>
                  <a:srgbClr val="FFFFFF"/>
                </a:solidFill>
                <a:latin typeface="Calibri"/>
              </a:rPr>
              <a:t>8 caràcters, només minúscules (26 símbols):</a:t>
            </a:r>
          </a:p>
          <a:p>
            <a:pPr algn="l">
              <a:lnSpc>
                <a:spcPct val="105000"/>
              </a:lnSpc>
              <a:defRPr sz="1500">
                <a:solidFill>
                  <a:srgbClr val="D7E4EE"/>
                </a:solidFill>
                <a:latin typeface="Courier New"/>
              </a:defRPr>
            </a:pPr>
            <a:r>
              <a:rPr sz="1300" b="0">
                <a:solidFill>
                  <a:srgbClr val="FFFFFF"/>
                </a:solidFill>
                <a:latin typeface="Calibri"/>
              </a:rPr>
              <a:t>26⁸ ≈ 209 milions de combinacions possibles</a:t>
            </a:r>
          </a:p>
          <a:p>
            <a:pPr algn="l">
              <a:lnSpc>
                <a:spcPct val="105000"/>
              </a:lnSpc>
              <a:defRPr sz="1300">
                <a:solidFill>
                  <a:srgbClr val="F2A541"/>
                </a:solidFill>
              </a:defRPr>
            </a:pPr>
            <a:r>
              <a:rPr sz="1300" b="1">
                <a:solidFill>
                  <a:srgbClr val="FFFFFF"/>
                </a:solidFill>
                <a:latin typeface="Calibri"/>
              </a:rPr>
              <a:t>8 caràcters amb majúscules i minúscules (52 símbols):</a:t>
            </a:r>
          </a:p>
          <a:p>
            <a:pPr algn="l">
              <a:lnSpc>
                <a:spcPct val="105000"/>
              </a:lnSpc>
              <a:defRPr sz="1500">
                <a:solidFill>
                  <a:srgbClr val="D7E4EE"/>
                </a:solidFill>
                <a:latin typeface="Courier New"/>
              </a:defRPr>
            </a:pPr>
            <a:r>
              <a:rPr sz="1300" b="0">
                <a:solidFill>
                  <a:srgbClr val="FFFFFF"/>
                </a:solidFill>
                <a:latin typeface="Calibri"/>
              </a:rPr>
              <a:t>52⁸ ≈ 53,5 bilions de combinacions possibles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37560"/>
            <a:ext cx="6309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CADCE8"/>
                </a:solidFill>
                <a:latin typeface="Calibri"/>
              </a:rPr>
              <a:t>Cada caràcter addicional MULTIPLICA les combinacions: allargar la contrasenya és més eficaç que complicar-la.</a:t>
            </a:r>
          </a:p>
        </p:txBody>
      </p:sp>
      <p:pic>
        <p:nvPicPr>
          <p:cNvPr id="7" name="Picture 6" descr="password_streng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600200"/>
            <a:ext cx="3249455" cy="2103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0" y="370332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1">
                <a:solidFill>
                  <a:srgbClr val="5B6B77"/>
                </a:solidFill>
                <a:latin typeface="Calibri"/>
              </a:rPr>
              <a:t>La longitud és el factor que més pesa en la fortalesa real d'una contrasenya.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242E"/>
                </a:solidFill>
                <a:latin typeface="Calibri"/>
              </a:rPr>
              <a:t>CADUCITAT, BLOQUEIG I HISTORIAL: EL CONSELL HA CANVIAT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572000"/>
            <a:ext cx="1078992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709160"/>
            <a:ext cx="10241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5B6B77"/>
                </a:solidFill>
                <a:latin typeface="Calibri"/>
              </a:rPr>
              <a:t>Els experts (SANS Institute) ja NO recomanen forçar canvis periòdics sense motiu: obliga a triar contrasenyes previsibles (Estiu2024! → Estiu2025!...).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5B6B77"/>
                </a:solidFill>
                <a:latin typeface="Calibri"/>
              </a:rPr>
              <a:t>Bloqueig de compte després de diversos intents fallits, i historial de contrasenyes (no permetre repetir les últimes X), continuen sent útils.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SOTA EL CAPÓ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6242E"/>
                </a:solidFill>
                <a:latin typeface="Cambria"/>
              </a:rPr>
              <a:t>Emmagatzematge de contrasenyes: hash i 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B6B77"/>
                </a:solidFill>
                <a:latin typeface="Calibri"/>
              </a:rPr>
              <a:t>Un sistema segur mai desa la contrasenya en text pla: en desa un HASH (una empremta irreversible) barrejat amb una SAL aleatòria (en anglès, salt), per evitar que dues contrasenyes iguals generin el mateix resultat.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48840"/>
            <a:ext cx="10789920" cy="1600200"/>
          </a:xfrm>
          <a:prstGeom prst="roundRect">
            <a:avLst/>
          </a:prstGeom>
          <a:solidFill>
            <a:srgbClr val="0B1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mbria"/>
              </a:rPr>
              <a:t>/etc/shadow  (Linux)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0604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  <a:latin typeface="Courier New"/>
              </a:rPr>
              <a:t>joan:$6$aB3dK9fZ$Qw8..(hash SHA-512).. :19723:0:99999:7:::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0896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CE8"/>
                </a:solidFill>
                <a:latin typeface="Courier New"/>
              </a:rPr>
              <a:t>$6 = algorisme (SHA-512)     ·     aB3dK9fZ = sal aleatòria     ·     la resta = resultat del hash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77639"/>
            <a:ext cx="51206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4572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500">
                <a:latin typeface="Cambria"/>
              </a:defRPr>
            </a:pPr>
            <a:r>
              <a:rPr sz="1300" b="1">
                <a:solidFill>
                  <a:srgbClr val="16242E"/>
                </a:solidFill>
                <a:latin typeface="Calibri"/>
              </a:rPr>
              <a:t>A Windows</a:t>
            </a:r>
          </a:p>
          <a:p>
            <a:pPr algn="l">
              <a:lnSpc>
                <a:spcPct val="105000"/>
              </a:lnSpc>
              <a:defRPr sz="1200">
                <a:solidFill>
                  <a:srgbClr val="5B6B77"/>
                </a:solidFill>
              </a:defRPr>
            </a:pPr>
            <a:r>
              <a:rPr sz="1300" b="0">
                <a:solidFill>
                  <a:srgbClr val="16242E"/>
                </a:solidFill>
                <a:latin typeface="Calibri"/>
              </a:rPr>
              <a:t>Els hashos es desen al fitxer SAM amb l'algorisme NTLM. Eines com Ophcrack poden extreure'ls si el disc no està xifrat amb BitLocker.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59" y="3977639"/>
            <a:ext cx="51206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79" y="409651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6242E"/>
                </a:solidFill>
                <a:latin typeface="Cambria"/>
              </a:rPr>
              <a:t>Els camps de /etc/shadow (separats per ":")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126479" y="4425696"/>
          <a:ext cx="4572000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3154680"/>
              </a:tblGrid>
              <a:tr h="20345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2A541"/>
                          </a:solidFill>
                          <a:latin typeface="Cambria"/>
                        </a:rPr>
                        <a:t>Valor</a:t>
                      </a:r>
                    </a:p>
                  </a:txBody>
                  <a:tcPr marL="54864" marR="54864" marT="18288" marB="18288" anchor="ctr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2A541"/>
                          </a:solidFill>
                          <a:latin typeface="Calibri"/>
                        </a:rPr>
                        <a:t>Significat</a:t>
                      </a:r>
                    </a:p>
                  </a:txBody>
                  <a:tcPr marL="54864" marR="54864" marT="18288" marB="18288" anchor="ctr">
                    <a:solidFill>
                      <a:srgbClr val="F4F7F9"/>
                    </a:solidFill>
                  </a:tcPr>
                </a:tc>
              </a:tr>
              <a:tr h="20345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242E"/>
                          </a:solidFill>
                          <a:latin typeface="Courier New"/>
                        </a:rPr>
                        <a:t>joan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5B6B77"/>
                          </a:solidFill>
                          <a:latin typeface="Calibri"/>
                        </a:rPr>
                        <a:t>Nom d'usuari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0345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242E"/>
                          </a:solidFill>
                          <a:latin typeface="Courier New"/>
                        </a:rPr>
                        <a:t>$6$aB3dK9fZ$...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5B6B77"/>
                          </a:solidFill>
                          <a:latin typeface="Calibri"/>
                        </a:rPr>
                        <a:t>Contrasenya xifrada (algorisme + sal + hash)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0345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242E"/>
                          </a:solidFill>
                          <a:latin typeface="Courier New"/>
                        </a:rPr>
                        <a:t>19723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5B6B77"/>
                          </a:solidFill>
                          <a:latin typeface="Calibri"/>
                        </a:rPr>
                        <a:t>Dies des de l'1/1/1970 del darrer canvi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0345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242E"/>
                          </a:solidFill>
                          <a:latin typeface="Courier New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5B6B77"/>
                          </a:solidFill>
                          <a:latin typeface="Calibri"/>
                        </a:rPr>
                        <a:t>Dies mínims abans de poder tornar-la a canviar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0345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242E"/>
                          </a:solidFill>
                          <a:latin typeface="Courier New"/>
                        </a:rPr>
                        <a:t>99999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5B6B77"/>
                          </a:solidFill>
                          <a:latin typeface="Calibri"/>
                        </a:rPr>
                        <a:t>Dies màxims abans que calgui canviar-la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0345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242E"/>
                          </a:solidFill>
                          <a:latin typeface="Courier New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5B6B77"/>
                          </a:solidFill>
                          <a:latin typeface="Calibri"/>
                        </a:rPr>
                        <a:t>Dies d'avís abans que caduqui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0345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242E"/>
                          </a:solidFill>
                          <a:latin typeface="Courier New"/>
                        </a:rPr>
                        <a:t>(buits)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5B6B77"/>
                          </a:solidFill>
                          <a:latin typeface="Calibri"/>
                        </a:rPr>
                        <a:t>Inactivitat, caducitat del compte i un camp reservat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 DE CONTRASENYES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contrasenya robusta... mal protegida no serveix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51560" y="2697480"/>
            <a:ext cx="1737360" cy="1737360"/>
          </a:xfrm>
          <a:prstGeom prst="ellipse">
            <a:avLst/>
          </a:prstGeom>
          <a:solidFill>
            <a:srgbClr val="D64545"/>
          </a:solidFill>
          <a:ln/>
        </p:spPr>
        <p:txBody>
          <a:bodyPr/>
          <a:p/>
        </p:txBody>
      </p:sp>
      <p:pic>
        <p:nvPicPr>
          <p:cNvPr id="5" name="Image 0" descr="/home/claude/pptx_build/icons/usersecr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5900" y="3131820"/>
            <a:ext cx="868680" cy="868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566160" y="1783080"/>
            <a:ext cx="758952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3840480" y="192024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Enginyeria social: l'atac més comú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3840480" y="233172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atacant truca fent-se passar per l'administrador de sistemes i demana la contrasenya. Com que l'usuari no el coneix en persona, se la dona sense sospitar res.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566160" y="3520440"/>
            <a:ext cx="7589520" cy="2468880"/>
          </a:xfrm>
          <a:prstGeom prst="roundRect">
            <a:avLst>
              <a:gd name="adj" fmla="val 3704"/>
            </a:avLst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3840480" y="365760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Normes bàsiques de protecció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4114800" y="4069080"/>
            <a:ext cx="6766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dir-la mai per telèfon ni per correu electrònic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dir-la a companys, encara que siguin superiors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apuntar-la mai en un paper ni un adhesiu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Canviar-la com a mínim cada sis mesos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HO SABIES?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6242E"/>
                </a:solidFill>
                <a:latin typeface="Cambria"/>
              </a:rPr>
              <a:t>Tècniques d'atac... i quan surten a les notícies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3410712" cy="1280160"/>
          </a:xfrm>
          <a:prstGeom prst="roundRect">
            <a:avLst/>
          </a:prstGeom>
          <a:solidFill>
            <a:srgbClr val="3E6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18488"/>
            <a:ext cx="30449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400">
                <a:latin typeface="Cambria"/>
              </a:defRPr>
            </a:pPr>
            <a:r>
              <a:rPr sz="1100" b="1">
                <a:solidFill>
                  <a:srgbClr val="FFFFFF"/>
                </a:solidFill>
                <a:latin typeface="Calibri"/>
              </a:rPr>
              <a:t>Força bruta</a:t>
            </a:r>
          </a:p>
          <a:p>
            <a:pPr algn="l">
              <a:lnSpc>
                <a:spcPct val="105000"/>
              </a:lnSpc>
              <a:defRPr sz="1100">
                <a:solidFill>
                  <a:srgbClr val="D7E4EE"/>
                </a:solidFill>
              </a:defRPr>
            </a:pPr>
            <a:r>
              <a:rPr sz="1100" b="0">
                <a:solidFill>
                  <a:srgbClr val="FFFFFF"/>
                </a:solidFill>
                <a:latin typeface="Calibri"/>
              </a:rPr>
              <a:t>Prova totes les combinacions possibles.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42232" y="1508760"/>
            <a:ext cx="3410712" cy="1280160"/>
          </a:xfrm>
          <a:prstGeom prst="roundRect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25112" y="1618488"/>
            <a:ext cx="30449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400">
                <a:latin typeface="Cambria"/>
              </a:defRPr>
            </a:pPr>
            <a:r>
              <a:rPr sz="1100" b="1">
                <a:solidFill>
                  <a:srgbClr val="3A2E12"/>
                </a:solidFill>
                <a:latin typeface="Calibri"/>
              </a:rPr>
              <a:t>Diccionari</a:t>
            </a:r>
          </a:p>
          <a:p>
            <a:pPr algn="l">
              <a:lnSpc>
                <a:spcPct val="105000"/>
              </a:lnSpc>
              <a:defRPr sz="1100">
                <a:solidFill>
                  <a:srgbClr val="3A2E12"/>
                </a:solidFill>
              </a:defRPr>
            </a:pPr>
            <a:r>
              <a:rPr sz="1100" b="0">
                <a:solidFill>
                  <a:srgbClr val="3A2E12"/>
                </a:solidFill>
                <a:latin typeface="Calibri"/>
              </a:rPr>
              <a:t>Prova paraules i contrasenyes comunes (p. ex. llista RockYou).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35824" y="1508760"/>
            <a:ext cx="3410712" cy="1280160"/>
          </a:xfrm>
          <a:prstGeom prst="roundRect">
            <a:avLst/>
          </a:prstGeom>
          <a:solidFill>
            <a:srgbClr val="3E6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18704" y="1618488"/>
            <a:ext cx="30449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400">
                <a:latin typeface="Cambria"/>
              </a:defRPr>
            </a:pPr>
            <a:r>
              <a:rPr sz="1100" b="1">
                <a:solidFill>
                  <a:srgbClr val="FFFFFF"/>
                </a:solidFill>
                <a:latin typeface="Calibri"/>
              </a:rPr>
              <a:t>Rainbow tables</a:t>
            </a:r>
          </a:p>
          <a:p>
            <a:pPr algn="l">
              <a:lnSpc>
                <a:spcPct val="105000"/>
              </a:lnSpc>
              <a:defRPr sz="1100">
                <a:solidFill>
                  <a:srgbClr val="D7E4EE"/>
                </a:solidFill>
              </a:defRPr>
            </a:pPr>
            <a:r>
              <a:rPr sz="1100" b="0">
                <a:solidFill>
                  <a:srgbClr val="FFFFFF"/>
                </a:solidFill>
                <a:latin typeface="Calibri"/>
              </a:rPr>
              <a:t>Taules de hashos precalculats per estalviar temps.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62072"/>
            <a:ext cx="10789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B6B77"/>
                </a:solidFill>
                <a:latin typeface="Calibri"/>
              </a:rPr>
              <a:t>Eines reals: John the Ripper · Ophcrack · Medusa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08960"/>
            <a:ext cx="10789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B6B77"/>
                </a:solidFill>
                <a:latin typeface="Calibri"/>
              </a:rPr>
              <a:t>Llista RockYou (ús educatiu): weakpass.com/wordlists/rockyou.txt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29000"/>
            <a:ext cx="6675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242E"/>
                </a:solidFill>
                <a:latin typeface="Calibri"/>
              </a:rPr>
              <a:t>DOS CASOS REALS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94760"/>
            <a:ext cx="6675120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931920"/>
            <a:ext cx="6126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>
                <a:solidFill>
                  <a:srgbClr val="F2A541"/>
                </a:solidFill>
              </a:defRPr>
            </a:pPr>
            <a:r>
              <a:rPr sz="1250" b="1">
                <a:solidFill>
                  <a:srgbClr val="16242E"/>
                </a:solidFill>
                <a:latin typeface="Calibri"/>
              </a:rPr>
              <a:t>2014</a:t>
            </a:r>
          </a:p>
          <a:p>
            <a:pPr algn="l">
              <a:lnSpc>
                <a:spcPct val="105000"/>
              </a:lnSpc>
            </a:pPr>
            <a:r>
              <a:rPr sz="1250" b="0">
                <a:solidFill>
                  <a:srgbClr val="16242E"/>
                </a:solidFill>
                <a:latin typeface="Calibri"/>
              </a:rPr>
              <a:t>Es va clonar l'empremta digital d'una ministra alemanya a partir de fotografies d'alta resolució de les seves mans en una roda de premsa.</a:t>
            </a:r>
          </a:p>
          <a:p>
            <a:pPr algn="l">
              <a:lnSpc>
                <a:spcPct val="105000"/>
              </a:lnSpc>
              <a:defRPr>
                <a:solidFill>
                  <a:srgbClr val="F2A541"/>
                </a:solidFill>
              </a:defRPr>
            </a:pPr>
            <a:r>
              <a:rPr sz="1250" b="1">
                <a:solidFill>
                  <a:srgbClr val="16242E"/>
                </a:solidFill>
                <a:latin typeface="Calibri"/>
              </a:rPr>
              <a:t>2015 — Filtració d'Ashley Madison</a:t>
            </a:r>
          </a:p>
          <a:p>
            <a:pPr algn="l">
              <a:lnSpc>
                <a:spcPct val="105000"/>
              </a:lnSpc>
            </a:pPr>
            <a:r>
              <a:rPr sz="1250" b="0">
                <a:solidFill>
                  <a:srgbClr val="16242E"/>
                </a:solidFill>
                <a:latin typeface="Calibri"/>
              </a:rPr>
              <a:t>Milions de contrasenyes filtrades van resultar reutilitzades d'altres serveis: un sol atac va comprometre comptes en desenes d'altres llocs web.</a:t>
            </a:r>
          </a:p>
        </p:txBody>
      </p:sp>
      <p:pic>
        <p:nvPicPr>
          <p:cNvPr id="15" name="Picture 14" descr="WorstPasswo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3794760"/>
            <a:ext cx="4206240" cy="197167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60920" y="59893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1">
                <a:solidFill>
                  <a:srgbClr val="5B6B77"/>
                </a:solidFill>
                <a:latin typeface="Calibri"/>
              </a:rPr>
              <a:t>Les contrasenyes més utilitzades... i més fàcils d'endevinar.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2A541"/>
                </a:solidFill>
                <a:latin typeface="Calibri"/>
              </a:rPr>
              <a:t>HO SABIES?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42E"/>
                </a:solidFill>
                <a:latin typeface="Cambria"/>
              </a:rPr>
              <a:t>Protegir les contrasenyes</a:t>
            </a:r>
          </a:p>
        </p:txBody>
      </p:sp>
      <p:pic>
        <p:nvPicPr>
          <p:cNvPr id="4" name="Picture 3" descr="hawaii_postit_passw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828800"/>
            <a:ext cx="7772400" cy="34480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59694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i="1" sz="1300">
                <a:solidFill>
                  <a:srgbClr val="5B6B77"/>
                </a:solidFill>
              </a:rPr>
              <a:t>Cas real (2018): un operador del centre d'emergències de Hawaii tenia la contrasenya del sistema apuntada en un post-it, ben visible al seu lloc de treball.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B6B77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LA RECOMANACIÓ PRÀCTICA NÚMERO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6242E"/>
                </a:solidFill>
                <a:latin typeface="Cambria"/>
              </a:rPr>
              <a:t>Gestors de contrasenyes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B6B77"/>
                </a:solidFill>
                <a:latin typeface="Calibri"/>
              </a:rPr>
              <a:t>Un gestor de contrasenyes genera, xifra i recorda una contrasenya diferent i robusta per a cada servei. Només cal recordar-ne una: la mestra.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40280"/>
            <a:ext cx="2583180" cy="1737360"/>
          </a:xfrm>
          <a:prstGeom prst="roundRect">
            <a:avLst/>
          </a:prstGeom>
          <a:solidFill>
            <a:srgbClr val="3E6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22174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500">
                <a:latin typeface="Cambria"/>
              </a:defRPr>
            </a:pPr>
            <a:r>
              <a:rPr sz="1100" b="1">
                <a:solidFill>
                  <a:srgbClr val="FFFFFF"/>
                </a:solidFill>
                <a:latin typeface="Calibri"/>
              </a:rPr>
              <a:t>Bitwarden</a:t>
            </a:r>
          </a:p>
          <a:p>
            <a:pPr algn="l">
              <a:lnSpc>
                <a:spcPct val="105000"/>
              </a:lnSpc>
              <a:defRPr sz="1100">
                <a:solidFill>
                  <a:srgbClr val="D7E4EE"/>
                </a:solidFill>
              </a:defRPr>
            </a:pPr>
            <a:r>
              <a:rPr sz="1100" b="0">
                <a:solidFill>
                  <a:srgbClr val="FFFFFF"/>
                </a:solidFill>
                <a:latin typeface="Calibri"/>
              </a:rPr>
              <a:t>Codi obert i gratuït.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68980" y="2240280"/>
            <a:ext cx="2583180" cy="1737360"/>
          </a:xfrm>
          <a:prstGeom prst="roundRect">
            <a:avLst/>
          </a:prstGeom>
          <a:solidFill>
            <a:srgbClr val="3E6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51860" y="2423160"/>
            <a:ext cx="22174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500">
                <a:latin typeface="Cambria"/>
              </a:defRPr>
            </a:pPr>
            <a:r>
              <a:rPr sz="1100" b="1">
                <a:solidFill>
                  <a:srgbClr val="FFFFFF"/>
                </a:solidFill>
                <a:latin typeface="Calibri"/>
              </a:rPr>
              <a:t>KeePass</a:t>
            </a:r>
          </a:p>
          <a:p>
            <a:pPr algn="l">
              <a:lnSpc>
                <a:spcPct val="105000"/>
              </a:lnSpc>
              <a:defRPr sz="1100">
                <a:solidFill>
                  <a:srgbClr val="D7E4EE"/>
                </a:solidFill>
              </a:defRPr>
            </a:pPr>
            <a:r>
              <a:rPr sz="1100" b="0">
                <a:solidFill>
                  <a:srgbClr val="FFFFFF"/>
                </a:solidFill>
                <a:latin typeface="Calibri"/>
              </a:rPr>
              <a:t>Base de dades local, sense núvol.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9320" y="2240280"/>
            <a:ext cx="2583180" cy="1737360"/>
          </a:xfrm>
          <a:prstGeom prst="roundRect">
            <a:avLst/>
          </a:prstGeom>
          <a:solidFill>
            <a:srgbClr val="3E6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2200" y="2423160"/>
            <a:ext cx="22174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500">
                <a:latin typeface="Cambria"/>
              </a:defRPr>
            </a:pPr>
            <a:r>
              <a:rPr sz="1100" b="1">
                <a:solidFill>
                  <a:srgbClr val="FFFFFF"/>
                </a:solidFill>
                <a:latin typeface="Calibri"/>
              </a:rPr>
              <a:t>1Password</a:t>
            </a:r>
          </a:p>
          <a:p>
            <a:pPr algn="l">
              <a:lnSpc>
                <a:spcPct val="105000"/>
              </a:lnSpc>
              <a:defRPr sz="1100">
                <a:solidFill>
                  <a:srgbClr val="D7E4EE"/>
                </a:solidFill>
              </a:defRPr>
            </a:pPr>
            <a:r>
              <a:rPr sz="1100" b="0">
                <a:solidFill>
                  <a:srgbClr val="FFFFFF"/>
                </a:solidFill>
                <a:latin typeface="Calibri"/>
              </a:rPr>
              <a:t>Molt utilitzat en empreses.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09660" y="2240280"/>
            <a:ext cx="2583180" cy="1737360"/>
          </a:xfrm>
          <a:prstGeom prst="roundRect">
            <a:avLst/>
          </a:prstGeom>
          <a:solidFill>
            <a:srgbClr val="7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92540" y="2423160"/>
            <a:ext cx="22174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500">
                <a:latin typeface="Cambria"/>
              </a:defRPr>
            </a:pPr>
            <a:r>
              <a:rPr sz="1100" b="1">
                <a:solidFill>
                  <a:srgbClr val="FFFFFF"/>
                </a:solidFill>
                <a:latin typeface="Calibri"/>
              </a:rPr>
              <a:t>LastPass</a:t>
            </a:r>
          </a:p>
          <a:p>
            <a:pPr algn="l">
              <a:lnSpc>
                <a:spcPct val="105000"/>
              </a:lnSpc>
              <a:defRPr sz="1100">
                <a:solidFill>
                  <a:srgbClr val="D7E4EE"/>
                </a:solidFill>
              </a:defRPr>
            </a:pPr>
            <a:r>
              <a:rPr sz="1100" b="0">
                <a:solidFill>
                  <a:srgbClr val="FFFFFF"/>
                </a:solidFill>
                <a:latin typeface="Calibri"/>
              </a:rPr>
              <a:t>Ha patit filtracions greus: exemple del que NO ha de passar.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297680"/>
            <a:ext cx="1078992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480560"/>
            <a:ext cx="10241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400">
                <a:solidFill>
                  <a:srgbClr val="F2A541"/>
                </a:solidFill>
                <a:latin typeface="Cambria"/>
              </a:defRPr>
            </a:pPr>
            <a:r>
              <a:rPr sz="1300" b="1">
                <a:solidFill>
                  <a:srgbClr val="16242E"/>
                </a:solidFill>
                <a:latin typeface="Calibri"/>
              </a:rPr>
              <a:t>Sense un gestor, la gent reutilitza contrasenyes entre serveis</a:t>
            </a:r>
          </a:p>
          <a:p>
            <a:pPr algn="l">
              <a:lnSpc>
                <a:spcPct val="105000"/>
              </a:lnSpc>
              <a:defRPr sz="1250">
                <a:solidFill>
                  <a:srgbClr val="5B6B77"/>
                </a:solidFill>
              </a:defRPr>
            </a:pPr>
            <a:r>
              <a:rPr sz="1300" b="0">
                <a:solidFill>
                  <a:srgbClr val="16242E"/>
                </a:solidFill>
                <a:latin typeface="Calibri"/>
              </a:rPr>
              <a:t>És exactament el motiu pel qual una filtració com la d'Ashley Madison va acabar afectant comptes de correu, banca o feina de moltes altres persones.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CAL ANAR MÉS ENLLÀ DE LA CONTRASENYA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Sistemes biomètrics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1206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82980" y="221742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6" name="Image 0" descr="/home/claude/pptx_build/icons/finger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3010" y="2457450"/>
            <a:ext cx="480060" cy="4800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103120" y="20574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Basats en un atribut físic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2103120" y="25146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“Alguna cosa que l'usuari ÉS”: empremtes, iris, retina, palmell, cara...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26480" y="1828800"/>
            <a:ext cx="51206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60820" y="2217420"/>
            <a:ext cx="960120" cy="96012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1" name="Image 1" descr="/home/claude/pptx_build/icons/user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2457450"/>
            <a:ext cx="480060" cy="4800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680960" y="20574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Basats en el comportament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7680960" y="25146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“Alguna cosa que l'usuari FA”: signatura, forma d'escriure... poden canviar amb el temps.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13816" y="3977640"/>
            <a:ext cx="1965960" cy="1920240"/>
          </a:xfrm>
          <a:prstGeom prst="roundRect">
            <a:avLst>
              <a:gd name="adj" fmla="val 4762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1408176" y="4229100"/>
            <a:ext cx="777240" cy="77724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6" name="Image 2" descr="/home/claude/pptx_build/icons/fingerpri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2486" y="4423410"/>
            <a:ext cx="388620" cy="3886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256" y="51663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Empremtes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2962656" y="3977640"/>
            <a:ext cx="1965960" cy="1920240"/>
          </a:xfrm>
          <a:prstGeom prst="roundRect">
            <a:avLst>
              <a:gd name="adj" fmla="val 4762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19" name="Shape 14"/>
          <p:cNvSpPr/>
          <p:nvPr/>
        </p:nvSpPr>
        <p:spPr>
          <a:xfrm>
            <a:off x="3557016" y="4229100"/>
            <a:ext cx="777240" cy="77724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20" name="Image 3" descr="/home/claude/pptx_build/icons/han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1326" y="4423410"/>
            <a:ext cx="388620" cy="3886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3054096" y="51663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Palmell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5111496" y="3977640"/>
            <a:ext cx="1965960" cy="1920240"/>
          </a:xfrm>
          <a:prstGeom prst="roundRect">
            <a:avLst>
              <a:gd name="adj" fmla="val 4762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23" name="Shape 17"/>
          <p:cNvSpPr/>
          <p:nvPr/>
        </p:nvSpPr>
        <p:spPr>
          <a:xfrm>
            <a:off x="5705856" y="4229100"/>
            <a:ext cx="777240" cy="77724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24" name="Image 4" descr="/home/claude/pptx_build/icons/ey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0166" y="4423410"/>
            <a:ext cx="388620" cy="3886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202936" y="51663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Retina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7260336" y="3977640"/>
            <a:ext cx="1965960" cy="1920240"/>
          </a:xfrm>
          <a:prstGeom prst="roundRect">
            <a:avLst>
              <a:gd name="adj" fmla="val 4762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27" name="Shape 20"/>
          <p:cNvSpPr/>
          <p:nvPr/>
        </p:nvSpPr>
        <p:spPr>
          <a:xfrm>
            <a:off x="7854696" y="4229100"/>
            <a:ext cx="777240" cy="77724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28" name="Image 5" descr="/home/claude/pptx_build/icons/ey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9006" y="4423410"/>
            <a:ext cx="388620" cy="38862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351776" y="51663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Iris</a:t>
            </a:r>
            <a:endParaRPr lang="en-US" sz="1250" dirty="0"/>
          </a:p>
        </p:txBody>
      </p:sp>
      <p:sp>
        <p:nvSpPr>
          <p:cNvPr id="30" name="Shape 22"/>
          <p:cNvSpPr/>
          <p:nvPr/>
        </p:nvSpPr>
        <p:spPr>
          <a:xfrm>
            <a:off x="9409176" y="3977640"/>
            <a:ext cx="1965960" cy="1920240"/>
          </a:xfrm>
          <a:prstGeom prst="roundRect">
            <a:avLst>
              <a:gd name="adj" fmla="val 4762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31" name="Shape 23"/>
          <p:cNvSpPr/>
          <p:nvPr/>
        </p:nvSpPr>
        <p:spPr>
          <a:xfrm>
            <a:off x="10003536" y="4229100"/>
            <a:ext cx="777240" cy="77724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32" name="Image 6" descr="/home/claude/pptx_build/icons/usercirc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97846" y="4423410"/>
            <a:ext cx="388620" cy="38862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500616" y="51663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Facial</a:t>
            </a:r>
            <a:endParaRPr lang="en-US" sz="1250" dirty="0"/>
          </a:p>
        </p:txBody>
      </p:sp>
      <p:sp>
        <p:nvSpPr>
          <p:cNvPr id="34" name="Text 2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2A541"/>
                </a:solidFill>
                <a:latin typeface="Calibri"/>
              </a:rPr>
              <a:t>UN EXEMPLE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42E"/>
                </a:solidFill>
                <a:latin typeface="Cambria"/>
              </a:rPr>
              <a:t>Lector de retina: un sistema biomètric</a:t>
            </a:r>
          </a:p>
        </p:txBody>
      </p:sp>
      <p:pic>
        <p:nvPicPr>
          <p:cNvPr id="4" name="Picture 3" descr="foto_biometric_ret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5760" y="1828800"/>
            <a:ext cx="3840480" cy="35634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75141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i="1" sz="1300">
                <a:solidFill>
                  <a:srgbClr val="5B6B77"/>
                </a:solidFill>
              </a:rPr>
              <a:t>Els sistemes biomètrics basats en la lectura de la retina són una eina molt fiable com a mesura d'autenticació.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B6B77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SISTEMA ÉS INFAL·LIBLE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Falsos positius i falsos negatius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D64545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628900" y="2446020"/>
            <a:ext cx="960120" cy="9601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6" name="Image 0" descr="/home/claude/pptx_build/icons/usersecr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68930" y="2686050"/>
            <a:ext cx="480060" cy="4800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566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Fals positiu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02336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E1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ACCEPTA un impostor que hauria d'haver estat denegat.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26480" y="210312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8206740" y="2446020"/>
            <a:ext cx="960120" cy="96012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1" name="Image 1" descr="/home/claude/pptx_build/icons/do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6770" y="2686050"/>
            <a:ext cx="480060" cy="4800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400800" y="3566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Fals negatiu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6446520" y="402336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DENEGA l'accés a un usuari que hauria d'haver estat acceptat.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Els 3 factors d'autenticació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783080" y="2240280"/>
            <a:ext cx="914400" cy="91440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6" name="Image 0" descr="/home/claude/pptx_build/icons/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0" y="24688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33375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Alguna cosa que SAPS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840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contrasenya, un PIN... el més econòmic, però es pot esbrinar.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51960" y="192024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5486400" y="2240280"/>
            <a:ext cx="914400" cy="91440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1" name="Image 1" descr="/home/claude/pptx_build/icons/idc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246888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34840" y="33375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Alguna cosa que TENS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4480560" y="3840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clau, una targeta d'accés... es pot perdre o robar.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955280" y="192024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9189720" y="2240280"/>
            <a:ext cx="914400" cy="91440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16" name="Image 2" descr="/home/claude/pptx_build/icons/fingerpri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46888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138160" y="33375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Alguna cosa que ETS o FAS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8183880" y="3840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Empremta, retina, veu... els sistemes biomètrics.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4846320"/>
            <a:ext cx="10607040" cy="1143000"/>
          </a:xfrm>
          <a:prstGeom prst="roundRect">
            <a:avLst>
              <a:gd name="adj" fmla="val 8000"/>
            </a:avLst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20" name="Text 15"/>
          <p:cNvSpPr txBox="1"/>
          <p:nvPr/>
        </p:nvSpPr>
        <p:spPr>
          <a:xfrm>
            <a:off x="822960" y="4846320"/>
            <a:ext cx="10058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 multifactor: combina 2 o 3 factors (p. ex. contrasenya + targeta) per a un nivell de seguretat molt més alt.</a:t>
            </a:r>
            <a:endParaRPr lang="en-US" sz="1450" dirty="0"/>
          </a:p>
        </p:txBody>
      </p:sp>
      <p:sp>
        <p:nvSpPr>
          <p:cNvPr id="21" name="Text 16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EL FUTUR (JA AQUÍ)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6242E"/>
                </a:solidFill>
                <a:latin typeface="Cambria"/>
              </a:rPr>
              <a:t>Autenticació sense contrasenya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6309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B6B77"/>
                </a:solidFill>
                <a:latin typeface="Calibri"/>
              </a:rPr>
              <a:t>Els passkeys (estàndard FIDO2) eliminen la contrasenya. En el seu lloc, el dispositiu demostra la teva identitat amb criptografia de clau pública, desbloquejada amb el teu PIN, empremta o cara.
És el tercer factor d'autenticació ("alguna cosa que TENS") portat a l'extrem: connectes la clau i la toques, sense escriure res.</a:t>
            </a:r>
          </a:p>
        </p:txBody>
      </p:sp>
      <p:pic>
        <p:nvPicPr>
          <p:cNvPr id="5" name="Picture 4" descr="yubike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554480"/>
            <a:ext cx="2103120" cy="2103120"/>
          </a:xfrm>
          <a:prstGeom prst="rect">
            <a:avLst/>
          </a:prstGeom>
        </p:spPr>
      </p:pic>
      <p:pic>
        <p:nvPicPr>
          <p:cNvPr id="6" name="Picture 5" descr="google_tit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1554480"/>
            <a:ext cx="2103120" cy="15601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37947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B6B77"/>
                </a:solidFill>
                <a:latin typeface="Calibri"/>
              </a:rPr>
              <a:t>YubiKey i Google Titan Security Key: claus de seguretat físiques compatibles amb FIDO2.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77639"/>
            <a:ext cx="6309360" cy="2011680"/>
          </a:xfrm>
          <a:prstGeom prst="roundRect">
            <a:avLst/>
          </a:prstGeom>
          <a:solidFill>
            <a:srgbClr val="0B1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160520"/>
            <a:ext cx="5760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400">
                <a:solidFill>
                  <a:srgbClr val="F2A541"/>
                </a:solidFill>
                <a:latin typeface="Cambria"/>
              </a:defRPr>
            </a:pPr>
            <a:r>
              <a:rPr sz="1300" b="1">
                <a:solidFill>
                  <a:srgbClr val="FFFFFF"/>
                </a:solidFill>
                <a:latin typeface="Calibri"/>
              </a:rPr>
              <a:t>Per què no és com una targeta d'identificació?</a:t>
            </a:r>
          </a:p>
          <a:p>
            <a:pPr algn="l">
              <a:lnSpc>
                <a:spcPct val="105000"/>
              </a:lnSpc>
              <a:defRPr sz="1250">
                <a:solidFill>
                  <a:srgbClr val="D7E4EE"/>
                </a:solidFill>
              </a:defRPr>
            </a:pPr>
            <a:r>
              <a:rPr sz="1300" b="0">
                <a:solidFill>
                  <a:srgbClr val="FFFFFF"/>
                </a:solidFill>
                <a:latin typeface="Calibri"/>
              </a:rPr>
              <a:t>Una targeta clàssica repeteix sempre la mateixa dada: si te la clonen, ja la tenen. La clau del passkey mai surt del dispositiu i signa un repte diferent cada vegada, únic per a cada web: no es pot copiar ni reutilitzar en una web falsa (phishing).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AUTORITZACIÓ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Criteris per autoritzar l'accés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91540" y="2308860"/>
            <a:ext cx="868680" cy="86868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6" name="Image 0" descr="/home/claude/pptx_build/icons/user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2526030"/>
            <a:ext cx="434340" cy="4343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20240" y="2103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920240" y="25146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Segons la funció: un auditor només necessita accés de lectura.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26480" y="182880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469380" y="2308860"/>
            <a:ext cx="868680" cy="86868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1" name="Image 1" descr="/home/claude/pptx_build/icons/usersc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6550" y="2526030"/>
            <a:ext cx="434340" cy="4343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98080" y="2103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498080" y="25146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a un institut, “alumnat” i “professorat” tenen permisos diferents.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393192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891540" y="4411980"/>
            <a:ext cx="868680" cy="86868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16" name="Image 2" descr="/home/claude/pptx_build/icons/m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710" y="4629150"/>
            <a:ext cx="434340" cy="4343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920240" y="4206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Localització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1920240" y="461772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 (des d'on ets) o lògica (des de quina IP et connectes).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126480" y="393192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6469380" y="4411980"/>
            <a:ext cx="868680" cy="86868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21" name="Image 3" descr="/home/claude/pptx_build/icons/c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6550" y="4629150"/>
            <a:ext cx="434340" cy="4343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98080" y="4206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 d'accés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498080" y="461772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un servidor només accessible de 8h a 20h.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 PRÀCTICA: SISTEMES UNIX/LINUX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Llegint els permisos: rwx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0607040" cy="731520"/>
          </a:xfrm>
          <a:prstGeom prst="roundRect">
            <a:avLst>
              <a:gd name="adj" fmla="val 10000"/>
            </a:avLst>
          </a:prstGeom>
          <a:solidFill>
            <a:srgbClr val="0B1B29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17373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-rw-rw-r--  1  joan  profes   seguretat.doc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77240" y="2926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Usuari (joan)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3375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rw- → lectura i escriptura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51960" y="278892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F2A541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4480560" y="2926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 (profes)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80560" y="33375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2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rw- → lectura i escriptura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955280" y="278892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183880" y="2926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Altres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183880" y="33375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r-- → només lectura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4348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lectura (read) · w = escriptura (write) · x = execució (execution)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937760"/>
            <a:ext cx="10607040" cy="1051560"/>
          </a:xfrm>
          <a:prstGeom prst="roundRect">
            <a:avLst>
              <a:gd name="adj" fmla="val 8696"/>
            </a:avLst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2960" y="4937760"/>
            <a:ext cx="10058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 permís d'execució en un directori, ningú no hi pot entrar, encara que en tingui de lectura.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pic>
        <p:nvPicPr>
          <p:cNvPr id="19" name="Picture 18" descr="diagrama_rw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384048"/>
            <a:ext cx="1920240" cy="873817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 PRÀCTICA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ordres per gestionar permisos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0607040" cy="1234440"/>
          </a:xfrm>
          <a:prstGeom prst="roundRect">
            <a:avLst>
              <a:gd name="adj" fmla="val 7407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chmod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8775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Canvia els permisos (rwx)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874520"/>
            <a:ext cx="6126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chmod u=rwx freebsd.pdf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3291840"/>
            <a:ext cx="10607040" cy="1234440"/>
          </a:xfrm>
          <a:prstGeom prst="roundRect">
            <a:avLst>
              <a:gd name="adj" fmla="val 7407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822960" y="34290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chown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0050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Canvia l'usuari propietari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3291840"/>
            <a:ext cx="6126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chown joan qualificacions.doc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48640" y="4709160"/>
            <a:ext cx="10607040" cy="1234440"/>
          </a:xfrm>
          <a:prstGeom prst="roundRect">
            <a:avLst>
              <a:gd name="adj" fmla="val 7407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22960" y="48463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chgrp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42239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Canvia el grup propietari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4709160"/>
            <a:ext cx="6126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chgrp profes qualificacions.doc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Només l'administrador del sistema o el propietari del recurs poden fer aquests canvis.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DAC, MAC I RBAC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6242E"/>
                </a:solidFill>
                <a:latin typeface="Cambria"/>
              </a:rPr>
              <a:t>Els 3 models d'autorització... i els privilegis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3410712" cy="1920240"/>
          </a:xfrm>
          <a:prstGeom prst="roundRect">
            <a:avLst/>
          </a:prstGeom>
          <a:solidFill>
            <a:srgbClr val="0B1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19"/>
            <a:ext cx="304495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350">
                <a:latin typeface="Cambria"/>
              </a:defRPr>
            </a:pPr>
            <a:r>
              <a:rPr sz="1150" b="1">
                <a:solidFill>
                  <a:srgbClr val="FFFFFF"/>
                </a:solidFill>
                <a:latin typeface="Calibri"/>
              </a:rPr>
              <a:t>DAC — Control d'accés discrecional</a:t>
            </a:r>
          </a:p>
          <a:p>
            <a:pPr algn="l">
              <a:lnSpc>
                <a:spcPct val="105000"/>
              </a:lnSpc>
              <a:spcAft>
                <a:spcPts val="600"/>
              </a:spcAft>
              <a:defRPr i="1" sz="1050">
                <a:solidFill>
                  <a:srgbClr val="D7E4EE"/>
                </a:solidFill>
              </a:defRPr>
            </a:pPr>
            <a:r>
              <a:rPr sz="1150" b="0">
                <a:solidFill>
                  <a:srgbClr val="FFFFFF"/>
                </a:solidFill>
                <a:latin typeface="Calibri"/>
              </a:rPr>
              <a:t>(Discretionary Access Control)</a:t>
            </a:r>
          </a:p>
          <a:p>
            <a:pPr algn="l">
              <a:lnSpc>
                <a:spcPct val="105000"/>
              </a:lnSpc>
              <a:defRPr sz="1100">
                <a:solidFill>
                  <a:srgbClr val="D7E4EE"/>
                </a:solidFill>
              </a:defRPr>
            </a:pPr>
            <a:r>
              <a:rPr sz="1150" b="0">
                <a:solidFill>
                  <a:srgbClr val="FFFFFF"/>
                </a:solidFill>
                <a:latin typeface="Calibri"/>
              </a:rPr>
              <a:t>El propietari del recurs decideix qui hi té accés (p. ex. permisos rwx a Linux).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42232" y="1508760"/>
            <a:ext cx="3410712" cy="1920240"/>
          </a:xfrm>
          <a:prstGeom prst="roundRect">
            <a:avLst/>
          </a:prstGeom>
          <a:solidFill>
            <a:srgbClr val="3E6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25112" y="1645919"/>
            <a:ext cx="304495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350">
                <a:latin typeface="Cambria"/>
              </a:defRPr>
            </a:pPr>
            <a:r>
              <a:rPr sz="1150" b="1">
                <a:solidFill>
                  <a:srgbClr val="FFFFFF"/>
                </a:solidFill>
                <a:latin typeface="Calibri"/>
              </a:rPr>
              <a:t>MAC — Control d'accés obligatori</a:t>
            </a:r>
          </a:p>
          <a:p>
            <a:pPr algn="l">
              <a:lnSpc>
                <a:spcPct val="105000"/>
              </a:lnSpc>
              <a:spcAft>
                <a:spcPts val="600"/>
              </a:spcAft>
              <a:defRPr i="1" sz="1050">
                <a:solidFill>
                  <a:srgbClr val="D7E4EE"/>
                </a:solidFill>
              </a:defRPr>
            </a:pPr>
            <a:r>
              <a:rPr sz="1150" b="0">
                <a:solidFill>
                  <a:srgbClr val="FFFFFF"/>
                </a:solidFill>
                <a:latin typeface="Calibri"/>
              </a:rPr>
              <a:t>(Mandatory Access Control)</a:t>
            </a:r>
          </a:p>
          <a:p>
            <a:pPr algn="l">
              <a:lnSpc>
                <a:spcPct val="105000"/>
              </a:lnSpc>
              <a:defRPr sz="1100">
                <a:solidFill>
                  <a:srgbClr val="D7E4EE"/>
                </a:solidFill>
              </a:defRPr>
            </a:pPr>
            <a:r>
              <a:rPr sz="1150" b="0">
                <a:solidFill>
                  <a:srgbClr val="FFFFFF"/>
                </a:solidFill>
                <a:latin typeface="Calibri"/>
              </a:rPr>
              <a:t>Una autoritat central classifica els objectes per nivell (p. ex. "top secret").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35824" y="1508760"/>
            <a:ext cx="3410712" cy="1920240"/>
          </a:xfrm>
          <a:prstGeom prst="roundRect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18704" y="1645919"/>
            <a:ext cx="304495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350">
                <a:latin typeface="Cambria"/>
              </a:defRPr>
            </a:pPr>
            <a:r>
              <a:rPr sz="1150" b="1">
                <a:solidFill>
                  <a:srgbClr val="3A2E12"/>
                </a:solidFill>
                <a:latin typeface="Calibri"/>
              </a:rPr>
              <a:t>RBAC — Control d'accés basat en rols</a:t>
            </a:r>
          </a:p>
          <a:p>
            <a:pPr algn="l">
              <a:lnSpc>
                <a:spcPct val="105000"/>
              </a:lnSpc>
              <a:spcAft>
                <a:spcPts val="600"/>
              </a:spcAft>
              <a:defRPr i="1" sz="1050">
                <a:solidFill>
                  <a:srgbClr val="3A2E12"/>
                </a:solidFill>
              </a:defRPr>
            </a:pPr>
            <a:r>
              <a:rPr sz="1150" b="0">
                <a:solidFill>
                  <a:srgbClr val="3A2E12"/>
                </a:solidFill>
                <a:latin typeface="Calibri"/>
              </a:rPr>
              <a:t>(Role-Based Access Control)</a:t>
            </a:r>
          </a:p>
          <a:p>
            <a:pPr algn="l">
              <a:lnSpc>
                <a:spcPct val="105000"/>
              </a:lnSpc>
              <a:defRPr sz="1100">
                <a:solidFill>
                  <a:srgbClr val="3A2E12"/>
                </a:solidFill>
              </a:defRPr>
            </a:pPr>
            <a:r>
              <a:rPr sz="1150" b="0">
                <a:solidFill>
                  <a:srgbClr val="3A2E12"/>
                </a:solidFill>
                <a:latin typeface="Calibri"/>
              </a:rPr>
              <a:t>Els permisos es lliguen al ROL, no a la persona (p. ex. metge vs. administratiu).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02152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5B6B77"/>
                </a:solidFill>
                <a:latin typeface="Calibri"/>
              </a:rPr>
              <a:t>La pregunta clau: qui decideix? DAC → el propietari del recurs   ·   MAC → una autoritat central (etiquetes fixes)   ·   RBAC → el rol de l'usuari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840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242E"/>
                </a:solidFill>
                <a:latin typeface="Calibri"/>
              </a:rPr>
              <a:t>PRIVILEGIS VS. PERMISOS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251960"/>
            <a:ext cx="850392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407408"/>
            <a:ext cx="7955279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350">
                <a:solidFill>
                  <a:srgbClr val="F2A541"/>
                </a:solidFill>
                <a:latin typeface="Cambria"/>
              </a:defRPr>
            </a:pPr>
            <a:r>
              <a:rPr sz="1250" b="1">
                <a:solidFill>
                  <a:srgbClr val="16242E"/>
                </a:solidFill>
                <a:latin typeface="Calibri"/>
              </a:rPr>
              <a:t>Els permisos (rwx) apliquen sobre UN recurs concret.</a:t>
            </a:r>
          </a:p>
          <a:p>
            <a:pPr algn="l">
              <a:lnSpc>
                <a:spcPct val="105000"/>
              </a:lnSpc>
              <a:defRPr>
                <a:solidFill>
                  <a:srgbClr val="5B6B77"/>
                </a:solidFill>
              </a:defRPr>
            </a:pPr>
            <a:r>
              <a:rPr sz="1250" b="0">
                <a:solidFill>
                  <a:srgbClr val="16242E"/>
                </a:solidFill>
                <a:latin typeface="Calibri"/>
              </a:rPr>
              <a:t>Els privilegis són accions globals del sistema (aturar serveis, canviar l'hora...), reservats a root/Administrador (grups sudoers / Administradors). Fins i tot Windows 11 ja incorpora una ordre sudo.</a:t>
            </a:r>
          </a:p>
        </p:txBody>
      </p:sp>
      <p:pic>
        <p:nvPicPr>
          <p:cNvPr id="14" name="Picture 13" descr="sudo_j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4020" y="4389120"/>
            <a:ext cx="2057400" cy="170352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VIGILÀNCIA DEL SISTEMA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Registres, incidències i alarmes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12064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05840" y="2148840"/>
            <a:ext cx="914400" cy="91440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6" name="Image 0" descr="/home/claude/pptx_build/icons/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237744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148840" y="2240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Registres del SO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2918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Intents d'accés, rendiment, dispositius usats, bloquejos d'usuaris...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26480" y="1920240"/>
            <a:ext cx="512064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83680" y="2148840"/>
            <a:ext cx="914400" cy="91440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11" name="Image 1" descr="/home/claude/pptx_build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37744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726680" y="2240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Registres de seguretat</a:t>
            </a:r>
            <a:endParaRPr lang="en-US" sz="1550" dirty="0"/>
          </a:p>
        </p:txBody>
      </p:sp>
      <p:sp>
        <p:nvSpPr>
          <p:cNvPr id="13" name="Text 9"/>
          <p:cNvSpPr txBox="1"/>
          <p:nvPr/>
        </p:nvSpPr>
        <p:spPr>
          <a:xfrm>
            <a:off x="6446520" y="32918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Antivirus, tallafocs, encaminadors, servidors intermediaris (proxies)...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4434840"/>
            <a:ext cx="10607040" cy="1508760"/>
          </a:xfrm>
          <a:prstGeom prst="roundRect">
            <a:avLst>
              <a:gd name="adj" fmla="val 6061"/>
            </a:avLst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1005840" y="4736592"/>
            <a:ext cx="914400" cy="91440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6" name="Image 2" descr="/home/claude/pptx_build/icons/bul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4965192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2194560" y="4617720"/>
            <a:ext cx="8595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decrement molt accentuat del rendiment pot ser un indicador que hi ha un virus o un cavall de Troia treballant en segon pla.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2A541"/>
                </a:solidFill>
                <a:latin typeface="Calibri"/>
              </a:rPr>
              <a:t>FIGURA DE REFERÈNCIA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42E"/>
                </a:solidFill>
                <a:latin typeface="Cambria"/>
              </a:rPr>
              <a:t>Visor d'esdeveniments de Windows</a:t>
            </a:r>
          </a:p>
        </p:txBody>
      </p:sp>
      <p:pic>
        <p:nvPicPr>
          <p:cNvPr id="4" name="Picture 3" descr="fig32_visor_esdeveniments_wind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400" y="1828800"/>
            <a:ext cx="4974336" cy="3498993"/>
          </a:xfrm>
          <a:prstGeom prst="rect">
            <a:avLst/>
          </a:prstGeom>
        </p:spPr>
      </p:pic>
      <p:pic>
        <p:nvPicPr>
          <p:cNvPr id="5" name="Picture 4" descr="foto_encaminad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5344" y="2889128"/>
            <a:ext cx="2048256" cy="137833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464953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i="1" sz="1300">
                <a:solidFill>
                  <a:srgbClr val="5B6B77"/>
                </a:solidFill>
              </a:rPr>
              <a:t>Figura 3.2 — Visor d'esdeveniments de Windows.</a:t>
            </a:r>
          </a:p>
          <a:p>
            <a:pPr algn="ctr"/>
            <a:r>
              <a:rPr i="1" sz="1100">
                <a:solidFill>
                  <a:srgbClr val="5B6B77"/>
                </a:solidFill>
              </a:rPr>
              <a:t>Els encaminadors (routers) també generen registres de seguretat rellevants.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B6B77"/>
                </a:solidFill>
              </a:rPr>
              <a:t>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BONES PRÀCTIQUES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Gestionar i protegir els registres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5212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tenir massa fonts de registres disperses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Sincronitzar l'hora de tots els sistemes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Utilitzar sempre el mateix format de dades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ometre mai l'activitat dels comptes d'administrador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035040" y="1828800"/>
            <a:ext cx="5120640" cy="2926080"/>
          </a:xfrm>
          <a:prstGeom prst="roundRect">
            <a:avLst>
              <a:gd name="adj" fmla="val 3750"/>
            </a:avLst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092440" y="2103120"/>
            <a:ext cx="1005840" cy="100584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7" name="Image 0" descr="/home/claude/pptx_build/icons/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3900" y="2354580"/>
            <a:ext cx="502920" cy="5029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309360" y="3337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Els registres també cal protegir-los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6309360" y="38404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atacant intentarà esborrar les proves del seu pas. Sense els registres, mai sabrem que hi ha hagut un atac.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1206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3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Només l'administrador i el personal de seguretat haurien de poder veure, modificar o esborrar els registres.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2011680"/>
            <a:ext cx="914400" cy="91440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5" name="Image 0" descr="/home/claude/pptx_build/icons/id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4028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96596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 (qui ets) i autorització (què pots fer) són conceptes diferents i complementaris.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172200" y="2011680"/>
            <a:ext cx="914400" cy="91440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8" name="Image 1" descr="/home/claude/pptx_build/icons/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40280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269480" y="196596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contrasenya robusta és llarga, variada... i ben protegida (mai per telèfon ni escrita en un paper).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94360" y="4114800"/>
            <a:ext cx="914400" cy="91440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1" name="Image 2" descr="/home/claude/pptx_build/icons/fingerpri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34340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691640" y="406908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factors d'autenticació: el que saps, el que tens, i el que ets/fas.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6172200" y="4114800"/>
            <a:ext cx="914400" cy="91440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14" name="Image 3" descr="/home/claude/pptx_build/icons/databas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4343400"/>
            <a:ext cx="457200" cy="4572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269480" y="406908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permisos (rwx) i els registres del sistema són el dia a dia de la seguretat lògica.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A5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51560" y="2651760"/>
            <a:ext cx="1554480" cy="1554480"/>
          </a:xfrm>
          <a:prstGeom prst="ellipse">
            <a:avLst/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4" name="Image 0" descr="/home/claude/pptx_build/icons/ques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1318" y="3001518"/>
            <a:ext cx="854964" cy="8549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291840" y="1828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B1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3246120" y="2240280"/>
            <a:ext cx="8503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B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 la teva pròpia contrasenya robusta amb la tècnica de la frase.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3291840" y="36118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1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Individualment: pensa una frase personal (que no reveleu en veu alta) i aplica'n la tècnica per generar una contrasenya. Per parelles, intercanvieu-vos consells sense revelar la frase original.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3291840" y="4937760"/>
            <a:ext cx="8138160" cy="1051560"/>
          </a:xfrm>
          <a:prstGeom prst="roundRect">
            <a:avLst>
              <a:gd name="adj" fmla="val 8696"/>
            </a:avLst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3566160" y="4937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individual + posada en comú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07899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91540" y="249174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6" name="Image 0" descr="/home/claude/pptx_build/icons/glo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1570" y="2731770"/>
            <a:ext cx="480060" cy="4800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194560" y="233172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Seguretat lògica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2194560" y="27889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Obert de Catalunya (IOC) · Material del mòdul “Seguretat informàtica” (M06), Unitat 1, apartat 3</a:t>
            </a:r>
            <a:endParaRPr lang="en-US" sz="1250" dirty="0"/>
          </a:p>
        </p:txBody>
      </p:sp>
      <p:sp>
        <p:nvSpPr>
          <p:cNvPr id="9" name="Text 6">
            <a:hlinkClick r:id="rId2" tooltip=""/>
          </p:cNvPr>
          <p:cNvSpPr txBox="1"/>
          <p:nvPr/>
        </p:nvSpPr>
        <p:spPr>
          <a:xfrm>
            <a:off x="2194560" y="32004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u="sng" dirty="0">
                <a:solidFill>
                  <a:srgbClr val="3E668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https://ioc.xtec.cat/materials/FP/Recursos/fp_smx_m06_/web/fp_smx_m06_htmlindex/WebContent/u1/a3/continguts.html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8521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Creative Commons BY-NC-SA · Institut Obert de Catalunya, 2011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SOTA EL CAPÓ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Identificant l'algorisme pel prefix del hash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B6B77"/>
                </a:solidFill>
                <a:latin typeface="Calibri"/>
              </a:rPr>
              <a:t>El format de /etc/shadow sempre segueix el mateix patró. El primer camp després del nom d'usuari identifica, amb un prefix curt, quin algorisme de hash s'ha fet servir.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10789920" cy="1188720"/>
          </a:xfrm>
          <a:prstGeom prst="roundRect">
            <a:avLst/>
          </a:prstGeom>
          <a:solidFill>
            <a:srgbClr val="0B1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ourier New"/>
              </a:rPr>
              <a:t>usuari:$algorisme$salt$hash: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87168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ourier New"/>
              </a:rPr>
              <a:t>john:$y$j9T$xEHXv4J4altGJZT5opBR01$KemHTAsjl8TCxJazsTDWbFLQp7Hqvc0sPkZrrmpayr5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290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242E"/>
                </a:solidFill>
                <a:latin typeface="Calibri"/>
              </a:rPr>
              <a:t>EL HASH USAT, SEGONS EL PREFIX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794760"/>
          <a:ext cx="107899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2377440"/>
                <a:gridCol w="6858000"/>
              </a:tblGrid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Prefix</a:t>
                      </a:r>
                    </a:p>
                  </a:txBody>
                  <a:tcPr marL="91440" marT="36576" marB="36576">
                    <a:solidFill>
                      <a:srgbClr val="1624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Algorisme</a:t>
                      </a:r>
                    </a:p>
                  </a:txBody>
                  <a:tcPr marL="91440" marT="36576" marB="36576">
                    <a:solidFill>
                      <a:srgbClr val="1624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Nota</a:t>
                      </a:r>
                    </a:p>
                  </a:txBody>
                  <a:tcPr marL="91440" marT="36576" marB="36576">
                    <a:solidFill>
                      <a:srgbClr val="16242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E6680"/>
                          </a:solidFill>
                          <a:latin typeface="Courier New"/>
                        </a:rPr>
                        <a:t>$1$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6242E"/>
                          </a:solidFill>
                          <a:latin typeface="Cambria"/>
                        </a:rPr>
                        <a:t>MD5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5B6B77"/>
                          </a:solidFill>
                          <a:latin typeface="Calibri"/>
                        </a:rPr>
                        <a:t>Obsolet, considerat feble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E6680"/>
                          </a:solidFill>
                          <a:latin typeface="Courier New"/>
                        </a:rPr>
                        <a:t>$2a$ / $2y$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6242E"/>
                          </a:solidFill>
                          <a:latin typeface="Cambria"/>
                        </a:rPr>
                        <a:t>Blowfish / Bcrypt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5B6B77"/>
                          </a:solidFill>
                          <a:latin typeface="Calibri"/>
                        </a:rPr>
                        <a:t>Utilitzat en algunes configuracions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E6680"/>
                          </a:solidFill>
                          <a:latin typeface="Courier New"/>
                        </a:rPr>
                        <a:t>$5$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6242E"/>
                          </a:solidFill>
                          <a:latin typeface="Cambria"/>
                        </a:rPr>
                        <a:t>SHA-256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5B6B77"/>
                          </a:solidFill>
                          <a:latin typeface="Calibri"/>
                        </a:rPr>
                        <a:t>Estàndard fort i intermedi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E6680"/>
                          </a:solidFill>
                          <a:latin typeface="Courier New"/>
                        </a:rPr>
                        <a:t>$6$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6242E"/>
                          </a:solidFill>
                          <a:latin typeface="Cambria"/>
                        </a:rPr>
                        <a:t>SHA-512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5B6B77"/>
                          </a:solidFill>
                          <a:latin typeface="Calibri"/>
                        </a:rPr>
                        <a:t>Àmpliament utilitzat per defecte en moltes distribucions modernes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2A541"/>
                          </a:solidFill>
                          <a:latin typeface="Courier New"/>
                        </a:rPr>
                        <a:t>$y$</a:t>
                      </a:r>
                    </a:p>
                  </a:txBody>
                  <a:tcPr marL="91440" marT="27432" marB="27432">
                    <a:solidFill>
                      <a:srgbClr val="FD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6242E"/>
                          </a:solidFill>
                          <a:latin typeface="Cambria"/>
                        </a:rPr>
                        <a:t>yescrypt</a:t>
                      </a:r>
                    </a:p>
                  </a:txBody>
                  <a:tcPr marL="91440" marT="27432" marB="27432">
                    <a:solidFill>
                      <a:srgbClr val="FD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5B6B77"/>
                          </a:solidFill>
                          <a:latin typeface="Calibri"/>
                        </a:rPr>
                        <a:t>Hashing de contrasenya adaptativa modern i altament segur — l'exemple d'aquí sobre</a:t>
                      </a:r>
                    </a:p>
                  </a:txBody>
                  <a:tcPr marL="91440" marT="27432" marB="27432">
                    <a:solidFill>
                      <a:srgbClr val="FDF1DE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2026-09-04T10:38:47Z</dcterms:created>
  <dcterms:modified xsi:type="dcterms:W3CDTF">2026-09-04T10:38:47Z</dcterms:modified>
</cp:coreProperties>
</file>