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1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5.png"/><Relationship Id="rId7" Type="http://schemas.openxmlformats.org/officeDocument/2006/relationships/image" Target="../media/image-11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ioc.xtec.cat/materials/FP/Recursos/fp_smx_m06_/web/fp_smx_m06_htmlindex/WebContent/u1/a3/continguts.html" TargetMode="External"/><Relationship Id="rId1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4572000" cy="4572000"/>
          </a:xfrm>
          <a:prstGeom prst="ellipse">
            <a:avLst/>
          </a:prstGeom>
          <a:solidFill>
            <a:srgbClr val="0B1B29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E6680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2377440"/>
            <a:ext cx="1371600" cy="13716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5" name="Image 0" descr="/home/claude/pptx_build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686050"/>
            <a:ext cx="754380" cy="7543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468880" y="1965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423160" y="2331720"/>
            <a:ext cx="9326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lògica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34290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ets i què pots fer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468880" y="4069080"/>
            <a:ext cx="292608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46888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468880" y="4937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6022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50" y="254889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Autenticació i autorització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un sistema comprova qui ets i què tens permís de fer un cop hi has entrat.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5196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6354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1" name="Image 1" descr="/home/claude/pptx_build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570" y="254889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Contrasenyes i biometria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crear contrasenyes robustes i quan cal recórrer a sistemes biomètrics.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5528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6686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6" name="Image 2" descr="/home/claude/pptx_build/icons/list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890" y="2548890"/>
            <a:ext cx="480060" cy="4800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8388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Permisos i registres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 controlen els permisos d'accés als fitxers i per què cal registrar l'activitat del sistema.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COMENÇAR, UNA MICA D'HISTÒRIA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Molt abans dels ordinadors...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2286000"/>
            <a:ext cx="1097280" cy="109728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usersecr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5603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SENTINELLES MILITARS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s'acostava algú desconegut, calia dir una senya (pregunta) i respondre la contrasenya correcta per demostrar que eres del bàndol amic.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922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3E6680"/>
          </a:solidFill>
          <a:ln/>
        </p:spPr>
      </p:sp>
      <p:sp>
        <p:nvSpPr>
          <p:cNvPr id="10" name="Shape 7"/>
          <p:cNvSpPr/>
          <p:nvPr/>
        </p:nvSpPr>
        <p:spPr>
          <a:xfrm>
            <a:off x="8503920" y="228600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56032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665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AVUI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68122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lògica és exactament la mateixa: el sistema ha de saber si ets “amic” (usuari autoritzat) o “enemic” (intrús) abans de deixar-te entrar.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5760720" y="3703320"/>
            <a:ext cx="640080" cy="6400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5" name="Image 2" descr="/home/claude/pptx_build/icons/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738" y="3847338"/>
            <a:ext cx="352044" cy="3520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CONCEPTE CLAU DE TOTA LA UNITAT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Autenticació vs. autorització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1206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286000"/>
            <a:ext cx="1005840" cy="100584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id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5374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Autenticació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74904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QUI ets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“Demostra que ets tu”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Contrasenya, targeta, empremta...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126480" y="1965960"/>
            <a:ext cx="512064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28600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253746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Autorització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374904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 QUÈ pots fer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“Tens permís per a això?”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la base de dades d'autorització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7607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et cal AUTENTICAR-TE per entrar; després, el sistema AUTORITZA (o no) cada acció que vulguis fer.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Objectes, subjectes i drets d'accés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0789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4310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6" name="Image 0" descr="/home/claude/pptx_build/icons/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259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9202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recurs que té l'accés controlat: un fitxer, un directori, un registre...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971800"/>
            <a:ext cx="107899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08610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user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2689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828800" y="30632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Subjecte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931920" y="3063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vol accedir a l'objecte: normalment, un usuari (a través d'un procés).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classes de subjecte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drets d'accés possibles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4663440"/>
            <a:ext cx="5120640" cy="1417320"/>
          </a:xfrm>
          <a:prstGeom prst="roundRect">
            <a:avLst>
              <a:gd name="adj" fmla="val 6452"/>
            </a:avLst>
          </a:prstGeom>
          <a:solidFill>
            <a:srgbClr val="3E668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22960" y="48006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 — el creador del recurs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— usuaris amb privilegis compartits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Altres — la resta d'usuaris del sistema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035040" y="4663440"/>
            <a:ext cx="5120640" cy="1417320"/>
          </a:xfrm>
          <a:prstGeom prst="roundRect">
            <a:avLst>
              <a:gd name="adj" fmla="val 6452"/>
            </a:avLst>
          </a:prstGeom>
          <a:solidFill>
            <a:srgbClr val="13293D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309360" y="48006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· Escriptura · Execució · Esborrament · Creació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D'ACCÉS DISCRECIONAL (DAC)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matriu de control d'accés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= subjectes. Columnes = objectes. Cada cel·la indica els drets que té aquell subjecte sobre aquell objecte.</a:t>
            </a:r>
            <a:endParaRPr lang="en-US" sz="14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0789920" cy="1737360"/>
        </p:xfrm>
        <a:graphic>
          <a:graphicData uri="http://schemas.openxmlformats.org/drawingml/2006/table">
            <a:tbl>
              <a:tblPr/>
              <a:tblGrid>
                <a:gridCol w="2103120"/>
                <a:gridCol w="3200400"/>
                <a:gridCol w="3200400"/>
                <a:gridCol w="228600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/home/albert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/home/berta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/etc/passwd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escriptura, cd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Lectura, escriptura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51960"/>
            <a:ext cx="5120640" cy="1508760"/>
          </a:xfrm>
          <a:prstGeom prst="roundRect">
            <a:avLst>
              <a:gd name="adj" fmla="val 6061"/>
            </a:avLst>
          </a:prstGeom>
          <a:solidFill>
            <a:srgbClr val="3E668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Llistes de control d'accés (ACL)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8231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descompon la matriu per columnes: cada objecte porta la llista de qui hi pot accedir. Windows funciona així.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4251960"/>
            <a:ext cx="5120640" cy="1508760"/>
          </a:xfrm>
          <a:prstGeom prst="roundRect">
            <a:avLst>
              <a:gd name="adj" fmla="val 6061"/>
            </a:avLst>
          </a:prstGeom>
          <a:solidFill>
            <a:srgbClr val="F2A54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Capacitats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478231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descompon la matriu per files: cada subjecte porta la llista del que pot fer. Linux/UNIX combinen ambdós sistemes.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B1B2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mal ús de contrasenyes pot fer molt mal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0" y="2651760"/>
            <a:ext cx="1097280" cy="109728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7" name="Image 0" descr="/home/claude/pptx_build/icons/chart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9260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2002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2976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periodista es va fer famosa per aconseguir accés al compte de correu de Saddam Hussein.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92240" y="228600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3E6680"/>
          </a:solidFill>
          <a:ln/>
        </p:spPr>
      </p:sp>
      <p:sp>
        <p:nvSpPr>
          <p:cNvPr id="11" name="Shape 8"/>
          <p:cNvSpPr/>
          <p:nvPr/>
        </p:nvSpPr>
        <p:spPr>
          <a:xfrm>
            <a:off x="8503920" y="265176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2" name="Image 1" descr="/home/claude/pptx_build/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92608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665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pirateria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42976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 van caldre grans coneixements tècnics. El mal ús de les contrasenyes és una de les 10 amenaces més habituals.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CONTRASENYES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Febles vs. robustes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286000"/>
            <a:ext cx="1005840" cy="100584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6" name="Image 0" descr="/home/claude/pptx_build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5374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Febles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74904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Menys de 10 caràcters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paraula de diccionari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de familiar, mascota...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patró: 1234, qwerty...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26480" y="196596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286000"/>
            <a:ext cx="1005840" cy="100584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1" name="Image 1" descr="/home/claude/pptx_build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253746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4688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Robustes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374904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Majúscules i minúscules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+ números + alfanumèrics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 10 caràcters</a:t>
            </a:r>
            <a:endParaRPr lang="en-US" sz="14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relació amb dades personals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 PRÀCTIC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Robustes... i fàcils de recordar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Pensa una frase fàcil de recordar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“Això és una manera de recordar una contrasenya”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200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Agafa la inicial de cada paraula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661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é · u · m · d · r · u · c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29768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34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Canvia “una” per “1” i afegeix un símbol final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00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Ae1MdR1c!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778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Resultat: una contrasenya de 9 caràcters, amb majúscules, minúscules, números i símbols, i que tu pots reconstruir mentalment en 2 segons.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CONTRASENYES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contrasenya robusta... mal protegida no serveix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51560" y="2697480"/>
            <a:ext cx="1737360" cy="173736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5" name="Image 0" descr="/home/claude/pptx_build/icons/usersecr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900" y="3131820"/>
            <a:ext cx="868680" cy="868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566160" y="1783080"/>
            <a:ext cx="758952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3840480" y="19202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Enginyeria social: l'atac més comú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840480" y="23317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atacant truca fent-se passar per l'administrador de sistemes i demana la contrasenya. Com que l'usuari no el coneix en persona, se la dona sense sospitar res.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566160" y="3520440"/>
            <a:ext cx="7589520" cy="2468880"/>
          </a:xfrm>
          <a:prstGeom prst="roundRect">
            <a:avLst>
              <a:gd name="adj" fmla="val 3704"/>
            </a:avLst>
          </a:prstGeom>
          <a:solidFill>
            <a:srgbClr val="1329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840480" y="365760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Normes bàsiques de protecció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4069080"/>
            <a:ext cx="6766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dir-la mai per telèfon ni per correu electrònic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dir-la a companys, encara que siguin superiors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apuntar-la mai en un paper ni un adhesiu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Canviar-la com a mínim cada sis mesos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CAL ANAR MÉS ENLLÀ DE LA CONTRASENYA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biomètrics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2980" y="221742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3010" y="245745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03120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Basats en un atribut físic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2103120" y="2514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“Alguna cosa que l'usuari ÉS”: empremtes, iris, retina, palmell, cara...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82880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60820" y="221742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user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245745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0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Basats en el comportament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7680960" y="2514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“Alguna cosa que l'usuari FA”: signatura, forma d'escriure... poden canviar amb el temps.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381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</p:sp>
      <p:sp>
        <p:nvSpPr>
          <p:cNvPr id="15" name="Shape 11"/>
          <p:cNvSpPr/>
          <p:nvPr/>
        </p:nvSpPr>
        <p:spPr>
          <a:xfrm>
            <a:off x="140817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6" name="Image 2" descr="/home/claude/pptx_build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486" y="4423410"/>
            <a:ext cx="388620" cy="3886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25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Empremtes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296265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</p:sp>
      <p:sp>
        <p:nvSpPr>
          <p:cNvPr id="19" name="Shape 14"/>
          <p:cNvSpPr/>
          <p:nvPr/>
        </p:nvSpPr>
        <p:spPr>
          <a:xfrm>
            <a:off x="355701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20" name="Image 3" descr="/home/claude/pptx_build/icons/ha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1326" y="4423410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05409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Palmell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511149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</p:sp>
      <p:sp>
        <p:nvSpPr>
          <p:cNvPr id="23" name="Shape 17"/>
          <p:cNvSpPr/>
          <p:nvPr/>
        </p:nvSpPr>
        <p:spPr>
          <a:xfrm>
            <a:off x="570585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24" name="Image 4" descr="/home/claude/pptx_build/icons/ey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0166" y="4423410"/>
            <a:ext cx="388620" cy="3886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20293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Retina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726033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</p:sp>
      <p:sp>
        <p:nvSpPr>
          <p:cNvPr id="27" name="Shape 20"/>
          <p:cNvSpPr/>
          <p:nvPr/>
        </p:nvSpPr>
        <p:spPr>
          <a:xfrm>
            <a:off x="785469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28" name="Image 5" descr="/home/claude/pptx_build/icons/ey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9006" y="4423410"/>
            <a:ext cx="388620" cy="3886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35177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Iris</a:t>
            </a:r>
            <a:endParaRPr lang="en-US" sz="1250" dirty="0"/>
          </a:p>
        </p:txBody>
      </p:sp>
      <p:sp>
        <p:nvSpPr>
          <p:cNvPr id="30" name="Shape 22"/>
          <p:cNvSpPr/>
          <p:nvPr/>
        </p:nvSpPr>
        <p:spPr>
          <a:xfrm>
            <a:off x="9409176" y="3977640"/>
            <a:ext cx="1965960" cy="1920240"/>
          </a:xfrm>
          <a:prstGeom prst="roundRect">
            <a:avLst>
              <a:gd name="adj" fmla="val 4762"/>
            </a:avLst>
          </a:prstGeom>
          <a:solidFill>
            <a:srgbClr val="3E6680"/>
          </a:solidFill>
          <a:ln/>
        </p:spPr>
      </p:sp>
      <p:sp>
        <p:nvSpPr>
          <p:cNvPr id="31" name="Shape 23"/>
          <p:cNvSpPr/>
          <p:nvPr/>
        </p:nvSpPr>
        <p:spPr>
          <a:xfrm>
            <a:off x="10003536" y="4229100"/>
            <a:ext cx="777240" cy="77724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32" name="Image 6" descr="/home/claude/pptx_build/icons/user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7846" y="4423410"/>
            <a:ext cx="388620" cy="38862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500616" y="5166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Facial</a:t>
            </a:r>
            <a:endParaRPr lang="en-US" sz="1250" dirty="0"/>
          </a:p>
        </p:txBody>
      </p:sp>
      <p:sp>
        <p:nvSpPr>
          <p:cNvPr id="34" name="Text 2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SISTEMA ÉS INFAL·LIBLE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Falsos positius i falsos negatius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D64545"/>
          </a:solidFill>
          <a:ln/>
        </p:spPr>
      </p:sp>
      <p:sp>
        <p:nvSpPr>
          <p:cNvPr id="5" name="Shape 3"/>
          <p:cNvSpPr/>
          <p:nvPr/>
        </p:nvSpPr>
        <p:spPr>
          <a:xfrm>
            <a:off x="2628900" y="2446020"/>
            <a:ext cx="960120" cy="9601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6" name="Image 0" descr="/home/claude/pptx_build/icons/usersecr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8930" y="268605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566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 positiu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233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E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ACCEPTA un impostor que hauria d'haver estat denegat.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26480" y="21031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3E6680"/>
          </a:solidFill>
          <a:ln/>
        </p:spPr>
      </p:sp>
      <p:sp>
        <p:nvSpPr>
          <p:cNvPr id="10" name="Shape 7"/>
          <p:cNvSpPr/>
          <p:nvPr/>
        </p:nvSpPr>
        <p:spPr>
          <a:xfrm>
            <a:off x="8206740" y="244602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do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6770" y="268605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00800" y="3566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 negatiu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40233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DENEGA l'accés a un usuari que hauria d'haver estat acceptat.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3 factors d'autenticació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83080" y="22402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24688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Alguna cosa que SAPS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contrasenya, un PIN... el més econòmic, però es pot esbrinar.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51960" y="192024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0" y="224028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id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24688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3484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Alguna cosa que TENS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clau, una targeta d'accés... es pot perdre o robar.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55280" y="192024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89720" y="22402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6" name="Image 2" descr="/home/claude/pptx_build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46888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38160" y="3337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Alguna cosa que ETS o FAS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18388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Empremta, retina, veu... els sistemes biomètrics.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846320"/>
            <a:ext cx="10607040" cy="1143000"/>
          </a:xfrm>
          <a:prstGeom prst="roundRect">
            <a:avLst>
              <a:gd name="adj" fmla="val 8000"/>
            </a:avLst>
          </a:prstGeom>
          <a:solidFill>
            <a:srgbClr val="13293D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22960" y="4846320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 multifactor: combina 2 o 3 factors (p. ex. contrasenya + targeta) per a un nivell de seguretat molt més alt.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AUTORITZACIÓ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Criteris per autoritzar l'accés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1540" y="230886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526030"/>
            <a:ext cx="434340" cy="4343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103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2514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la funció: un auditor només necessita accés de lectura.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82880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69380" y="230886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50" y="252603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0" y="2103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498080" y="2514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a un institut, “alumnat” i “professorat” tenen permisos diferents.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9319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91540" y="441198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6" name="Image 2" descr="/home/claude/pptx_build/icon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" y="4629150"/>
            <a:ext cx="434340" cy="4343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2024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Localització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920240" y="46177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 (des d'on ets) o lògica (des de quina IP et connectes).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26480" y="39319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69380" y="441198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21" name="Image 3" descr="/home/claude/pptx_build/icons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4629150"/>
            <a:ext cx="434340" cy="4343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9808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d'accés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498080" y="46177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un servidor només accessible de 8h a 20h.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PRÀCTICA: SISTEMES UNIX/LINUX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Llegint els permisos: rwx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607040" cy="731520"/>
          </a:xfrm>
          <a:prstGeom prst="roundRect">
            <a:avLst>
              <a:gd name="adj" fmla="val 10000"/>
            </a:avLst>
          </a:prstGeom>
          <a:solidFill>
            <a:srgbClr val="0B1B2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-rw-rw-r--  1  joan  profes   seguretat.doc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3E668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Usuari (joan)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rw- → lectura i escriptura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278892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F2A54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8056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 (profes)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3337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rw- → lectura i escriptura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55280" y="278892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3E668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8388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337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r-- → només lectura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4348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lectura (read) · w = escriptura (write) · x = execució (execution)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10607040" cy="1051560"/>
          </a:xfrm>
          <a:prstGeom prst="roundRect">
            <a:avLst>
              <a:gd name="adj" fmla="val 8696"/>
            </a:avLst>
          </a:prstGeom>
          <a:solidFill>
            <a:srgbClr val="1329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3776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permís d'execució en un directori, ningú no hi pot entrar, encara que en tingui de lectura.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PRÀCTICA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ordres per gestionar permisos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0607040" cy="1234440"/>
          </a:xfrm>
          <a:prstGeom prst="roundRect">
            <a:avLst>
              <a:gd name="adj" fmla="val 740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chmod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8775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 els permisos (rwx)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87452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chmod u=rwx freebsd.pdf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10607040" cy="1234440"/>
          </a:xfrm>
          <a:prstGeom prst="roundRect">
            <a:avLst>
              <a:gd name="adj" fmla="val 740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chown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0050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 l'usuari propietari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329184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chown joan qualificacions.doc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4709160"/>
            <a:ext cx="10607040" cy="1234440"/>
          </a:xfrm>
          <a:prstGeom prst="roundRect">
            <a:avLst>
              <a:gd name="adj" fmla="val 7407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8463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chgrp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4223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Canvia el grup propietari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470916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chgrp profes qualificacions.doc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Només l'administrador del sistema o el propietari del recurs poden fer aquests canvis.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VIGILÀNCIA DEL SISTEMA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Registres, incidències i alarmes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4884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774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2240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Registres del SO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Intents d'accés, rendiment, dispositius usats, bloquejos d'usuaris...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920240"/>
            <a:ext cx="51206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14884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1" name="Image 1" descr="/home/claude/pptx_build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3774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26680" y="2240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Registres de seguretat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Antivirus, tallafocs, encaminadors, servidors intermediaris (proxies)...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434840"/>
            <a:ext cx="10607040" cy="1508760"/>
          </a:xfrm>
          <a:prstGeom prst="roundRect">
            <a:avLst>
              <a:gd name="adj" fmla="val 6061"/>
            </a:avLst>
          </a:prstGeom>
          <a:solidFill>
            <a:srgbClr val="13293D"/>
          </a:solidFill>
          <a:ln/>
        </p:spPr>
      </p:sp>
      <p:sp>
        <p:nvSpPr>
          <p:cNvPr id="15" name="Shape 11"/>
          <p:cNvSpPr/>
          <p:nvPr/>
        </p:nvSpPr>
        <p:spPr>
          <a:xfrm>
            <a:off x="1005840" y="4736592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6" name="Image 2" descr="/home/claude/pptx_build/icons/bul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496519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194560" y="4617720"/>
            <a:ext cx="8595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decrement molt accentuat del rendiment pot ser un indicador que hi ha un virus o un cavall de Troia treballant en segon pla.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 PRÀCTIQUES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Gestionar i protegir els registres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tenir massa fonts de registres disperses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Sincronitzar l'hora de tots els sistemes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Utilitzar sempre el mateix format de dades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ometre mai l'activitat dels comptes d'administrador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35040" y="1828800"/>
            <a:ext cx="5120640" cy="2926080"/>
          </a:xfrm>
          <a:prstGeom prst="roundRect">
            <a:avLst>
              <a:gd name="adj" fmla="val 3750"/>
            </a:avLst>
          </a:prstGeom>
          <a:solidFill>
            <a:srgbClr val="13293D"/>
          </a:solidFill>
          <a:ln/>
        </p:spPr>
      </p:sp>
      <p:sp>
        <p:nvSpPr>
          <p:cNvPr id="6" name="Shape 4"/>
          <p:cNvSpPr/>
          <p:nvPr/>
        </p:nvSpPr>
        <p:spPr>
          <a:xfrm>
            <a:off x="8092440" y="210312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7" name="Image 0" descr="/home/claude/pptx_build/icons/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0" y="2354580"/>
            <a:ext cx="502920" cy="502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309360" y="3337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registres també cal protegir-los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8404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atacant intentarà esborrar les proves del seu pas. Sense els registres, mai sabrem que hi ha hagut un atac.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120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Només l'administrador i el personal de seguretat haurien de poder veure, modificar o esborrar els registres.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5" name="Image 0" descr="/home/claude/pptx_build/icons/id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402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 (qui ets) i autorització (què pots fer) són conceptes diferents i complementaris.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172200" y="20116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8" name="Image 1" descr="/home/claude/pptx_build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402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6948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contrasenya robusta és llarga, variada... i ben protegida (mai per telèfon ni escrita en un paper).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94360" y="411480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2" descr="/home/claude/pptx_build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340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factors d'autenticació: el que saps, el que tens, i el que ets/fas.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172200" y="411480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4" name="Image 3" descr="/home/claude/pptx_build/icons/datab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34340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26948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permisos (rwx) i els registres del sistema són el dia a dia de la seguretat lògica.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A5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" y="2651760"/>
            <a:ext cx="1554480" cy="155448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4" name="Image 0" descr="/home/claude/pptx_build/icons/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318" y="3001518"/>
            <a:ext cx="854964" cy="8549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29184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24028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 la teva pròpia contrasenya robusta amb la tècnica de la frase.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36118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Individualment: pensa una frase personal (que no reveleu en veu alta) i aplica'n la tècnica per generar una contrasenya. Per parelles, intercanvieu-vos consells sense revelar la frase original.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291840" y="4937760"/>
            <a:ext cx="8138160" cy="1051560"/>
          </a:xfrm>
          <a:prstGeom prst="roundRect">
            <a:avLst>
              <a:gd name="adj" fmla="val 8696"/>
            </a:avLst>
          </a:prstGeom>
          <a:solidFill>
            <a:srgbClr val="13293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566160" y="4937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individual + posada en comú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1540" y="249174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570" y="273177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94560" y="233172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lògica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27889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Obert de Catalunya (IOC) · Material del mòdul “Seguretat informàtica” (M06), Unitat 1, apartat 3</a:t>
            </a:r>
            <a:endParaRPr lang="en-US" sz="1250" dirty="0"/>
          </a:p>
        </p:txBody>
      </p:sp>
      <p:sp>
        <p:nvSpPr>
          <p:cNvPr id="9" name="Text 6">
            <a:hlinkClick r:id="rId2" tooltip=""/>
          </p:cNvPr>
          <p:cNvSpPr txBox="1"/>
          <p:nvPr/>
        </p:nvSpPr>
        <p:spPr>
          <a:xfrm>
            <a:off x="2194560" y="3200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https://ioc.xtec.cat/materials/FP/Recursos/fp_smx_m06_/web/fp_smx_m06_htmlindex/WebContent/u1/a3/continguts.html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2026-09-04T10:38:47Z</dcterms:created>
  <dcterms:modified xsi:type="dcterms:W3CDTF">2026-09-04T10:38:47Z</dcterms:modified>
</cp:coreProperties>
</file>