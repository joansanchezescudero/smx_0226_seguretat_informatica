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7" r:id="rId38"/>
    <p:sldId id="280" r:id="rId31"/>
    <p:sldId id="260" r:id="rId6"/>
    <p:sldId id="261" r:id="rId7"/>
    <p:sldId id="262" r:id="rId8"/>
    <p:sldId id="263" r:id="rId9"/>
    <p:sldId id="264" r:id="rId10"/>
    <p:sldId id="285" r:id="rId36"/>
    <p:sldId id="286" r:id="rId37"/>
    <p:sldId id="265" r:id="rId11"/>
    <p:sldId id="284" r:id="rId35"/>
    <p:sldId id="279" r:id="rId30"/>
    <p:sldId id="283" r:id="rId34"/>
    <p:sldId id="266" r:id="rId12"/>
    <p:sldId id="278" r:id="rId29"/>
    <p:sldId id="267" r:id="rId13"/>
    <p:sldId id="268" r:id="rId14"/>
    <p:sldId id="282" r:id="rId33"/>
    <p:sldId id="269" r:id="rId15"/>
    <p:sldId id="270" r:id="rId16"/>
    <p:sldId id="271" r:id="rId17"/>
    <p:sldId id="281" r:id="rId32"/>
    <p:sldId id="272" r:id="rId18"/>
    <p:sldId id="277" r:id="rId2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1.xml"/><Relationship Id="rId29" Type="http://schemas.openxmlformats.org/officeDocument/2006/relationships/slide" Target="slides/slide14.xml"/><Relationship Id="rId30" Type="http://schemas.openxmlformats.org/officeDocument/2006/relationships/slide" Target="slides/slide12.xml"/><Relationship Id="rId31" Type="http://schemas.openxmlformats.org/officeDocument/2006/relationships/slide" Target="slides/slide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hyperlink" Target="https://ioc.xtec.cat/materials/FP/Recursos/fp_smx_m06_/web/fp_smx_m06_htmlindex/WebContent/u1/a3/continguts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ets i què pots fer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0690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4688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4937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i autorització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un sistema comprova qui ets i què tens permís de fer un cop hi has entrat.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 i biometria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crear contrasenyes robustes i quan cal recórrer a sistemes biomètrics.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list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i registres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controlen els permisos d'accés als fitxers i per què cal registrar l'activitat del sistema.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MICA D'HISTÒRIA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Molt abans dels ordinadors...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SENTINELLES MILITARS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s'acostava algú desconegut, calia dir una senya (pregunta) i respondre la contrasenya correcta per demostrar que eres del bàndol amic.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lògica és exactament la mateixa: el sistema ha de saber si ets “amic” (usuari autoritzat) o “enemic” (intrús) abans de deixar-te entrar.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CONCEPTE CLAU DE TOTA LA UNITAT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vs. autorització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QUI ets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“Demostra que ets tu”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Contrasenya, targeta, empremta...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Autorització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QUÈ pots fer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“Tens permís per a això?”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la base de dades d'autorització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60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et cal AUTENTICAR-TE per entrar; després, el sistema AUTORITZA (o no) cada acció que vulguis fer.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Esquema del sistema d'autenticació</a:t>
            </a:r>
          </a:p>
        </p:txBody>
      </p:sp>
      <p:pic>
        <p:nvPicPr>
          <p:cNvPr id="4" name="Picture 3" descr="fig31_esquema_autentica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28800"/>
            <a:ext cx="7772400" cy="3935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721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3.1 — Esquema del sistema d'autenticació per a l'entrada al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Objectes, subjectes i drets d'accés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43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recurs que té l'accés controlat: un fitxer, un directori, un registre...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68680" y="3086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268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3063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vol accedir a l'objecte: normalment, un usuari (a través d'un procés).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classes de subjecte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drets d'accés possibles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8229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 — el creador del recurs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— usuaris amb privilegis compartits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— la resta d'usuaris del sistema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350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63093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· Escriptura · Execució · Esborrament · Creació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DISCRECIONAL (DAC)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matriu de control d'accés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= subjectes. Columnes = objectes. Cada cel·la indica els drets que té aquell subjecte sobre aquell objecte.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0789920" cy="173736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  <a:gridCol w="22860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/etc/passwd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 de control d'accés (ACL)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columnes: cada objecte porta la llista de qui hi pot accedir. Windows funciona així.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40080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files: cada subjecte porta la llista del que pot fer. Linux/UNIX combinen ambdós sistemes.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mal ús de contrasenyes pot fer molt mal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2002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periodista es va fer famosa per aconseguir accés al compte de correu de Saddam Hussein.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2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pirateria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 van caldre grans coneixements tècnics. El mal ús de les contrasenyes és una de les 10 amenaces més habituals.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 vs. robustes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de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paraula de diccionari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familiar, mascota...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patró: 1234, qwerty...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Majúscules i minúscules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números + alfanumèrics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relació amb dades personals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PRÀCTIC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Robustes... i fàcils de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Pensa una frase fàcil de recordar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“Això és una manera de recordar una contrasenya”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Agafa la inicial de cada paraula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é · u · m · d · r · u · 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Canvia “una” per “1” i afegeix un símbol final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Ae1MdR1c!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Resultat: una contrasenya de 9 caràcters, amb majúscules, minúscules, números i símbols, i que tu pots reconstruir mentalment en 2 segons.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contrasenya robusta... mal protegida no serveix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5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3131820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0" y="1783080"/>
            <a:ext cx="7589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840480" y="1920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social: l'atac més comú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3317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truca fent-se passar per l'administrador de sistemes i demana la contrasenya. Com que l'usuari no el coneix en persona, se la dona sense sospitar 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6616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840480" y="36576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Normes bàsiques de protecció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406908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mai per telèfon ni per correu electrònic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a companys, encara que siguin superiors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apuntar-la mai en un paper ni un adhesiu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Canviar-la com a mínim cada sis mesos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Protegir les contrasenyes</a:t>
            </a:r>
          </a:p>
        </p:txBody>
      </p:sp>
      <p:pic>
        <p:nvPicPr>
          <p:cNvPr id="4" name="Picture 3" descr="hawaii_postit_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28800"/>
            <a:ext cx="7772400" cy="3448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59694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Cas real (2018): un operador del centre d'emergències de Hawaii tenia la contrasenya del sistema apuntada en un post-it, ben visible al seu lloc de treball.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CAL ANAR MÉS ENLLÀ DE LA CONTRASENYA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biomètrics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8298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031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un atribut físic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ÉS”: empremtes, iris, retina, palmell, cara...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6082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el comportament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FA”: signatura, forma d'escriure... poden canviar amb el temps.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40817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486" y="442341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296265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355701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0" name="Image 3" descr="/home/claude/pptx_build/icons/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326" y="442341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05409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Palmell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11149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570585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4" name="Image 4" descr="/home/claude/pptx_build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166" y="4423410"/>
            <a:ext cx="388620" cy="3886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0293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26033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785469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8" name="Image 5" descr="/home/claude/pptx_build/icons/ey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9006" y="4423410"/>
            <a:ext cx="388620" cy="3886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5177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940917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1000353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32" name="Image 6" descr="/home/claude/pptx_build/icons/user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7846" y="4423410"/>
            <a:ext cx="388620" cy="38862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50061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</a:t>
            </a:r>
            <a:endParaRPr lang="en-US" sz="1250" dirty="0"/>
          </a:p>
        </p:txBody>
      </p:sp>
      <p:sp>
        <p:nvSpPr>
          <p:cNvPr id="34" name="Text 2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Lector de retina: un sistema biomètric</a:t>
            </a:r>
          </a:p>
        </p:txBody>
      </p:sp>
      <p:pic>
        <p:nvPicPr>
          <p:cNvPr id="4" name="Picture 3" descr="foto_biometric_re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1828800"/>
            <a:ext cx="3840480" cy="3563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5141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Els sistemes biomètrics basats en la lectura de la retina són una eina molt fiable com a mesura d'autenticació.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SISTEMA ÉS INFAL·LIBLE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Falsos positius i falsos negatius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628900" y="24460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8930" y="26860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positiu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ACCEPTA un impostor que hauria d'haver estat denegat.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206740" y="24460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770" y="26860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negatiu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DENEGA l'accés a un usuari que hauria d'haver estat acceptat.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factors d'autenticació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8308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SAPS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contrasenya, un PIN... el més econòmic, però es pot esbrinar.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86400" y="22402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id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TENS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clau, una targeta d'accés... es pot perdre o robar.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8972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ETS o FAS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Empremta, retina, veu... els sistemes biomètrics.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822960" y="484632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multifactor: combina 2 o 3 factors (p. ex. contrasenya + targeta) per a un nivell de seguretat molt més alt.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AUTORITZACIÓ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Criteris per autoritzar l'accés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funció: un auditor només necessita accés de lectura.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a un institut, “alumnat” i “professorat” tenen permisos diferents.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91540" y="44119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291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Localització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(des d'on ets) o lògica (des de quina IP et connectes).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69380" y="44119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2915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d'accés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servidor només accessible de 8h a 20h.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PRÀCTICA: SISTEMES UNIX/LINUX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Llegint els permisos: rwx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607040" cy="73152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-rw-rw-r--  1  joan  profes   seguretat.doc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 (joan)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80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 (profes)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1838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r-- → només lectura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lectura (read) · w = escriptura (write) · x = execució (execution)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377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permís d'execució en un directori, ningú no hi pot entrar, encara que en tingui de lectura.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pic>
        <p:nvPicPr>
          <p:cNvPr id="19" name="Picture 18" descr="diagrama_rw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84048"/>
            <a:ext cx="1920240" cy="87381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ordres per gestionar permisos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87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els permisos (rwx)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87452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 u=rwx freebsd.pdf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05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l'usuari propietari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29184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 joan qualificacions.doc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22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 grup propietari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7091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 profes qualificacions.doc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del sistema o el propietari del recurs poden fer aquests canvis.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VIGILÀNCIA DEL SISTEMA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Registres, incidències i alarmes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del SO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d'accés, rendiment, dispositius usats, bloquejos d'usuaris...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774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2668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 seguretat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Antivirus, tallafocs, encaminadors, servidors intermediaris (proxies)...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434840"/>
            <a:ext cx="10607040" cy="1508760"/>
          </a:xfrm>
          <a:prstGeom prst="roundRect">
            <a:avLst>
              <a:gd name="adj" fmla="val 6061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736592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9651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194560" y="4617720"/>
            <a:ext cx="8595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decrement molt accentuat del rendiment pot ser un indicador que hi ha un virus o un cavall de Troia treballant en segon pla.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2A541"/>
                </a:solidFill>
                <a:latin typeface="Calibri"/>
              </a:rPr>
              <a:t>FIGURA DE REFERÈNCIA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42E"/>
                </a:solidFill>
                <a:latin typeface="Cambria"/>
              </a:rPr>
              <a:t>Visor d'esdeveniments de Windows</a:t>
            </a:r>
          </a:p>
        </p:txBody>
      </p:sp>
      <p:pic>
        <p:nvPicPr>
          <p:cNvPr id="4" name="Picture 3" descr="fig32_visor_esdeveniments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828800"/>
            <a:ext cx="4974336" cy="3498993"/>
          </a:xfrm>
          <a:prstGeom prst="rect">
            <a:avLst/>
          </a:prstGeom>
        </p:spPr>
      </p:pic>
      <p:pic>
        <p:nvPicPr>
          <p:cNvPr id="5" name="Picture 4" descr="foto_encamin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344" y="2889128"/>
            <a:ext cx="2048256" cy="13783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464953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5B6B77"/>
                </a:solidFill>
              </a:rPr>
              <a:t>Figura 3.2 — Visor d'esdeveniments de Windows.</a:t>
            </a:r>
          </a:p>
          <a:p>
            <a:pPr algn="ctr"/>
            <a:r>
              <a:rPr i="1" sz="1100">
                <a:solidFill>
                  <a:srgbClr val="5B6B77"/>
                </a:solidFill>
              </a:rPr>
              <a:t>Els encaminadors (routers) també generen registres de seguretat rellevants.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B6B77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PRÀCTIQUES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i protegir els registres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tenir massa fonts de registres disperses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Sincronitzar l'hora de tots els sistemes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Utilitzar sempre el mateix format de dades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ometre mai l'activitat dels comptes d'administrador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182880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92440" y="210312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0" y="23545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registres també cal protegir-los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840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intentarà esborrar les proves del seu pas. Sense els registres, mai sabrem que hi ha hagut un atac.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20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i el personal de seguretat haurien de poder veure, modificar o esborrar els registres.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(qui ets) i autorització (què pots fer) són conceptes diferents i complementaris.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8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 robusta és llarga, variada... i ben protegida (mai per telèfon ni escrita en un paper).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factors d'autenticació: el que saps, el que tens, i el que ets/fas.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4" name="Image 3" descr="/home/claude/pptx_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permisos (rwx) i els registres del sistema són el dia a dia de la seguretat lògica.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 la teva pròpia contrasenya robusta amb la tècnica de la frase.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Individualment: pensa una frase personal (que no reveleu en veu alta) i aplica'n la tècnica per generar una contrasenya. Per parelles, intercanvieu-vos consells sense revelar la frase original.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individual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3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https://ioc.xtec.cat/materials/FP/Recursos/fp_smx_m06_/web/fp_smx_m06_htmlindex/WebContent/u1/a3/continguts.html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DAC, MAC I RBAC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6242E"/>
                </a:solidFill>
                <a:latin typeface="Cambria"/>
              </a:rPr>
              <a:t>Els 3 models d'autorització... i els privilegis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410712" cy="192024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FFFFFF"/>
                </a:solidFill>
                <a:latin typeface="Calibri"/>
              </a:rPr>
              <a:t>DAC — Control d'accés discrecional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(Discretionary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El propietari del recurs decideix qui hi té accés (p. ex. permisos rwx a Linux).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1508760"/>
            <a:ext cx="3410712" cy="192024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5112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FFFFFF"/>
                </a:solidFill>
                <a:latin typeface="Calibri"/>
              </a:rPr>
              <a:t>MAC — Control d'accés obligatori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(Mandatory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50" b="0">
                <a:solidFill>
                  <a:srgbClr val="FFFFFF"/>
                </a:solidFill>
                <a:latin typeface="Calibri"/>
              </a:rPr>
              <a:t>Una autoritat central classifica els objectes per nivell (p. ex. "top secret").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508760"/>
            <a:ext cx="3410712" cy="192024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8704" y="1645919"/>
            <a:ext cx="304495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latin typeface="Cambria"/>
              </a:defRPr>
            </a:pPr>
            <a:r>
              <a:rPr sz="1150" b="1">
                <a:solidFill>
                  <a:srgbClr val="3A2E12"/>
                </a:solidFill>
                <a:latin typeface="Calibri"/>
              </a:rPr>
              <a:t>RBAC — Control d'accés basat en rols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  <a:defRPr i="1" sz="1050">
                <a:solidFill>
                  <a:srgbClr val="3A2E12"/>
                </a:solidFill>
              </a:defRPr>
            </a:pPr>
            <a:r>
              <a:rPr sz="1150" b="0">
                <a:solidFill>
                  <a:srgbClr val="3A2E12"/>
                </a:solidFill>
                <a:latin typeface="Calibri"/>
              </a:rPr>
              <a:t>(Role-Based Access Control)</a:t>
            </a:r>
          </a:p>
          <a:p>
            <a:pPr algn="l">
              <a:lnSpc>
                <a:spcPct val="105000"/>
              </a:lnSpc>
              <a:defRPr sz="1100">
                <a:solidFill>
                  <a:srgbClr val="3A2E12"/>
                </a:solidFill>
              </a:defRPr>
            </a:pPr>
            <a:r>
              <a:rPr sz="1150" b="0">
                <a:solidFill>
                  <a:srgbClr val="3A2E12"/>
                </a:solidFill>
                <a:latin typeface="Calibri"/>
              </a:rPr>
              <a:t>Els permisos es lliguen al ROL, no a la persona (p. ex. metge vs. administratiu).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021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B6B77"/>
                </a:solidFill>
                <a:latin typeface="Calibri"/>
              </a:rPr>
              <a:t>La pregunta clau: qui decideix? DAC → el propietari del recurs   ·   MAC → una autoritat central (etiquetes fixes)   ·   RBAC → el rol de l'usuari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PRIVILEGIS VS. PERMISOS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51960"/>
            <a:ext cx="8503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407408"/>
            <a:ext cx="795527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50">
                <a:solidFill>
                  <a:srgbClr val="F2A541"/>
                </a:solidFill>
                <a:latin typeface="Cambria"/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Els permisos (rwx) apliquen sobre UN recurs concret.</a:t>
            </a:r>
          </a:p>
          <a:p>
            <a:pPr algn="l">
              <a:lnSpc>
                <a:spcPct val="105000"/>
              </a:lnSpc>
              <a:defRPr>
                <a:solidFill>
                  <a:srgbClr val="5B6B77"/>
                </a:solidFill>
              </a:defRPr>
            </a:pPr>
            <a:r>
              <a:rPr sz="1250" b="0">
                <a:solidFill>
                  <a:srgbClr val="16242E"/>
                </a:solidFill>
                <a:latin typeface="Calibri"/>
              </a:rPr>
              <a:t>Els privilegis són accions globals del sistema (aturar serveis, canviar l'hora...), reservats a root/Administrador (grups sudoers / Administradors). Fins i tot Windows 11 ja incorpora una ordre sudo.</a:t>
            </a:r>
          </a:p>
        </p:txBody>
      </p:sp>
      <p:pic>
        <p:nvPicPr>
          <p:cNvPr id="14" name="Picture 13" descr="sudo_j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020" y="4389120"/>
            <a:ext cx="2057400" cy="17035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EL FUTUR (JA AQUÍ)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Autenticació sense contrasenya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309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B6B77"/>
                </a:solidFill>
                <a:latin typeface="Calibri"/>
              </a:rPr>
              <a:t>Els passkeys (estàndard FIDO2) eliminen la contrasenya. En el seu lloc, el dispositiu demostra la teva identitat amb criptografia de clau pública, desbloquejada amb el teu PIN, empremta o cara.
És el tercer factor d'autenticació ("alguna cosa que TENS") portat a l'extrem: connectes la clau i la toques, sense escriure res.</a:t>
            </a:r>
          </a:p>
        </p:txBody>
      </p:sp>
      <p:pic>
        <p:nvPicPr>
          <p:cNvPr id="5" name="Picture 4" descr="yubik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554480"/>
            <a:ext cx="2103120" cy="2103120"/>
          </a:xfrm>
          <a:prstGeom prst="rect">
            <a:avLst/>
          </a:prstGeom>
        </p:spPr>
      </p:pic>
      <p:pic>
        <p:nvPicPr>
          <p:cNvPr id="6" name="Picture 5" descr="google_tit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1554480"/>
            <a:ext cx="2103120" cy="15601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794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B77"/>
                </a:solidFill>
                <a:latin typeface="Calibri"/>
              </a:rPr>
              <a:t>YubiKey i Google Titan Security Key: claus de seguretat físiques compatibles amb FIDO2.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6309360" cy="201168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5760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Per què no és com una targeta d'identificació?</a:t>
            </a:r>
          </a:p>
          <a:p>
            <a:pPr algn="l">
              <a:lnSpc>
                <a:spcPct val="105000"/>
              </a:lnSpc>
              <a:defRPr sz="1250">
                <a:solidFill>
                  <a:srgbClr val="D7E4EE"/>
                </a:solidFill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Una targeta clàssica repeteix sempre la mateixa dada: si te la clonen, ja la tenen. La clau del passkey mai surt del dispositiu i signa un repte diferent cada vegada, únic per a cada web: no es pot copiar ni reutilitzar en una web falsa (phishing).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LA RECOMANACIÓ PRÀCTICA NÚMERO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Gestors de contrasenyes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5B6B77"/>
                </a:solidFill>
                <a:latin typeface="Calibri"/>
              </a:rPr>
              <a:t>Un gestor de contrasenyes genera, xifra i recorda una contrasenya diferent i robusta per a cada servei. Només cal recordar-ne una: la mestra.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Bitwarden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Codi obert i gratuït.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898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5186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KeePass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Base de dades local, sense núvol.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240280"/>
            <a:ext cx="2583180" cy="17373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1Password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Molt utilitzat en empreses.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09660" y="2240280"/>
            <a:ext cx="2583180" cy="1737360"/>
          </a:xfrm>
          <a:prstGeom prst="roundRect">
            <a:avLst/>
          </a:prstGeom>
          <a:solidFill>
            <a:srgbClr val="7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2540" y="2423160"/>
            <a:ext cx="22174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LastPass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Ha patit filtracions greus: exemple del que NO ha de passar.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97680"/>
            <a:ext cx="107899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solidFill>
                  <a:srgbClr val="F2A541"/>
                </a:solidFill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Sense un gestor, la gent reutilitza contrasenyes entre serveis</a:t>
            </a:r>
          </a:p>
          <a:p>
            <a:pPr algn="l">
              <a:lnSpc>
                <a:spcPct val="105000"/>
              </a:lnSpc>
              <a:defRPr sz="125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És exactament el motiu pel qual una filtració com la d'Ashley Madison va acabar afectant comptes de correu, banca o feina de moltes altres persones.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HO SABIES?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6242E"/>
                </a:solidFill>
                <a:latin typeface="Cambria"/>
              </a:rPr>
              <a:t>Tècniques d'atac... i quan surten a les notícies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Força bruta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Prova totes les combinacions possibles.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42232" y="1508760"/>
            <a:ext cx="3410712" cy="128016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5112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3A2E12"/>
                </a:solidFill>
                <a:latin typeface="Calibri"/>
              </a:rPr>
              <a:t>Diccionari</a:t>
            </a:r>
          </a:p>
          <a:p>
            <a:pPr algn="l">
              <a:lnSpc>
                <a:spcPct val="105000"/>
              </a:lnSpc>
              <a:defRPr sz="1100">
                <a:solidFill>
                  <a:srgbClr val="3A2E12"/>
                </a:solidFill>
              </a:defRPr>
            </a:pPr>
            <a:r>
              <a:rPr sz="1100" b="0">
                <a:solidFill>
                  <a:srgbClr val="3A2E12"/>
                </a:solidFill>
                <a:latin typeface="Calibri"/>
              </a:rPr>
              <a:t>Prova paraules i contrasenyes comunes (p. ex. llista RockYou).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508760"/>
            <a:ext cx="3410712" cy="128016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8704" y="1618488"/>
            <a:ext cx="3044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100" b="1">
                <a:solidFill>
                  <a:srgbClr val="FFFFFF"/>
                </a:solidFill>
                <a:latin typeface="Calibri"/>
              </a:rPr>
              <a:t>Rainbow tables</a:t>
            </a:r>
          </a:p>
          <a:p>
            <a:pPr algn="l">
              <a:lnSpc>
                <a:spcPct val="105000"/>
              </a:lnSpc>
              <a:defRPr sz="1100">
                <a:solidFill>
                  <a:srgbClr val="D7E4EE"/>
                </a:solidFill>
              </a:defRPr>
            </a:pPr>
            <a:r>
              <a:rPr sz="1100" b="0">
                <a:solidFill>
                  <a:srgbClr val="FFFFFF"/>
                </a:solidFill>
                <a:latin typeface="Calibri"/>
              </a:rPr>
              <a:t>Taules de hashos precalculats per estalviar temps.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62072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B6B77"/>
                </a:solidFill>
                <a:latin typeface="Calibri"/>
              </a:rPr>
              <a:t>Eines reals: John the Ripper · Ophcrack · Medusa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B6B77"/>
                </a:solidFill>
                <a:latin typeface="Calibri"/>
              </a:rPr>
              <a:t>Llista RockYou (ús educatiu): weakpass.com/wordlists/rockyou.txt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DOS CASOS REALS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66751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2014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Es va clonar l'empremta digital d'una ministra alemanya a partir de fotografies d'alta resolució de les seves mans en una roda de premsa.</a:t>
            </a:r>
          </a:p>
          <a:p>
            <a:pPr algn="l">
              <a:lnSpc>
                <a:spcPct val="105000"/>
              </a:lnSpc>
              <a:defRPr>
                <a:solidFill>
                  <a:srgbClr val="F2A541"/>
                </a:solidFill>
              </a:defRPr>
            </a:pPr>
            <a:r>
              <a:rPr sz="1250" b="1">
                <a:solidFill>
                  <a:srgbClr val="16242E"/>
                </a:solidFill>
                <a:latin typeface="Calibri"/>
              </a:rPr>
              <a:t>2015 — Filtració d'Ashley Madison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242E"/>
                </a:solidFill>
                <a:latin typeface="Calibri"/>
              </a:rPr>
              <a:t>Milions de contrasenyes filtrades van resultar reutilitzades d'altres serveis: un sol atac va comprometre comptes en desenes d'altres llocs web.</a:t>
            </a:r>
          </a:p>
        </p:txBody>
      </p:sp>
      <p:pic>
        <p:nvPicPr>
          <p:cNvPr id="15" name="Picture 14" descr="WorstPass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3794760"/>
            <a:ext cx="4206240" cy="19716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60920" y="5989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Les contrasenyes més utilitzades... i més fàcils d'endevinar.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MATEMÀTICA (I POLÍTICA) DE LES CONTRASENYES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242E"/>
                </a:solidFill>
                <a:latin typeface="Cambria"/>
              </a:rPr>
              <a:t>La longitud importa més que la complexitat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858000" cy="233172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309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caràcters, només minúscules (26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26⁸ ≈ 209 milions de combinacions possibles</a:t>
            </a:r>
          </a:p>
          <a:p>
            <a:pPr algn="l">
              <a:lnSpc>
                <a:spcPct val="105000"/>
              </a:lnSpc>
              <a:defRPr sz="1300">
                <a:solidFill>
                  <a:srgbClr val="F2A541"/>
                </a:solidFill>
              </a:defRPr>
            </a:pPr>
            <a:r>
              <a:rPr sz="1300" b="1">
                <a:solidFill>
                  <a:srgbClr val="FFFFFF"/>
                </a:solidFill>
                <a:latin typeface="Calibri"/>
              </a:rPr>
              <a:t>8 caràcters amb majúscules i minúscules (52 símbols):</a:t>
            </a:r>
          </a:p>
          <a:p>
            <a:pPr algn="l">
              <a:lnSpc>
                <a:spcPct val="105000"/>
              </a:lnSpc>
              <a:defRPr sz="1500">
                <a:solidFill>
                  <a:srgbClr val="D7E4EE"/>
                </a:solidFill>
                <a:latin typeface="Courier New"/>
              </a:defRPr>
            </a:pPr>
            <a:r>
              <a:rPr sz="1300" b="0">
                <a:solidFill>
                  <a:srgbClr val="FFFFFF"/>
                </a:solidFill>
                <a:latin typeface="Calibri"/>
              </a:rPr>
              <a:t>52⁸ ≈ 53,5 bilions de combinacions possibles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CADCE8"/>
                </a:solidFill>
                <a:latin typeface="Calibri"/>
              </a:rPr>
              <a:t>Cada caràcter addicional MULTIPLICA les combinacions: allargar la contrasenya és més eficaç que complicar-la.</a:t>
            </a:r>
          </a:p>
        </p:txBody>
      </p:sp>
      <p:pic>
        <p:nvPicPr>
          <p:cNvPr id="7" name="Picture 6" descr="password_streng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00200"/>
            <a:ext cx="3249455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703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B6B77"/>
                </a:solidFill>
                <a:latin typeface="Calibri"/>
              </a:rPr>
              <a:t>La longitud és el factor que més pesa en la fortalesa real d'una contrasenya.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CADUCITAT, BLOQUEIG I HISTORIAL: EL CONSELL HA CANVIAT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0789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Els experts (SANS Institute) ja NO recomanen forçar canvis periòdics sense motiu: obliga a triar contrasenyes previsibles (Estiu2024! → Estiu2025!...).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7"/>
                </a:solidFill>
                <a:latin typeface="Calibri"/>
              </a:rPr>
              <a:t>Bloqueig de compte després de diversos intents fallits, i historial de contrasenyes (no permetre repetir les últimes X), continuen sent útils.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Emmagatzematge de contrasenyes: hash i 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Un sistema segur mai desa la contrasenya en text pla: en desa un HASH (una empremta irreversible) barrejat amb una SAL aleatòria (en anglès, salt), per evitar que dues contrasenyes iguals generin el mateix resultat.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10789920" cy="1600200"/>
          </a:xfrm>
          <a:prstGeom prst="roundRect">
            <a:avLst/>
          </a:prstGeom>
          <a:solidFill>
            <a:srgbClr val="0B1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mbria"/>
              </a:rPr>
              <a:t>/etc/shadow  (Linux)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ourier New"/>
              </a:rPr>
              <a:t>joan:$6$aB3dK9fZ$Qw8..(hash SHA-512).. :19723:0:99999:7:::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E8"/>
                </a:solidFill>
                <a:latin typeface="Courier New"/>
              </a:rPr>
              <a:t>$6 = algorisme (SHA-512)     ·     aB3dK9fZ = sal aleatòria     ·     la resta = resultat del hash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A Windows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Els hashos es desen al fitxer SAM amb l'algorisme NTLM. Eines com Ophcrack poden extreure'ls si el disc no està xifrat amb BitLocker.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59" y="3977639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242E"/>
                </a:solidFill>
                <a:latin typeface="Cambria"/>
              </a:rPr>
              <a:t>Els camps de /etc/shadow (separats per ":")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79" y="4425696"/>
          <a:ext cx="45720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154680"/>
              </a:tblGrid>
              <a:tr h="20345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mbria"/>
                        </a:rPr>
                        <a:t>Valor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2A541"/>
                          </a:solidFill>
                          <a:latin typeface="Calibri"/>
                        </a:rPr>
                        <a:t>Significat</a:t>
                      </a:r>
                    </a:p>
                  </a:txBody>
                  <a:tcPr marL="54864" marR="54864" marT="18288" marB="18288" anchor="ctr">
                    <a:solidFill>
                      <a:srgbClr val="F4F7F9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joan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Nom d'usuari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$6$aB3dK9fZ$...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Contrasenya xifrada (algorisme + sal + hash)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19723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des de l'1/1/1970 del darrer canvi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mínims abans de poder tornar-la a canviar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99999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màxims abans que calgui canviar-la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Dies d'avís abans que caduqui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345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6242E"/>
                          </a:solidFill>
                          <a:latin typeface="Courier New"/>
                        </a:rPr>
                        <a:t>(buits)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5B6B77"/>
                          </a:solidFill>
                          <a:latin typeface="Calibri"/>
                        </a:rPr>
                        <a:t>Inactivitat, caducitat del compte i un camp reservat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PAS QUE SOL PASSAR DESAPERCEBUT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6242E"/>
                </a:solidFill>
                <a:latin typeface="Cambria"/>
              </a:rPr>
              <a:t>Identificació, autenticació i autorització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Com en un hotel: primer et identifiques (reserva), després demostres qui ets (DNI a recepció), i finalment se't autoritza (la clau que obre la teva habitació).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1. Identificació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Dius qui ets: un nom d'usuari (p. ex. nom.cognom). És la reserva de l'hotel: encara no s'ha comprovat 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2232" y="2057400"/>
            <a:ext cx="3410712" cy="160020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0832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3A2E12"/>
                </a:solidFill>
                <a:latin typeface="Calibri"/>
              </a:rPr>
              <a:t>2. Autenticació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3A2E12"/>
                </a:solidFill>
              </a:defRPr>
            </a:pPr>
            <a:r>
              <a:rPr sz="1200" b="0">
                <a:solidFill>
                  <a:srgbClr val="3A2E12"/>
                </a:solidFill>
                <a:latin typeface="Calibri"/>
              </a:rPr>
              <a:t>Demostres que ets tu de veritat: contrasenya, empremta, targeta... És mostrar el DNI a recepció.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35824" y="2057400"/>
            <a:ext cx="3410712" cy="1600200"/>
          </a:xfrm>
          <a:prstGeom prst="roundRect">
            <a:avLst/>
          </a:prstGeom>
          <a:solidFill>
            <a:srgbClr val="3E6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64424" y="2194560"/>
            <a:ext cx="29535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400">
                <a:latin typeface="Cambria"/>
              </a:defRPr>
            </a:pPr>
            <a:r>
              <a:rPr sz="1200" b="1">
                <a:solidFill>
                  <a:srgbClr val="FFFFFF"/>
                </a:solidFill>
                <a:latin typeface="Calibri"/>
              </a:rPr>
              <a:t>3. Autorització</a:t>
            </a:r>
          </a:p>
          <a:p>
            <a:pPr algn="l">
              <a:lnSpc>
                <a:spcPct val="105000"/>
              </a:lnSpc>
              <a:defRPr sz="1150">
                <a:solidFill>
                  <a:srgbClr val="D7E4EE"/>
                </a:solidFill>
              </a:defRPr>
            </a:pPr>
            <a:r>
              <a:rPr sz="1200" b="0">
                <a:solidFill>
                  <a:srgbClr val="FFFFFF"/>
                </a:solidFill>
                <a:latin typeface="Calibri"/>
              </a:rPr>
              <a:t>El sistema decideix què pots fer un cop dins. És la clau que només obre la teva habitació.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42E"/>
                </a:solidFill>
                <a:latin typeface="Calibri"/>
              </a:rPr>
              <a:t>CONTROL D'ACCÉS LOCAL VS. CENTRALITZAT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Local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Cada equip gestiona els seus propis usuaris i contrasenyes (p. ex. un PC domèstic o un servidor autònom).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59" y="4434840"/>
            <a:ext cx="51206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572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defRPr sz="1500">
                <a:latin typeface="Cambria"/>
              </a:defRPr>
            </a:pPr>
            <a:r>
              <a:rPr sz="1300" b="1">
                <a:solidFill>
                  <a:srgbClr val="16242E"/>
                </a:solidFill>
                <a:latin typeface="Calibri"/>
              </a:rPr>
              <a:t>Centralitzat</a:t>
            </a:r>
          </a:p>
          <a:p>
            <a:pPr algn="l">
              <a:lnSpc>
                <a:spcPct val="105000"/>
              </a:lnSpc>
              <a:defRPr sz="1200">
                <a:solidFill>
                  <a:srgbClr val="5B6B77"/>
                </a:solidFill>
              </a:defRPr>
            </a:pPr>
            <a:r>
              <a:rPr sz="1300" b="0">
                <a:solidFill>
                  <a:srgbClr val="16242E"/>
                </a:solidFill>
                <a:latin typeface="Calibri"/>
              </a:rPr>
              <a:t>Un servidor gestiona tots els usuaris de la xarxa (Active Directory, compte de Google...). Un sol usuari obre múltiples serveis.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2026-09-04T10:38:47Z</dcterms:created>
  <dcterms:modified xsi:type="dcterms:W3CDTF">2026-09-04T10:38:47Z</dcterms:modified>
</cp:coreProperties>
</file>