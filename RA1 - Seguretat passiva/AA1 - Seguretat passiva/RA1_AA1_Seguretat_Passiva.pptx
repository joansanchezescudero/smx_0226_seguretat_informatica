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9" r:id="rId30"/>
    <p:sldId id="271" r:id="rId17"/>
    <p:sldId id="280" r:id="rId31"/>
    <p:sldId id="272" r:id="rId18"/>
    <p:sldId id="273" r:id="rId19"/>
    <p:sldId id="281" r:id="rId32"/>
    <p:sldId id="274" r:id="rId20"/>
    <p:sldId id="275" r:id="rId21"/>
    <p:sldId id="282" r:id="rId33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2.png"/><Relationship Id="rId5" Type="http://schemas.openxmlformats.org/officeDocument/2006/relationships/image" Target="../media/image-8-5.png"/><Relationship Id="rId6" Type="http://schemas.openxmlformats.org/officeDocument/2006/relationships/image" Target="../media/image-8-2.png"/><Relationship Id="rId7" Type="http://schemas.openxmlformats.org/officeDocument/2006/relationships/image" Target="../media/image-8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1.png"/><Relationship Id="rId3" Type="http://schemas.openxmlformats.org/officeDocument/2006/relationships/image" Target="../media/image-15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hyperlink" Target="https://ioc.xtec.cat/materials/FP/Recursos/fp_smx_m06_/web/fp_smx_m06_htmlindex/WebContent/u1/a1/continguts.html" TargetMode="External"/><Relationship Id="rId3" Type="http://schemas.openxmlformats.org/officeDocument/2006/relationships/image" Target="../media/image-23-1.png"/><Relationship Id="rId4" Type="http://schemas.openxmlformats.org/officeDocument/2006/relationships/hyperlink" Target="https://ioc.xtec.cat/materials/FP/Recursos/fp_smx_m06_/web/fp_smx_m06_htmlindex/WebContent/u1/introduccio.html" TargetMode="Externa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-1645920"/>
            <a:ext cx="4572000" cy="457200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-1371600" y="4572000"/>
            <a:ext cx="3657600" cy="3657600"/>
          </a:xfrm>
          <a:prstGeom prst="ellipse">
            <a:avLst/>
          </a:prstGeom>
          <a:solidFill>
            <a:srgbClr val="3E6680">
              <a:alpha val="30000"/>
            </a:srgbClr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731520" y="2377440"/>
            <a:ext cx="1371600" cy="1371600"/>
          </a:xfrm>
          <a:prstGeom prst="ellipse">
            <a:avLst/>
          </a:prstGeom>
          <a:solidFill>
            <a:srgbClr val="F2A541"/>
          </a:solidFill>
          <a:ln/>
        </p:spPr>
        <p:txBody>
          <a:bodyPr/>
          <a:p/>
        </p:txBody>
      </p:sp>
      <p:pic>
        <p:nvPicPr>
          <p:cNvPr id="5" name="Image 0" descr="/home/claude/pptx_build/icons/shie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0130" y="2686050"/>
            <a:ext cx="754380" cy="7543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2468880" y="214884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MÒDUL 06 · SEGURETAT INFORMÀTICA — RA1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2423160" y="2514600"/>
            <a:ext cx="9144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Seguretat passiva</a:t>
            </a:r>
            <a:endParaRPr lang="en-US" sz="5400" dirty="0"/>
          </a:p>
        </p:txBody>
      </p:sp>
      <p:sp>
        <p:nvSpPr>
          <p:cNvPr id="8" name="Text 5"/>
          <p:cNvSpPr txBox="1"/>
          <p:nvPr/>
        </p:nvSpPr>
        <p:spPr>
          <a:xfrm>
            <a:off x="2468880" y="361188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Protegint allò físic: equips, sales i persones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2468880" y="4297680"/>
            <a:ext cx="2926080" cy="0"/>
          </a:xfrm>
          <a:prstGeom prst="line">
            <a:avLst/>
          </a:prstGeom>
          <a:noFill/>
          <a:ln w="25400">
            <a:solidFill>
              <a:srgbClr val="F2A541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2468880" y="4434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CFGM Sistemes Microinformàtics i Xarxes · 2n curs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2468880" y="4892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 Puig Castellar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2468880" y="5166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Joan Sánchez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COMENÇAR: LA UNITAT EN CONTEXT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Seguretat informàtica: molt més que tallafocs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seguretat informàtica és una disciplina holística: engloba tot el que ajuda a reduir i controlar els riscos del dia a dia d'una empresa.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5120640" cy="352044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B2A38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05840" y="2468880"/>
            <a:ext cx="1005840" cy="1005840"/>
          </a:xfrm>
          <a:prstGeom prst="ellipse">
            <a:avLst/>
          </a:prstGeom>
          <a:solidFill>
            <a:srgbClr val="3E6680"/>
          </a:solidFill>
          <a:ln/>
        </p:spPr>
        <p:txBody>
          <a:bodyPr/>
          <a:p/>
        </p:txBody>
      </p:sp>
      <p:pic>
        <p:nvPicPr>
          <p:cNvPr id="7" name="Image 0" descr="/home/claude/pptx_build/icons/netwo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7300" y="2720340"/>
            <a:ext cx="502920" cy="5029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2240280" y="265176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que la gent imagina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3931920"/>
            <a:ext cx="43891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Tallafocs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Antivirus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Detectors d'intrusions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6126480" y="2148840"/>
            <a:ext cx="5120640" cy="352044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B2A38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6583680" y="2468880"/>
            <a:ext cx="1005840" cy="1005840"/>
          </a:xfrm>
          <a:prstGeom prst="ellipse">
            <a:avLst/>
          </a:prstGeom>
          <a:solidFill>
            <a:srgbClr val="F2A541"/>
          </a:solidFill>
          <a:ln/>
        </p:spPr>
        <p:txBody>
          <a:bodyPr/>
          <a:p/>
        </p:txBody>
      </p:sp>
      <p:pic>
        <p:nvPicPr>
          <p:cNvPr id="12" name="Image 1" descr="/home/claude/pptx_build/icons/shiel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5140" y="2720340"/>
            <a:ext cx="502920" cy="50292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7818120" y="265176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que sovint s'oblida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6492240" y="3931920"/>
            <a:ext cx="43891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Seguretat física dels equips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Continuïtat elèctrica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d'accés a les sales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548640" y="58978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3E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aquesta unitat veurem que la base física és tan important com les eines de programari.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1828800"/>
            <a:ext cx="5486400" cy="548640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 SABIES?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0584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robatori de dispositius no para de créixer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5120640" cy="3657600"/>
          </a:xfrm>
          <a:prstGeom prst="roundRect">
            <a:avLst>
              <a:gd name="adj" fmla="val 3000"/>
            </a:avLst>
          </a:prstGeom>
          <a:solidFill>
            <a:srgbClr val="0B1B29"/>
          </a:solidFill>
          <a:ln w="12700">
            <a:solidFill>
              <a:srgbClr val="3E6680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2560320" y="2651760"/>
            <a:ext cx="1097280" cy="1097280"/>
          </a:xfrm>
          <a:prstGeom prst="ellipse">
            <a:avLst/>
          </a:prstGeom>
          <a:solidFill>
            <a:srgbClr val="D64545"/>
          </a:solidFill>
          <a:ln/>
        </p:spPr>
        <p:txBody>
          <a:bodyPr/>
          <a:p/>
        </p:txBody>
      </p:sp>
      <p:pic>
        <p:nvPicPr>
          <p:cNvPr id="7" name="Image 0" descr="/home/claude/pptx_build/icons/chart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34640" y="2926080"/>
            <a:ext cx="548640" cy="54864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22960" y="3886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Segons l'FBI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68680" y="4297680"/>
            <a:ext cx="4480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D7E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robatori d'ordinadors portàtils i de butxaca s'ha incrementat exponencialment en els darrers anys.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6492240" y="2286000"/>
            <a:ext cx="5120640" cy="3657600"/>
          </a:xfrm>
          <a:prstGeom prst="roundRect">
            <a:avLst>
              <a:gd name="adj" fmla="val 3000"/>
            </a:avLst>
          </a:prstGeom>
          <a:solidFill>
            <a:srgbClr val="3E6680"/>
          </a:solidFill>
          <a:ln/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8503920" y="2651760"/>
            <a:ext cx="1097280" cy="1097280"/>
          </a:xfrm>
          <a:prstGeom prst="ellipse">
            <a:avLst/>
          </a:prstGeom>
          <a:solidFill>
            <a:srgbClr val="F2A541"/>
          </a:solidFill>
          <a:ln/>
        </p:spPr>
        <p:txBody>
          <a:bodyPr/>
          <a:p/>
        </p:txBody>
      </p:sp>
      <p:pic>
        <p:nvPicPr>
          <p:cNvPr id="12" name="Image 1" descr="/home/claude/pptx_build/icons/briefcas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0" y="2926080"/>
            <a:ext cx="548640" cy="54864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766560" y="3886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risc especialment greu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812280" y="4297680"/>
            <a:ext cx="4480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 el propietari és un alt càrrec d'una empresa, la pèrdua del dispositiu pot suposar un risc de seguretat molt important.</a:t>
            </a:r>
            <a:endParaRPr lang="en-US" sz="1450" dirty="0"/>
          </a:p>
        </p:txBody>
      </p:sp>
      <p:sp>
        <p:nvSpPr>
          <p:cNvPr id="15" name="Text 11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DE RUTA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Els 3 apartats d'aquesta unitat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3383280" cy="3749040"/>
          </a:xfrm>
          <a:prstGeom prst="roundRect">
            <a:avLst>
              <a:gd name="adj" fmla="val 3243"/>
            </a:avLst>
          </a:prstGeom>
          <a:solidFill>
            <a:srgbClr val="13293D"/>
          </a:solidFill>
          <a:ln/>
          <a:effectLst>
            <a:outerShdw sx="100000" sy="100000" kx="0" ky="0" algn="bl" rotWithShape="0" blurRad="101600" dist="38100" dir="5400000">
              <a:srgbClr val="1B2A38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731520" y="214884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AVUI TOQUEM AQUEST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760220" y="2537460"/>
            <a:ext cx="960120" cy="960120"/>
          </a:xfrm>
          <a:prstGeom prst="ellipse">
            <a:avLst/>
          </a:prstGeom>
          <a:solidFill>
            <a:srgbClr val="F2A541"/>
          </a:solidFill>
          <a:ln/>
        </p:spPr>
        <p:txBody>
          <a:bodyPr/>
          <a:p/>
        </p:txBody>
      </p:sp>
      <p:pic>
        <p:nvPicPr>
          <p:cNvPr id="7" name="Image 0" descr="/home/claude/pptx_build/icons/lo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00250" y="2777490"/>
            <a:ext cx="480060" cy="48006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77240" y="365760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Seguretat passiva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4297680"/>
            <a:ext cx="2834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7E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base física sobre la qual construir tota la resta de mesures de seguretat.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251960" y="1965960"/>
            <a:ext cx="3383280" cy="37490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B2A38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5463540" y="2308860"/>
            <a:ext cx="960120" cy="960120"/>
          </a:xfrm>
          <a:prstGeom prst="ellipse">
            <a:avLst/>
          </a:prstGeom>
          <a:solidFill>
            <a:srgbClr val="3E6680"/>
          </a:solidFill>
          <a:ln/>
        </p:spPr>
        <p:txBody>
          <a:bodyPr/>
          <a:p/>
        </p:txBody>
      </p:sp>
      <p:pic>
        <p:nvPicPr>
          <p:cNvPr id="12" name="Image 1" descr="/home/claude/pptx_build/icons/batter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3570" y="2548890"/>
            <a:ext cx="480060" cy="48006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480560" y="342900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Sistemes d'alimentació ininterrompuda</a:t>
            </a:r>
            <a:endParaRPr lang="en-US" sz="1450" dirty="0"/>
          </a:p>
        </p:txBody>
      </p:sp>
      <p:sp>
        <p:nvSpPr>
          <p:cNvPr id="14" name="Text 10"/>
          <p:cNvSpPr txBox="1"/>
          <p:nvPr/>
        </p:nvSpPr>
        <p:spPr>
          <a:xfrm>
            <a:off x="4526280" y="4069080"/>
            <a:ext cx="2834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tall de corrent, en un entorn corporatiu, pot suposar pèrdua de dades crítiques i costos econòmics.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7955280" y="1965960"/>
            <a:ext cx="3383280" cy="37490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B2A38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16" name="Shape 12"/>
          <p:cNvSpPr/>
          <p:nvPr/>
        </p:nvSpPr>
        <p:spPr>
          <a:xfrm>
            <a:off x="9166860" y="2308860"/>
            <a:ext cx="960120" cy="960120"/>
          </a:xfrm>
          <a:prstGeom prst="ellipse">
            <a:avLst/>
          </a:prstGeom>
          <a:solidFill>
            <a:srgbClr val="3E6680"/>
          </a:solidFill>
          <a:ln/>
        </p:spPr>
        <p:txBody>
          <a:bodyPr/>
          <a:p/>
        </p:txBody>
      </p:sp>
      <p:pic>
        <p:nvPicPr>
          <p:cNvPr id="17" name="Image 2" descr="/home/claude/pptx_build/icons/fingerprin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06890" y="2548890"/>
            <a:ext cx="480060" cy="48006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183880" y="342900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Seguretat lògica</a:t>
            </a:r>
            <a:endParaRPr lang="en-US" sz="1450" dirty="0"/>
          </a:p>
        </p:txBody>
      </p:sp>
      <p:sp>
        <p:nvSpPr>
          <p:cNvPr id="19" name="Text 14"/>
          <p:cNvSpPr txBox="1"/>
          <p:nvPr/>
        </p:nvSpPr>
        <p:spPr>
          <a:xfrm>
            <a:off x="8229600" y="4069080"/>
            <a:ext cx="2834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Autenticació i autorització: des de contrasenyes fins a mesures biomètriques.</a:t>
            </a:r>
            <a:endParaRPr lang="en-US" sz="1200" dirty="0"/>
          </a:p>
        </p:txBody>
      </p:sp>
      <p:sp>
        <p:nvSpPr>
          <p:cNvPr id="20" name="Text 15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AQUESTA SESSIÓ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Què aprendrem avui?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3383280" cy="356616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B2A38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1760220" y="2308860"/>
            <a:ext cx="960120" cy="960120"/>
          </a:xfrm>
          <a:prstGeom prst="ellipse">
            <a:avLst/>
          </a:prstGeom>
          <a:solidFill>
            <a:srgbClr val="3E6680"/>
          </a:solidFill>
          <a:ln/>
        </p:spPr>
        <p:txBody>
          <a:bodyPr/>
          <a:p/>
        </p:txBody>
      </p:sp>
      <p:pic>
        <p:nvPicPr>
          <p:cNvPr id="6" name="Image 0" descr="/home/claude/pptx_build/icons/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00250" y="2548890"/>
            <a:ext cx="480060" cy="48006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77240" y="342900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Ubicació i entorn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4069080"/>
            <a:ext cx="2743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escollir i preparar un espai segur per als equips: emplaçament, temperatura, electricitat i incendis.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251960" y="2011680"/>
            <a:ext cx="3383280" cy="356616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B2A38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5463540" y="2308860"/>
            <a:ext cx="960120" cy="960120"/>
          </a:xfrm>
          <a:prstGeom prst="ellipse">
            <a:avLst/>
          </a:prstGeom>
          <a:solidFill>
            <a:srgbClr val="3E6680"/>
          </a:solidFill>
          <a:ln/>
        </p:spPr>
        <p:txBody>
          <a:bodyPr/>
          <a:p/>
        </p:txBody>
      </p:sp>
      <p:pic>
        <p:nvPicPr>
          <p:cNvPr id="11" name="Image 1" descr="/home/claude/pptx_build/icons/usershiel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3570" y="2548890"/>
            <a:ext cx="480060" cy="48006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480560" y="342900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Riscos i amenaces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4572000" y="4069080"/>
            <a:ext cx="2743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Diferenciar amenaces internes i externes, i entendre com s'avalua el risc real.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7955280" y="2011680"/>
            <a:ext cx="3383280" cy="356616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B2A38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15" name="Shape 11"/>
          <p:cNvSpPr/>
          <p:nvPr/>
        </p:nvSpPr>
        <p:spPr>
          <a:xfrm>
            <a:off x="9166860" y="2308860"/>
            <a:ext cx="960120" cy="960120"/>
          </a:xfrm>
          <a:prstGeom prst="ellipse">
            <a:avLst/>
          </a:prstGeom>
          <a:solidFill>
            <a:srgbClr val="3E6680"/>
          </a:solidFill>
          <a:ln/>
        </p:spPr>
        <p:txBody>
          <a:bodyPr/>
          <a:p/>
        </p:txBody>
      </p:sp>
      <p:pic>
        <p:nvPicPr>
          <p:cNvPr id="16" name="Image 2" descr="/home/claude/pptx_build/icons/shie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06890" y="2548890"/>
            <a:ext cx="480060" cy="48006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183880" y="342900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Mesures de protecció</a:t>
            </a:r>
            <a:endParaRPr lang="en-US" sz="1800" dirty="0"/>
          </a:p>
        </p:txBody>
      </p:sp>
      <p:sp>
        <p:nvSpPr>
          <p:cNvPr id="18" name="Text 13"/>
          <p:cNvSpPr txBox="1"/>
          <p:nvPr/>
        </p:nvSpPr>
        <p:spPr>
          <a:xfrm>
            <a:off x="8275320" y="4069080"/>
            <a:ext cx="2743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Conèixer les 4 grans famílies de mesures: dissuasió, control d'accés, detecció i resposta.</a:t>
            </a:r>
            <a:endParaRPr lang="en-US" sz="1300" dirty="0"/>
          </a:p>
        </p:txBody>
      </p:sp>
      <p:sp>
        <p:nvSpPr>
          <p:cNvPr id="19" name="Text 14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QUÈ EN PARLEM?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D'una sala sencera... a la teva butxaca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5120640" cy="4206240"/>
          </a:xfrm>
          <a:prstGeom prst="roundRect">
            <a:avLst>
              <a:gd name="adj" fmla="val 2609"/>
            </a:avLst>
          </a:prstGeom>
          <a:solidFill>
            <a:srgbClr val="0B1B29"/>
          </a:solidFill>
          <a:ln w="12700">
            <a:solidFill>
              <a:srgbClr val="3E6680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2560320" y="2286000"/>
            <a:ext cx="1097280" cy="1097280"/>
          </a:xfrm>
          <a:prstGeom prst="ellipse">
            <a:avLst/>
          </a:prstGeom>
          <a:solidFill>
            <a:srgbClr val="3E6680"/>
          </a:solidFill>
          <a:ln/>
        </p:spPr>
        <p:txBody>
          <a:bodyPr/>
          <a:p/>
        </p:txBody>
      </p:sp>
      <p:pic>
        <p:nvPicPr>
          <p:cNvPr id="6" name="Image 0" descr="/home/claude/pptx_build/icons/ser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34640" y="2560320"/>
            <a:ext cx="548640" cy="5486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22960" y="35204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ANYS 1960-1970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3931920"/>
            <a:ext cx="44805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D7E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ordinador ocupava una sala sencera. Només grans corporacions en tenien, i poca gent hi podia accedir.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6492240" y="1920240"/>
            <a:ext cx="5120640" cy="4206240"/>
          </a:xfrm>
          <a:prstGeom prst="roundRect">
            <a:avLst>
              <a:gd name="adj" fmla="val 2609"/>
            </a:avLst>
          </a:prstGeom>
          <a:solidFill>
            <a:srgbClr val="3E6680"/>
          </a:solidFill>
          <a:ln/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8503920" y="2286000"/>
            <a:ext cx="1097280" cy="1097280"/>
          </a:xfrm>
          <a:prstGeom prst="ellipse">
            <a:avLst/>
          </a:prstGeom>
          <a:solidFill>
            <a:srgbClr val="F2A541"/>
          </a:solidFill>
          <a:ln/>
        </p:spPr>
        <p:txBody>
          <a:bodyPr/>
          <a:p/>
        </p:txBody>
      </p:sp>
      <p:pic>
        <p:nvPicPr>
          <p:cNvPr id="11" name="Image 1" descr="/home/claude/pptx_build/icons/mobi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0" y="2560320"/>
            <a:ext cx="548640" cy="54864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6766560" y="35204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AVUI</a:t>
            </a:r>
            <a:endParaRPr 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6812280" y="3931920"/>
            <a:ext cx="44805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Portem l'equivalent a mil ordinadors a la butxaca, i s'hi pot accedir sense fils, des de fora de l'edifici.</a:t>
            </a:r>
            <a:endParaRPr lang="en-US" sz="1500" dirty="0"/>
          </a:p>
        </p:txBody>
      </p:sp>
      <p:sp>
        <p:nvSpPr>
          <p:cNvPr id="14" name="Shape 10"/>
          <p:cNvSpPr/>
          <p:nvPr/>
        </p:nvSpPr>
        <p:spPr>
          <a:xfrm>
            <a:off x="5760720" y="3703320"/>
            <a:ext cx="640080" cy="640080"/>
          </a:xfrm>
          <a:prstGeom prst="ellipse">
            <a:avLst/>
          </a:prstGeom>
          <a:solidFill>
            <a:srgbClr val="F2A541"/>
          </a:solidFill>
          <a:ln/>
        </p:spPr>
        <p:txBody>
          <a:bodyPr/>
          <a:p/>
        </p:txBody>
      </p:sp>
      <p:pic>
        <p:nvPicPr>
          <p:cNvPr id="15" name="Image 2" descr="/home/claude/pptx_build/icons/arrowrigh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04738" y="3847338"/>
            <a:ext cx="352044" cy="35204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CONCEPTE CLAU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Seguretat física vs. seguretat lògica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5120640" cy="370332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B2A38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1005840" y="2286000"/>
            <a:ext cx="1005840" cy="1005840"/>
          </a:xfrm>
          <a:prstGeom prst="ellipse">
            <a:avLst/>
          </a:prstGeom>
          <a:solidFill>
            <a:srgbClr val="3E6680"/>
          </a:solidFill>
          <a:ln/>
        </p:spPr>
        <p:txBody>
          <a:bodyPr/>
          <a:p/>
        </p:txBody>
      </p:sp>
      <p:pic>
        <p:nvPicPr>
          <p:cNvPr id="6" name="Image 0" descr="/home/claude/pptx_build/icons/lo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7300" y="2537460"/>
            <a:ext cx="502920" cy="5029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2240280" y="246888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Seguretat FÍSICA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749040"/>
            <a:ext cx="43891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Protegeix el maquinari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Sales, cablejat, dispositius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Ex: panys, tanques, SAI, extintors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6126480" y="1965960"/>
            <a:ext cx="5120640" cy="370332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B2A38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6583680" y="2286000"/>
            <a:ext cx="1005840" cy="1005840"/>
          </a:xfrm>
          <a:prstGeom prst="ellipse">
            <a:avLst/>
          </a:prstGeom>
          <a:solidFill>
            <a:srgbClr val="F2A541"/>
          </a:solidFill>
          <a:ln/>
        </p:spPr>
        <p:txBody>
          <a:bodyPr/>
          <a:p/>
        </p:txBody>
      </p:sp>
      <p:pic>
        <p:nvPicPr>
          <p:cNvPr id="11" name="Image 1" descr="/home/claude/pptx_build/icons/fingerpri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5140" y="2537460"/>
            <a:ext cx="502920" cy="50292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818120" y="246888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Seguretat LÒGICA</a:t>
            </a:r>
            <a:endParaRPr lang="en-US" sz="1900" dirty="0"/>
          </a:p>
        </p:txBody>
      </p:sp>
      <p:sp>
        <p:nvSpPr>
          <p:cNvPr id="13" name="Text 9"/>
          <p:cNvSpPr txBox="1"/>
          <p:nvPr/>
        </p:nvSpPr>
        <p:spPr>
          <a:xfrm>
            <a:off x="6492240" y="3749040"/>
            <a:ext cx="43891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Protegeix la informació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Programari, contrasenyes, permisos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Ex: xifratge, antivirus, backups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548640" y="59436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3E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Aquesta unitat treballa la vessant FÍSICA de la seguretat.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ESTRATÈGIA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Defensa en capes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 mesura és infal·lible per si sola: es combinen diverses capes perquè, si una falla, n'hi hagi una altra al darrere.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68096" y="2743200"/>
            <a:ext cx="2286000" cy="2468880"/>
          </a:xfrm>
          <a:prstGeom prst="roundRect">
            <a:avLst>
              <a:gd name="adj" fmla="val 4800"/>
            </a:avLst>
          </a:prstGeom>
          <a:solidFill>
            <a:srgbClr val="13293D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453896" y="3063240"/>
            <a:ext cx="914400" cy="914400"/>
          </a:xfrm>
          <a:prstGeom prst="ellipse">
            <a:avLst/>
          </a:prstGeom>
          <a:solidFill>
            <a:srgbClr val="F2A541"/>
          </a:solidFill>
          <a:ln/>
        </p:spPr>
        <p:txBody>
          <a:bodyPr/>
          <a:p/>
        </p:txBody>
      </p:sp>
      <p:pic>
        <p:nvPicPr>
          <p:cNvPr id="7" name="Image 0" descr="/home/claude/pptx_build/icons/w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82496" y="3291840"/>
            <a:ext cx="457200" cy="4572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83464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A541">
                    <a:alpha val="65000"/>
                  </a:srgb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905256" y="416052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Tanca perimetral</a:t>
            </a:r>
            <a:endParaRPr lang="en-US" sz="1400" dirty="0"/>
          </a:p>
        </p:txBody>
      </p:sp>
      <p:pic>
        <p:nvPicPr>
          <p:cNvPr id="10" name="Image 1" descr="/home/claude/pptx_build/icons/arrowr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5536" y="3703320"/>
            <a:ext cx="320040" cy="32004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3557016" y="2743200"/>
            <a:ext cx="2286000" cy="2468880"/>
          </a:xfrm>
          <a:prstGeom prst="roundRect">
            <a:avLst>
              <a:gd name="adj" fmla="val 4800"/>
            </a:avLst>
          </a:prstGeom>
          <a:solidFill>
            <a:srgbClr val="3E6680"/>
          </a:solidFill>
          <a:ln/>
        </p:spPr>
        <p:txBody>
          <a:bodyPr/>
          <a:p/>
        </p:txBody>
      </p:sp>
      <p:sp>
        <p:nvSpPr>
          <p:cNvPr id="12" name="Shape 8"/>
          <p:cNvSpPr/>
          <p:nvPr/>
        </p:nvSpPr>
        <p:spPr>
          <a:xfrm>
            <a:off x="4242816" y="3063240"/>
            <a:ext cx="914400" cy="914400"/>
          </a:xfrm>
          <a:prstGeom prst="ellipse">
            <a:avLst/>
          </a:prstGeom>
          <a:solidFill>
            <a:srgbClr val="F2A541"/>
          </a:solidFill>
          <a:ln/>
        </p:spPr>
        <p:txBody>
          <a:bodyPr/>
          <a:p/>
        </p:txBody>
      </p:sp>
      <p:pic>
        <p:nvPicPr>
          <p:cNvPr id="13" name="Image 2" descr="/home/claude/pptx_build/icons/buildin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1416" y="3291840"/>
            <a:ext cx="457200" cy="4572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3666744" y="283464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A541">
                    <a:alpha val="65000"/>
                  </a:srgb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3694176" y="416052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Murs de l'edifici</a:t>
            </a:r>
            <a:endParaRPr lang="en-US" sz="1400" dirty="0"/>
          </a:p>
        </p:txBody>
      </p:sp>
      <p:pic>
        <p:nvPicPr>
          <p:cNvPr id="16" name="Image 3" descr="/home/claude/pptx_build/icons/arrowrigh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34456" y="3703320"/>
            <a:ext cx="320040" cy="32004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6345936" y="2743200"/>
            <a:ext cx="2286000" cy="2468880"/>
          </a:xfrm>
          <a:prstGeom prst="roundRect">
            <a:avLst>
              <a:gd name="adj" fmla="val 4800"/>
            </a:avLst>
          </a:prstGeom>
          <a:solidFill>
            <a:srgbClr val="13293D"/>
          </a:solidFill>
          <a:ln/>
        </p:spPr>
        <p:txBody>
          <a:bodyPr/>
          <a:p/>
        </p:txBody>
      </p:sp>
      <p:sp>
        <p:nvSpPr>
          <p:cNvPr id="18" name="Shape 12"/>
          <p:cNvSpPr/>
          <p:nvPr/>
        </p:nvSpPr>
        <p:spPr>
          <a:xfrm>
            <a:off x="7031736" y="3063240"/>
            <a:ext cx="914400" cy="914400"/>
          </a:xfrm>
          <a:prstGeom prst="ellipse">
            <a:avLst/>
          </a:prstGeom>
          <a:solidFill>
            <a:srgbClr val="F2A541"/>
          </a:solidFill>
          <a:ln/>
        </p:spPr>
        <p:txBody>
          <a:bodyPr/>
          <a:p/>
        </p:txBody>
      </p:sp>
      <p:pic>
        <p:nvPicPr>
          <p:cNvPr id="19" name="Image 4" descr="/home/claude/pptx_build/icons/idcar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60336" y="3291840"/>
            <a:ext cx="457200" cy="457200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6455664" y="283464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A541">
                    <a:alpha val="65000"/>
                  </a:srgb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600" dirty="0"/>
          </a:p>
        </p:txBody>
      </p:sp>
      <p:sp>
        <p:nvSpPr>
          <p:cNvPr id="21" name="Text 14"/>
          <p:cNvSpPr txBox="1"/>
          <p:nvPr/>
        </p:nvSpPr>
        <p:spPr>
          <a:xfrm>
            <a:off x="6483096" y="416052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Accés amb targeta</a:t>
            </a:r>
            <a:endParaRPr lang="en-US" sz="1400" dirty="0"/>
          </a:p>
        </p:txBody>
      </p:sp>
      <p:pic>
        <p:nvPicPr>
          <p:cNvPr id="22" name="Image 5" descr="/home/claude/pptx_build/icons/arrowright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23376" y="3703320"/>
            <a:ext cx="320040" cy="320040"/>
          </a:xfrm>
          <a:prstGeom prst="rect">
            <a:avLst/>
          </a:prstGeom>
        </p:spPr>
      </p:pic>
      <p:sp>
        <p:nvSpPr>
          <p:cNvPr id="23" name="Shape 15"/>
          <p:cNvSpPr/>
          <p:nvPr/>
        </p:nvSpPr>
        <p:spPr>
          <a:xfrm>
            <a:off x="9134856" y="2743200"/>
            <a:ext cx="2286000" cy="2468880"/>
          </a:xfrm>
          <a:prstGeom prst="roundRect">
            <a:avLst>
              <a:gd name="adj" fmla="val 4800"/>
            </a:avLst>
          </a:prstGeom>
          <a:solidFill>
            <a:srgbClr val="3E6680"/>
          </a:solidFill>
          <a:ln/>
        </p:spPr>
        <p:txBody>
          <a:bodyPr/>
          <a:p/>
        </p:txBody>
      </p:sp>
      <p:sp>
        <p:nvSpPr>
          <p:cNvPr id="24" name="Shape 16"/>
          <p:cNvSpPr/>
          <p:nvPr/>
        </p:nvSpPr>
        <p:spPr>
          <a:xfrm>
            <a:off x="9820656" y="3063240"/>
            <a:ext cx="914400" cy="914400"/>
          </a:xfrm>
          <a:prstGeom prst="ellipse">
            <a:avLst/>
          </a:prstGeom>
          <a:solidFill>
            <a:srgbClr val="F2A541"/>
          </a:solidFill>
          <a:ln/>
        </p:spPr>
        <p:txBody>
          <a:bodyPr/>
          <a:p/>
        </p:txBody>
      </p:sp>
      <p:pic>
        <p:nvPicPr>
          <p:cNvPr id="25" name="Image 6" descr="/home/claude/pptx_build/icons/usershiel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49256" y="3291840"/>
            <a:ext cx="457200" cy="457200"/>
          </a:xfrm>
          <a:prstGeom prst="rect">
            <a:avLst/>
          </a:prstGeom>
        </p:spPr>
      </p:pic>
      <p:sp>
        <p:nvSpPr>
          <p:cNvPr id="26" name="Text 17"/>
          <p:cNvSpPr txBox="1"/>
          <p:nvPr/>
        </p:nvSpPr>
        <p:spPr>
          <a:xfrm>
            <a:off x="9244584" y="283464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A541">
                    <a:alpha val="65000"/>
                  </a:srgb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600" dirty="0"/>
          </a:p>
        </p:txBody>
      </p:sp>
      <p:sp>
        <p:nvSpPr>
          <p:cNvPr id="27" name="Text 18"/>
          <p:cNvSpPr txBox="1"/>
          <p:nvPr/>
        </p:nvSpPr>
        <p:spPr>
          <a:xfrm>
            <a:off x="9272016" y="416052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Guarda de seguretat</a:t>
            </a:r>
            <a:endParaRPr lang="en-US" sz="1400" dirty="0"/>
          </a:p>
        </p:txBody>
      </p:sp>
      <p:sp>
        <p:nvSpPr>
          <p:cNvPr id="28" name="Text 19"/>
          <p:cNvSpPr txBox="1"/>
          <p:nvPr/>
        </p:nvSpPr>
        <p:spPr>
          <a:xfrm>
            <a:off x="548640" y="562356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més capes cal superar, més temps guanyem per reaccionar davant d'un atac.</a:t>
            </a:r>
            <a:endParaRPr lang="en-US" sz="1400" dirty="0"/>
          </a:p>
        </p:txBody>
      </p:sp>
      <p:sp>
        <p:nvSpPr>
          <p:cNvPr id="29" name="Text 20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VOCABULARI CLAU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Amenaça vs. risc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078992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B2A38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91540" y="1965960"/>
            <a:ext cx="777240" cy="777240"/>
          </a:xfrm>
          <a:prstGeom prst="ellipse">
            <a:avLst/>
          </a:prstGeom>
          <a:solidFill>
            <a:srgbClr val="F2A541"/>
          </a:solidFill>
          <a:ln/>
        </p:spPr>
        <p:txBody>
          <a:bodyPr/>
          <a:p/>
        </p:txBody>
      </p:sp>
      <p:pic>
        <p:nvPicPr>
          <p:cNvPr id="6" name="Image 0" descr="/home/claude/pptx_build/icons/warn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5850" y="2160270"/>
            <a:ext cx="388620" cy="3886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920240" y="1947672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Amenaça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4023360" y="1947672"/>
            <a:ext cx="7040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Qualsevol vulnerabilitat que un atacant pugui arribar a explotar (una finestra sense reixa, una porta sense pany...).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48640" y="3108960"/>
            <a:ext cx="1078992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B2A38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891540" y="3246120"/>
            <a:ext cx="777240" cy="777240"/>
          </a:xfrm>
          <a:prstGeom prst="ellipse">
            <a:avLst/>
          </a:prstGeom>
          <a:solidFill>
            <a:srgbClr val="F2A541"/>
          </a:solidFill>
          <a:ln/>
        </p:spPr>
        <p:txBody>
          <a:bodyPr/>
          <a:p/>
        </p:txBody>
      </p:sp>
      <p:pic>
        <p:nvPicPr>
          <p:cNvPr id="11" name="Image 1" descr="/home/claude/pptx_build/icons/balanc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5850" y="3440430"/>
            <a:ext cx="388620" cy="38862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920240" y="3227832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Risc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4023360" y="3227832"/>
            <a:ext cx="7040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probabilitat que algú descobreixi aquella amenaça i l'exploti realment.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548640" y="4526280"/>
            <a:ext cx="5120640" cy="1508760"/>
          </a:xfrm>
          <a:prstGeom prst="roundRect">
            <a:avLst>
              <a:gd name="adj" fmla="val 6061"/>
            </a:avLst>
          </a:prstGeom>
          <a:solidFill>
            <a:srgbClr val="3E6680"/>
          </a:solidFill>
          <a:ln/>
        </p:spPr>
        <p:txBody>
          <a:bodyPr/>
          <a:p/>
        </p:txBody>
      </p:sp>
      <p:sp>
        <p:nvSpPr>
          <p:cNvPr id="15" name="Text 11"/>
          <p:cNvSpPr txBox="1"/>
          <p:nvPr/>
        </p:nvSpPr>
        <p:spPr>
          <a:xfrm>
            <a:off x="868680" y="466344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Amenaces INTERNES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868680" y="5056632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0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incendi fortuït, una fuita d'aigua... o un empleat descontent. Poden ser difícils de controlar: coneixen el sistema per dins.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6126480" y="4526280"/>
            <a:ext cx="5120640" cy="1508760"/>
          </a:xfrm>
          <a:prstGeom prst="roundRect">
            <a:avLst>
              <a:gd name="adj" fmla="val 6061"/>
            </a:avLst>
          </a:prstGeom>
          <a:solidFill>
            <a:srgbClr val="D64545"/>
          </a:solidFill>
          <a:ln/>
        </p:spPr>
        <p:txBody>
          <a:bodyPr/>
          <a:p/>
        </p:txBody>
      </p:sp>
      <p:sp>
        <p:nvSpPr>
          <p:cNvPr id="18" name="Text 14"/>
          <p:cNvSpPr txBox="1"/>
          <p:nvPr/>
        </p:nvSpPr>
        <p:spPr>
          <a:xfrm>
            <a:off x="6446520" y="466344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Amenaces EXTERNES</a:t>
            </a:r>
            <a:endParaRPr lang="en-US" sz="1500" dirty="0"/>
          </a:p>
        </p:txBody>
      </p:sp>
      <p:sp>
        <p:nvSpPr>
          <p:cNvPr id="19" name="Text 15"/>
          <p:cNvSpPr txBox="1"/>
          <p:nvPr/>
        </p:nvSpPr>
        <p:spPr>
          <a:xfrm>
            <a:off x="6446520" y="5056632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0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Atacants aliens que volen robar informació o malmetre recursos. El nivell de risc no és el mateix per a totes les empreses.</a:t>
            </a:r>
            <a:endParaRPr lang="en-US" sz="1250" dirty="0"/>
          </a:p>
        </p:txBody>
      </p:sp>
      <p:sp>
        <p:nvSpPr>
          <p:cNvPr id="20" name="Text 16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UBICACIÓ DE LES INSTAL·LACIONS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 construïm el centre de dades?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51206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B2A38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91540" y="2354580"/>
            <a:ext cx="868680" cy="868680"/>
          </a:xfrm>
          <a:prstGeom prst="ellipse">
            <a:avLst/>
          </a:prstGeom>
          <a:solidFill>
            <a:srgbClr val="3E6680"/>
          </a:solidFill>
          <a:ln/>
        </p:spPr>
        <p:txBody>
          <a:bodyPr/>
          <a:p/>
        </p:txBody>
      </p:sp>
      <p:pic>
        <p:nvPicPr>
          <p:cNvPr id="6" name="Image 0" descr="/home/claude/pptx_build/icons/ey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8710" y="2571750"/>
            <a:ext cx="434340" cy="4343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920240" y="2075688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Visibilitat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920240" y="2496312"/>
            <a:ext cx="3474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Terrenys, cartells i logos: com més discreta la instal·lació, menys atrau atacants.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126480" y="1874520"/>
            <a:ext cx="51206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B2A38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6469380" y="2354580"/>
            <a:ext cx="868680" cy="868680"/>
          </a:xfrm>
          <a:prstGeom prst="ellipse">
            <a:avLst/>
          </a:prstGeom>
          <a:solidFill>
            <a:srgbClr val="F2A541"/>
          </a:solidFill>
          <a:ln/>
        </p:spPr>
        <p:txBody>
          <a:bodyPr/>
          <a:p/>
        </p:txBody>
      </p:sp>
      <p:pic>
        <p:nvPicPr>
          <p:cNvPr id="11" name="Image 1" descr="/home/claude/pptx_build/icons/warni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86550" y="2571750"/>
            <a:ext cx="434340" cy="43434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498080" y="2075688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Factors externs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7498080" y="2496312"/>
            <a:ext cx="3474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Taxes de criminalitat i proximitat a policia, bombers i hospitals.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548640" y="3977640"/>
            <a:ext cx="51206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B2A38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5" name="Shape 11"/>
          <p:cNvSpPr/>
          <p:nvPr/>
        </p:nvSpPr>
        <p:spPr>
          <a:xfrm>
            <a:off x="891540" y="4457700"/>
            <a:ext cx="868680" cy="868680"/>
          </a:xfrm>
          <a:prstGeom prst="ellipse">
            <a:avLst/>
          </a:prstGeom>
          <a:solidFill>
            <a:srgbClr val="3E6680"/>
          </a:solidFill>
          <a:ln/>
        </p:spPr>
        <p:txBody>
          <a:bodyPr/>
          <a:p/>
        </p:txBody>
      </p:sp>
      <p:pic>
        <p:nvPicPr>
          <p:cNvPr id="16" name="Image 2" descr="/home/claude/pptx_build/icons/ma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8710" y="4674870"/>
            <a:ext cx="434340" cy="43434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920240" y="4178808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Accessibilitat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1920240" y="4599432"/>
            <a:ext cx="3474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Accés per carretera, trànsit i proximitat a aeroports o estacions.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6126480" y="3977640"/>
            <a:ext cx="51206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B2A38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0" name="Shape 15"/>
          <p:cNvSpPr/>
          <p:nvPr/>
        </p:nvSpPr>
        <p:spPr>
          <a:xfrm>
            <a:off x="6469380" y="4457700"/>
            <a:ext cx="868680" cy="868680"/>
          </a:xfrm>
          <a:prstGeom prst="ellipse">
            <a:avLst/>
          </a:prstGeom>
          <a:solidFill>
            <a:srgbClr val="F2A541"/>
          </a:solidFill>
          <a:ln/>
        </p:spPr>
        <p:txBody>
          <a:bodyPr/>
          <a:p/>
        </p:txBody>
      </p:sp>
      <p:pic>
        <p:nvPicPr>
          <p:cNvPr id="21" name="Image 3" descr="/home/claude/pptx_build/icons/mountai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6550" y="4674870"/>
            <a:ext cx="434340" cy="43434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498080" y="4178808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Desastres naturals</a:t>
            </a:r>
            <a:endParaRPr lang="en-US" sz="1500" dirty="0"/>
          </a:p>
        </p:txBody>
      </p:sp>
      <p:sp>
        <p:nvSpPr>
          <p:cNvPr id="23" name="Text 17"/>
          <p:cNvSpPr txBox="1"/>
          <p:nvPr/>
        </p:nvSpPr>
        <p:spPr>
          <a:xfrm>
            <a:off x="7498080" y="4599432"/>
            <a:ext cx="3474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 d'inundacions, terratrèmols, allaus o despreniments.</a:t>
            </a:r>
            <a:endParaRPr lang="en-US" sz="1200" dirty="0"/>
          </a:p>
        </p:txBody>
      </p:sp>
      <p:sp>
        <p:nvSpPr>
          <p:cNvPr id="24" name="Text 18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1828800"/>
            <a:ext cx="5486400" cy="548640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 SABIES?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0584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Servidors... a mines i vaixells?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2194560"/>
            <a:ext cx="5120640" cy="3840480"/>
          </a:xfrm>
          <a:prstGeom prst="roundRect">
            <a:avLst>
              <a:gd name="adj" fmla="val 2857"/>
            </a:avLst>
          </a:prstGeom>
          <a:solidFill>
            <a:srgbClr val="0B1B29"/>
          </a:solidFill>
          <a:ln w="12700">
            <a:solidFill>
              <a:srgbClr val="3E6680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2560320" y="2560320"/>
            <a:ext cx="1097280" cy="1097280"/>
          </a:xfrm>
          <a:prstGeom prst="ellipse">
            <a:avLst/>
          </a:prstGeom>
          <a:solidFill>
            <a:srgbClr val="3E6680"/>
          </a:solidFill>
          <a:ln/>
        </p:spPr>
        <p:txBody>
          <a:bodyPr/>
          <a:p/>
        </p:txBody>
      </p:sp>
      <p:pic>
        <p:nvPicPr>
          <p:cNvPr id="7" name="Image 0" descr="/home/claude/pptx_build/icons/mount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34640" y="2834640"/>
            <a:ext cx="548640" cy="54864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22960" y="37947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Mines abandonades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868680" y="4251960"/>
            <a:ext cx="4480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7E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Algunes empreses hi instal·len servidors per aprofitar el fred natural i estalviar en refrigeració.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492240" y="2194560"/>
            <a:ext cx="5120640" cy="3840480"/>
          </a:xfrm>
          <a:prstGeom prst="roundRect">
            <a:avLst>
              <a:gd name="adj" fmla="val 2857"/>
            </a:avLst>
          </a:prstGeom>
          <a:solidFill>
            <a:srgbClr val="3E6680"/>
          </a:solidFill>
          <a:ln/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8503920" y="2560320"/>
            <a:ext cx="1097280" cy="1097280"/>
          </a:xfrm>
          <a:prstGeom prst="ellipse">
            <a:avLst/>
          </a:prstGeom>
          <a:solidFill>
            <a:srgbClr val="F2A541"/>
          </a:solidFill>
          <a:ln/>
        </p:spPr>
        <p:txBody>
          <a:bodyPr/>
          <a:p/>
        </p:txBody>
      </p:sp>
      <p:pic>
        <p:nvPicPr>
          <p:cNvPr id="12" name="Image 1" descr="/home/claude/pptx_build/icons/shi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0" y="2834640"/>
            <a:ext cx="548640" cy="54864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766560" y="37947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1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Vaixells en alta mar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6812280" y="4251960"/>
            <a:ext cx="4480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gegant d'Internet ha provat parcs de servidors flotants: onades per energia, aigua per refrigerar, i ubicació secreta = molta seguretat.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CONDICIONS AMBIENTALS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temperatura, un factor crític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28800"/>
            <a:ext cx="603504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 equips escalfats = avaries.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 controlar la temperatura ambiental i revisar periòdicament ventiladors i refrigeració.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Humitat massa alta → corrosió. Humitat massa baixa → electricitat estàtica i curtcircuits.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040880" y="2103120"/>
            <a:ext cx="4480560" cy="1554480"/>
          </a:xfrm>
          <a:prstGeom prst="roundRect">
            <a:avLst>
              <a:gd name="adj" fmla="val 7059"/>
            </a:avLst>
          </a:prstGeom>
          <a:solidFill>
            <a:srgbClr val="3E6680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7315200" y="224028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80°C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9052560" y="2240280"/>
            <a:ext cx="2286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2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límit intern d'ordinadors i perifèrics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040880" y="4023360"/>
            <a:ext cx="4480560" cy="1554480"/>
          </a:xfrm>
          <a:prstGeom prst="roundRect">
            <a:avLst>
              <a:gd name="adj" fmla="val 7059"/>
            </a:avLst>
          </a:prstGeom>
          <a:solidFill>
            <a:srgbClr val="D64545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7315200" y="416052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38°C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9052560" y="4160520"/>
            <a:ext cx="2286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2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límit intern per a discs i emmagatzematge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02920" y="5166360"/>
            <a:ext cx="822960" cy="822960"/>
          </a:xfrm>
          <a:prstGeom prst="ellipse">
            <a:avLst/>
          </a:prstGeom>
          <a:solidFill>
            <a:srgbClr val="F2A541"/>
          </a:solidFill>
          <a:ln/>
        </p:spPr>
        <p:txBody>
          <a:bodyPr/>
          <a:p/>
        </p:txBody>
      </p:sp>
      <p:pic>
        <p:nvPicPr>
          <p:cNvPr id="12" name="Image 0" descr="/home/claude/pptx_build/icons/thermome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086" y="5351526"/>
            <a:ext cx="452628" cy="452628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1463040" y="5257800"/>
            <a:ext cx="5212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sobre d'aquests valors, els components es poden fer malbé de manera irreparable.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CONDICIONS ELÈCTRIQUES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Alimentació neta i sense talls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5120640" cy="374904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B2A38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937260" y="2217420"/>
            <a:ext cx="960120" cy="960120"/>
          </a:xfrm>
          <a:prstGeom prst="ellipse">
            <a:avLst/>
          </a:prstGeom>
          <a:solidFill>
            <a:srgbClr val="3E6680"/>
          </a:solidFill>
          <a:ln/>
        </p:spPr>
        <p:txBody>
          <a:bodyPr/>
          <a:p/>
        </p:txBody>
      </p:sp>
      <p:pic>
        <p:nvPicPr>
          <p:cNvPr id="6" name="Image 0" descr="/home/claude/pptx_build/icons/bol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7290" y="2457450"/>
            <a:ext cx="480060" cy="48006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2057400" y="233172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SAI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2057400" y="2724912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d'Alimentació Ininterrompuda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68680" y="3383280"/>
            <a:ext cx="44805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Garanteix la continuïtat del servei quan hi ha un tall extern d'alimentació. Imprescindible en qualsevol sala de servidors.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126480" y="1920240"/>
            <a:ext cx="5120640" cy="374904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B2A38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6515100" y="2217420"/>
            <a:ext cx="960120" cy="960120"/>
          </a:xfrm>
          <a:prstGeom prst="ellipse">
            <a:avLst/>
          </a:prstGeom>
          <a:solidFill>
            <a:srgbClr val="F2A541"/>
          </a:solidFill>
          <a:ln/>
        </p:spPr>
        <p:txBody>
          <a:bodyPr/>
          <a:p/>
        </p:txBody>
      </p:sp>
      <p:pic>
        <p:nvPicPr>
          <p:cNvPr id="12" name="Image 1" descr="/home/claude/pptx_build/icons/warni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55130" y="2457450"/>
            <a:ext cx="480060" cy="48006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7635240" y="2331720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Interferències</a:t>
            </a:r>
            <a:endParaRPr lang="en-US" sz="1800" dirty="0"/>
          </a:p>
        </p:txBody>
      </p:sp>
      <p:sp>
        <p:nvSpPr>
          <p:cNvPr id="14" name="Text 10"/>
          <p:cNvSpPr txBox="1"/>
          <p:nvPr/>
        </p:nvSpPr>
        <p:spPr>
          <a:xfrm>
            <a:off x="7635240" y="2724912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Electromagnètiques i de ràdio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6995160" y="3383280"/>
            <a:ext cx="44805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Cables mal aïllats o motors: interferències electromagnètiques.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Curiositat: els fluorescents són la font més habitual d'interferències de ràdio — per això no es passa cablejat a prop.</a:t>
            </a:r>
            <a:endParaRPr lang="en-US" sz="1300" dirty="0"/>
          </a:p>
        </p:txBody>
      </p:sp>
      <p:sp>
        <p:nvSpPr>
          <p:cNvPr id="16" name="Text 12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CONDICIONS AMBIENTALS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Ventilació: no només fred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1143000" y="2606040"/>
            <a:ext cx="1920240" cy="1920240"/>
          </a:xfrm>
          <a:prstGeom prst="ellipse">
            <a:avLst/>
          </a:prstGeom>
          <a:solidFill>
            <a:srgbClr val="3E6680"/>
          </a:solidFill>
          <a:ln/>
        </p:spPr>
        <p:txBody>
          <a:bodyPr/>
          <a:p/>
        </p:txBody>
      </p:sp>
      <p:pic>
        <p:nvPicPr>
          <p:cNvPr id="5" name="Image 0" descr="/home/claude/pptx_build/icons/win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23060" y="3086100"/>
            <a:ext cx="960120" cy="9601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3931920" y="1920240"/>
            <a:ext cx="7132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d'aire condicionat de circuit tancat</a:t>
            </a:r>
            <a:endParaRPr lang="en-US" sz="17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Recicla l'aire de dins l'edifici, ja filtrat, en lloc d'expulsar-lo a l'exterior.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3931920" y="3383280"/>
            <a:ext cx="713232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B2A38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4251960" y="3566160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 què cal filtrar l'aire?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4251960" y="4023360"/>
            <a:ext cx="6583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pols obstrueix els ventiladors de refrigeració interna dels equips.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Certs gasos poden accelerar la corrosió dels components.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PREVENCIÓ D'INCENDIS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Perquè hi hagi foc, cal...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520440" y="1691640"/>
            <a:ext cx="1371600" cy="1371600"/>
          </a:xfrm>
          <a:prstGeom prst="ellipse">
            <a:avLst/>
          </a:prstGeom>
          <a:solidFill>
            <a:srgbClr val="D64545"/>
          </a:solidFill>
          <a:ln/>
        </p:spPr>
        <p:txBody>
          <a:bodyPr/>
          <a:p/>
        </p:txBody>
      </p:sp>
      <p:pic>
        <p:nvPicPr>
          <p:cNvPr id="5" name="Image 0" descr="/home/claude/pptx_build/icons/fi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63340" y="2034540"/>
            <a:ext cx="685800" cy="6858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3200400" y="315468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Calor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2174221" y="4023360"/>
            <a:ext cx="1371600" cy="1371600"/>
          </a:xfrm>
          <a:prstGeom prst="ellipse">
            <a:avLst/>
          </a:prstGeom>
          <a:solidFill>
            <a:srgbClr val="D64545"/>
          </a:solidFill>
          <a:ln/>
        </p:spPr>
        <p:txBody>
          <a:bodyPr/>
          <a:p/>
        </p:txBody>
      </p:sp>
      <p:pic>
        <p:nvPicPr>
          <p:cNvPr id="8" name="Image 1" descr="/home/claude/pptx_build/icons/fir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7121" y="4366260"/>
            <a:ext cx="685800" cy="6858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854181" y="548640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Combustible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4866659" y="4023360"/>
            <a:ext cx="1371600" cy="1371600"/>
          </a:xfrm>
          <a:prstGeom prst="ellipse">
            <a:avLst/>
          </a:prstGeom>
          <a:solidFill>
            <a:srgbClr val="D64545"/>
          </a:solidFill>
          <a:ln/>
        </p:spPr>
        <p:txBody>
          <a:bodyPr/>
          <a:p/>
        </p:txBody>
      </p:sp>
      <p:pic>
        <p:nvPicPr>
          <p:cNvPr id="11" name="Image 2" descr="/home/claude/pptx_build/icons/fir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09559" y="4366260"/>
            <a:ext cx="685800" cy="68580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4546619" y="548640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Oxigen</a:t>
            </a:r>
            <a:endParaRPr lang="en-US" sz="1400" dirty="0"/>
          </a:p>
        </p:txBody>
      </p:sp>
      <p:sp>
        <p:nvSpPr>
          <p:cNvPr id="13" name="Shape 8"/>
          <p:cNvSpPr/>
          <p:nvPr/>
        </p:nvSpPr>
        <p:spPr>
          <a:xfrm>
            <a:off x="6949440" y="2103120"/>
            <a:ext cx="4663440" cy="3749040"/>
          </a:xfrm>
          <a:prstGeom prst="roundRect">
            <a:avLst>
              <a:gd name="adj" fmla="val 2927"/>
            </a:avLst>
          </a:prstGeom>
          <a:solidFill>
            <a:srgbClr val="0B1B29"/>
          </a:solidFill>
          <a:ln w="12700">
            <a:solidFill>
              <a:srgbClr val="3E6680"/>
            </a:solidFill>
            <a:prstDash val="solid"/>
          </a:ln>
        </p:spPr>
        <p:txBody>
          <a:bodyPr/>
          <a:p/>
        </p:txBody>
      </p:sp>
      <p:sp>
        <p:nvSpPr>
          <p:cNvPr id="14" name="Text 9"/>
          <p:cNvSpPr txBox="1"/>
          <p:nvPr/>
        </p:nvSpPr>
        <p:spPr>
          <a:xfrm>
            <a:off x="7269480" y="233172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Elimina un dels tres i el foc s'apaga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7269480" y="3063240"/>
            <a:ext cx="40233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D7E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Sense combustible: escuma que aïlla el material.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D7E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Sense oxigen: CO2 elimina l'oxigen disponible (perillós si hi ha persones).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D7E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més combustible per m², més ràpid es propaga: per això cal ordre a les zones d'emmagatzematge.</a:t>
            </a:r>
            <a:endParaRPr lang="en-US" sz="1350" dirty="0"/>
          </a:p>
        </p:txBody>
      </p:sp>
      <p:sp>
        <p:nvSpPr>
          <p:cNvPr id="16" name="Text 11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PREVENCIÓ D'INCENDIS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Detectar-ho aviat, apagar-ho bé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1206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B2A38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91540" y="2308860"/>
            <a:ext cx="868680" cy="868680"/>
          </a:xfrm>
          <a:prstGeom prst="ellipse">
            <a:avLst/>
          </a:prstGeom>
          <a:solidFill>
            <a:srgbClr val="3E6680"/>
          </a:solidFill>
          <a:ln/>
        </p:spPr>
        <p:txBody>
          <a:bodyPr/>
          <a:p/>
        </p:txBody>
      </p:sp>
      <p:pic>
        <p:nvPicPr>
          <p:cNvPr id="6" name="Image 0" descr="/home/claude/pptx_build/icons/be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8710" y="2526030"/>
            <a:ext cx="434340" cy="4343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920240" y="20574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Detectors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1920240" y="2450592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Òptics (variacions de llum per fum) o de temperatura. Manuals o automàtics.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126480" y="1828800"/>
            <a:ext cx="51206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B2A38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6469380" y="2308860"/>
            <a:ext cx="868680" cy="868680"/>
          </a:xfrm>
          <a:prstGeom prst="ellipse">
            <a:avLst/>
          </a:prstGeom>
          <a:solidFill>
            <a:srgbClr val="F2A541"/>
          </a:solidFill>
          <a:ln/>
        </p:spPr>
        <p:txBody>
          <a:bodyPr/>
          <a:p/>
        </p:txBody>
      </p:sp>
      <p:pic>
        <p:nvPicPr>
          <p:cNvPr id="11" name="Image 1" descr="/home/claude/pptx_build/icons/extinguish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86550" y="2526030"/>
            <a:ext cx="434340" cy="43434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498080" y="20574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Extinció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7498080" y="2450592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Manuals (extintors, mànegues) o automàtics (aspersors d'aigua o gas).</a:t>
            </a:r>
            <a:endParaRPr lang="en-US" sz="1250" dirty="0"/>
          </a:p>
        </p:txBody>
      </p:sp>
      <p:sp>
        <p:nvSpPr>
          <p:cNvPr id="14" name="Text 10"/>
          <p:cNvSpPr txBox="1"/>
          <p:nvPr/>
        </p:nvSpPr>
        <p:spPr>
          <a:xfrm>
            <a:off x="548640" y="3931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Tipus de foc i com apagar-los</a:t>
            </a:r>
            <a:endParaRPr lang="en-US" sz="16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343400"/>
          <a:ext cx="10789920" cy="1600200"/>
        </p:xfrm>
        <a:graphic>
          <a:graphicData uri="http://schemas.openxmlformats.org/drawingml/2006/table">
            <a:tbl>
              <a:tblPr/>
              <a:tblGrid>
                <a:gridCol w="1188720"/>
                <a:gridCol w="2286000"/>
                <a:gridCol w="3657600"/>
                <a:gridCol w="36576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Tipus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Exemple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Extinció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3D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Comú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Fusta, paper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Aigua, escuma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Líquid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Petroli, carbó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CO2, escuma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Elèctric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Cables, material elèctric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CO2, pólvora seca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Metalls inflamables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Magnesi, sodi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Pólvora seca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Text 11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MESURES DE SEGURETAT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Quatre grans famílies de mesures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76656" y="2377440"/>
            <a:ext cx="2468880" cy="3108960"/>
          </a:xfrm>
          <a:prstGeom prst="roundRect">
            <a:avLst>
              <a:gd name="adj" fmla="val 4444"/>
            </a:avLst>
          </a:prstGeom>
          <a:solidFill>
            <a:srgbClr val="13293D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859536" y="25146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1431036" y="3268980"/>
            <a:ext cx="960120" cy="960120"/>
          </a:xfrm>
          <a:prstGeom prst="ellipse">
            <a:avLst/>
          </a:prstGeom>
          <a:solidFill>
            <a:srgbClr val="F2A541"/>
          </a:solidFill>
          <a:ln/>
        </p:spPr>
        <p:txBody>
          <a:bodyPr/>
          <a:p/>
        </p:txBody>
      </p:sp>
      <p:pic>
        <p:nvPicPr>
          <p:cNvPr id="7" name="Image 0" descr="/home/claude/pptx_build/icons/be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71066" y="3509010"/>
            <a:ext cx="480060" cy="48006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59536" y="43434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Dissuasives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859536" y="4800600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4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 que l'atac sembli poc atractiu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465576" y="2377440"/>
            <a:ext cx="2468880" cy="3108960"/>
          </a:xfrm>
          <a:prstGeom prst="roundRect">
            <a:avLst>
              <a:gd name="adj" fmla="val 4444"/>
            </a:avLst>
          </a:prstGeom>
          <a:solidFill>
            <a:srgbClr val="3E6680"/>
          </a:solidFill>
          <a:ln/>
        </p:spPr>
        <p:txBody>
          <a:bodyPr/>
          <a:p/>
        </p:txBody>
      </p:sp>
      <p:sp>
        <p:nvSpPr>
          <p:cNvPr id="11" name="Text 8"/>
          <p:cNvSpPr txBox="1"/>
          <p:nvPr/>
        </p:nvSpPr>
        <p:spPr>
          <a:xfrm>
            <a:off x="3648456" y="25146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4219956" y="3268980"/>
            <a:ext cx="960120" cy="960120"/>
          </a:xfrm>
          <a:prstGeom prst="ellipse">
            <a:avLst/>
          </a:prstGeom>
          <a:solidFill>
            <a:srgbClr val="F2A541"/>
          </a:solidFill>
          <a:ln/>
        </p:spPr>
        <p:txBody>
          <a:bodyPr/>
          <a:p/>
        </p:txBody>
      </p:sp>
      <p:pic>
        <p:nvPicPr>
          <p:cNvPr id="13" name="Image 1" descr="/home/claude/pptx_build/icons/doo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9986" y="3509010"/>
            <a:ext cx="480060" cy="48006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3648456" y="43434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Dificultat d'accés</a:t>
            </a:r>
            <a:endParaRPr lang="en-US" sz="1450" dirty="0"/>
          </a:p>
        </p:txBody>
      </p:sp>
      <p:sp>
        <p:nvSpPr>
          <p:cNvPr id="15" name="Text 11"/>
          <p:cNvSpPr txBox="1"/>
          <p:nvPr/>
        </p:nvSpPr>
        <p:spPr>
          <a:xfrm>
            <a:off x="3648456" y="4800600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4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Guanyar temps de reacció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6254496" y="2377440"/>
            <a:ext cx="2468880" cy="3108960"/>
          </a:xfrm>
          <a:prstGeom prst="roundRect">
            <a:avLst>
              <a:gd name="adj" fmla="val 4444"/>
            </a:avLst>
          </a:prstGeom>
          <a:solidFill>
            <a:srgbClr val="13293D"/>
          </a:solidFill>
          <a:ln/>
        </p:spPr>
        <p:txBody>
          <a:bodyPr/>
          <a:p/>
        </p:txBody>
      </p:sp>
      <p:sp>
        <p:nvSpPr>
          <p:cNvPr id="17" name="Text 13"/>
          <p:cNvSpPr txBox="1"/>
          <p:nvPr/>
        </p:nvSpPr>
        <p:spPr>
          <a:xfrm>
            <a:off x="6437376" y="25146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endParaRPr lang="en-US" sz="2000" dirty="0"/>
          </a:p>
        </p:txBody>
      </p:sp>
      <p:sp>
        <p:nvSpPr>
          <p:cNvPr id="18" name="Shape 14"/>
          <p:cNvSpPr/>
          <p:nvPr/>
        </p:nvSpPr>
        <p:spPr>
          <a:xfrm>
            <a:off x="7008876" y="3268980"/>
            <a:ext cx="960120" cy="960120"/>
          </a:xfrm>
          <a:prstGeom prst="ellipse">
            <a:avLst/>
          </a:prstGeom>
          <a:solidFill>
            <a:srgbClr val="F2A541"/>
          </a:solidFill>
          <a:ln/>
        </p:spPr>
        <p:txBody>
          <a:bodyPr/>
          <a:p/>
        </p:txBody>
      </p:sp>
      <p:pic>
        <p:nvPicPr>
          <p:cNvPr id="19" name="Image 2" descr="/home/claude/pptx_build/icons/vide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8906" y="3509010"/>
            <a:ext cx="480060" cy="48006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6437376" y="43434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 d'intrusos</a:t>
            </a:r>
            <a:endParaRPr lang="en-US" sz="1450" dirty="0"/>
          </a:p>
        </p:txBody>
      </p:sp>
      <p:sp>
        <p:nvSpPr>
          <p:cNvPr id="21" name="Text 16"/>
          <p:cNvSpPr txBox="1"/>
          <p:nvPr/>
        </p:nvSpPr>
        <p:spPr>
          <a:xfrm>
            <a:off x="6437376" y="4800600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4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Saber que alguna cosa passa</a:t>
            </a:r>
            <a:endParaRPr lang="en-US" sz="1150" dirty="0"/>
          </a:p>
        </p:txBody>
      </p:sp>
      <p:sp>
        <p:nvSpPr>
          <p:cNvPr id="22" name="Shape 17"/>
          <p:cNvSpPr/>
          <p:nvPr/>
        </p:nvSpPr>
        <p:spPr>
          <a:xfrm>
            <a:off x="9043416" y="2377440"/>
            <a:ext cx="2468880" cy="3108960"/>
          </a:xfrm>
          <a:prstGeom prst="roundRect">
            <a:avLst>
              <a:gd name="adj" fmla="val 4444"/>
            </a:avLst>
          </a:prstGeom>
          <a:solidFill>
            <a:srgbClr val="3E6680"/>
          </a:solidFill>
          <a:ln/>
        </p:spPr>
        <p:txBody>
          <a:bodyPr/>
          <a:p/>
        </p:txBody>
      </p:sp>
      <p:sp>
        <p:nvSpPr>
          <p:cNvPr id="23" name="Text 18"/>
          <p:cNvSpPr txBox="1"/>
          <p:nvPr/>
        </p:nvSpPr>
        <p:spPr>
          <a:xfrm>
            <a:off x="9226296" y="25146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endParaRPr lang="en-US" sz="2000" dirty="0"/>
          </a:p>
        </p:txBody>
      </p:sp>
      <p:sp>
        <p:nvSpPr>
          <p:cNvPr id="24" name="Shape 19"/>
          <p:cNvSpPr/>
          <p:nvPr/>
        </p:nvSpPr>
        <p:spPr>
          <a:xfrm>
            <a:off x="9797796" y="3268980"/>
            <a:ext cx="960120" cy="960120"/>
          </a:xfrm>
          <a:prstGeom prst="ellipse">
            <a:avLst/>
          </a:prstGeom>
          <a:solidFill>
            <a:srgbClr val="F2A541"/>
          </a:solidFill>
          <a:ln/>
        </p:spPr>
        <p:txBody>
          <a:bodyPr/>
          <a:p/>
        </p:txBody>
      </p:sp>
      <p:pic>
        <p:nvPicPr>
          <p:cNvPr id="25" name="Image 3" descr="/home/claude/pptx_build/icons/clipboar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37826" y="3509010"/>
            <a:ext cx="480060" cy="480060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9226296" y="43434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Avaluació d'incidències</a:t>
            </a:r>
            <a:endParaRPr lang="en-US" sz="1450" dirty="0"/>
          </a:p>
        </p:txBody>
      </p:sp>
      <p:sp>
        <p:nvSpPr>
          <p:cNvPr id="27" name="Text 21"/>
          <p:cNvSpPr txBox="1"/>
          <p:nvPr/>
        </p:nvSpPr>
        <p:spPr>
          <a:xfrm>
            <a:off x="9226296" y="4800600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4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Decidir com respondre</a:t>
            </a:r>
            <a:endParaRPr lang="en-US" sz="1150" dirty="0"/>
          </a:p>
        </p:txBody>
      </p:sp>
      <p:sp>
        <p:nvSpPr>
          <p:cNvPr id="28" name="Text 22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MESURES DISSUASIVES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Fer-los canviar d'opinió abans d'entrar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1051560" y="2514600"/>
            <a:ext cx="1737360" cy="1737360"/>
          </a:xfrm>
          <a:prstGeom prst="ellipse">
            <a:avLst/>
          </a:prstGeom>
          <a:solidFill>
            <a:srgbClr val="3E6680"/>
          </a:solidFill>
          <a:ln/>
        </p:spPr>
        <p:txBody>
          <a:bodyPr/>
          <a:p/>
        </p:txBody>
      </p:sp>
      <p:pic>
        <p:nvPicPr>
          <p:cNvPr id="5" name="Image 0" descr="/home/claude/pptx_build/icons/w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85900" y="2948940"/>
            <a:ext cx="868680" cy="8686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3657600" y="1920240"/>
            <a:ext cx="3657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Tanques, murs, barrots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Guardes de seguretat i gossos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Senyals d'alerta i il·luminació nocturna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7589520" y="1920240"/>
            <a:ext cx="4023360" cy="4023360"/>
          </a:xfrm>
          <a:prstGeom prst="roundRect">
            <a:avLst>
              <a:gd name="adj" fmla="val 2727"/>
            </a:avLst>
          </a:prstGeom>
          <a:solidFill>
            <a:srgbClr val="13293D"/>
          </a:solidFill>
          <a:ln/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7909560" y="21488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 sabies?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909560" y="251460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L'alçada d'una tanca canvia tot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7909560" y="329184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m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9052560" y="329184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4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només dissuadeix vianants casuals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7909560" y="406908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m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9052560" y="406908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4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difícil d'escalar amb facilitat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7909560" y="484632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2,5 m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9052560" y="484632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4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l'empresa es pren la seguretat seriosament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608076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tanca no és només física: és també una barrera psicològica.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DIFICULTATS D'ACCÉS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“mantrap”: una trampa per a intrusos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6583680" cy="4114800"/>
          </a:xfrm>
          <a:prstGeom prst="roundRect">
            <a:avLst>
              <a:gd name="adj" fmla="val 2667"/>
            </a:avLst>
          </a:prstGeom>
          <a:solidFill>
            <a:srgbClr val="0B1B29"/>
          </a:solidFill>
          <a:ln w="12700">
            <a:solidFill>
              <a:srgbClr val="3E6680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868680" y="205740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“Trampa per a persones” (literal)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560320"/>
            <a:ext cx="5943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2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habitació amb DUES portes.</a:t>
            </a:r>
            <a:endParaRPr lang="en-US" sz="15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rgbClr val="D7E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S'obre la primera porta i un guarda identifica la persona.</a:t>
            </a:r>
            <a:endParaRPr lang="en-US" sz="15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rgbClr val="D7E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La primera porta es tanca. Ara cal superar un control robust (biometria, targeta + contrasenya...) per obrir la segona.</a:t>
            </a:r>
            <a:endParaRPr lang="en-US" sz="15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rgbClr val="D7E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Si no el supera... la persona queda atrapada entre les dues portes.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732520" y="2057400"/>
            <a:ext cx="1371600" cy="1371600"/>
          </a:xfrm>
          <a:prstGeom prst="ellipse">
            <a:avLst/>
          </a:prstGeom>
          <a:solidFill>
            <a:srgbClr val="F2A541"/>
          </a:solidFill>
          <a:ln/>
        </p:spPr>
        <p:txBody>
          <a:bodyPr/>
          <a:p/>
        </p:txBody>
      </p:sp>
      <p:pic>
        <p:nvPicPr>
          <p:cNvPr id="8" name="Image 0" descr="/home/claude/pptx_build/icons/do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5420" y="2400300"/>
            <a:ext cx="685800" cy="6858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8732520" y="3886200"/>
            <a:ext cx="1371600" cy="1371600"/>
          </a:xfrm>
          <a:prstGeom prst="ellipse">
            <a:avLst/>
          </a:prstGeom>
          <a:solidFill>
            <a:srgbClr val="3E6680"/>
          </a:solidFill>
          <a:ln/>
        </p:spPr>
        <p:txBody>
          <a:bodyPr/>
          <a:p/>
        </p:txBody>
      </p:sp>
      <p:pic>
        <p:nvPicPr>
          <p:cNvPr id="10" name="Image 1" descr="/home/claude/pptx_build/icons/fingerpri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75420" y="4229100"/>
            <a:ext cx="685800" cy="6858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498080" y="5486400"/>
            <a:ext cx="411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Altres controls d'accés: cadenats, targeta intel·ligent, teclat numèric, biometria...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 I RESPOSTA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Detectar l'intrús i saber-hi respondre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5120640" cy="384048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B2A38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937260" y="2171700"/>
            <a:ext cx="960120" cy="960120"/>
          </a:xfrm>
          <a:prstGeom prst="ellipse">
            <a:avLst/>
          </a:prstGeom>
          <a:solidFill>
            <a:srgbClr val="3E6680"/>
          </a:solidFill>
          <a:ln/>
        </p:spPr>
        <p:txBody>
          <a:bodyPr/>
          <a:p/>
        </p:txBody>
      </p:sp>
      <p:pic>
        <p:nvPicPr>
          <p:cNvPr id="6" name="Image 0" descr="/home/claude/pptx_build/icons/vide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7290" y="2411730"/>
            <a:ext cx="480060" cy="48006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2057400" y="2194560"/>
            <a:ext cx="2788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Sistemes de detecció d'intrusos (SDI)</a:t>
            </a:r>
            <a:endParaRPr lang="en-US" sz="155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3337560"/>
            <a:ext cx="44805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Sensors interns i externs (perimetrals).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Detecten canvis lumínics, acústics, de moviment o electromagnètics.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Necessiten alimentació pròpia: tallar el corrent no els ha d'inutilitzar.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126480" y="1874520"/>
            <a:ext cx="5120640" cy="384048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B2A38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6515100" y="2171700"/>
            <a:ext cx="960120" cy="960120"/>
          </a:xfrm>
          <a:prstGeom prst="ellipse">
            <a:avLst/>
          </a:prstGeom>
          <a:solidFill>
            <a:srgbClr val="F2A541"/>
          </a:solidFill>
          <a:ln/>
        </p:spPr>
        <p:txBody>
          <a:bodyPr/>
          <a:p/>
        </p:txBody>
      </p:sp>
      <p:pic>
        <p:nvPicPr>
          <p:cNvPr id="11" name="Image 1" descr="/home/claude/pptx_build/icons/clipboar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55130" y="2411730"/>
            <a:ext cx="480060" cy="48006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955280" y="228600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Avaluació d'incidències</a:t>
            </a:r>
            <a:endParaRPr lang="en-US" sz="1550" dirty="0"/>
          </a:p>
        </p:txBody>
      </p:sp>
      <p:sp>
        <p:nvSpPr>
          <p:cNvPr id="13" name="Text 9"/>
          <p:cNvSpPr txBox="1"/>
          <p:nvPr/>
        </p:nvSpPr>
        <p:spPr>
          <a:xfrm>
            <a:off x="6995160" y="3337560"/>
            <a:ext cx="44805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Els falsos positius existeixen: no tota alarma és un atac real.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 un protocol clar i una estructura de comunicació: qui truca a qui segons cada tipus d'incidència.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Ex: un vidre trencat → un guarda hi va a mirar; un foc a la sala de servidors → bombers.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ACABAR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Idees clau d'avui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2011680"/>
            <a:ext cx="914400" cy="914400"/>
          </a:xfrm>
          <a:prstGeom prst="ellipse">
            <a:avLst/>
          </a:prstGeom>
          <a:solidFill>
            <a:srgbClr val="F2A541"/>
          </a:solidFill>
          <a:ln/>
        </p:spPr>
        <p:txBody>
          <a:bodyPr/>
          <a:p/>
        </p:txBody>
      </p:sp>
      <p:pic>
        <p:nvPicPr>
          <p:cNvPr id="5" name="Image 0" descr="/home/claude/pptx_build/icons/shie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240280"/>
            <a:ext cx="457200" cy="4572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91640" y="1965960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seguretat física és la base de tota la seguretat informàtica.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6172200" y="2011680"/>
            <a:ext cx="914400" cy="914400"/>
          </a:xfrm>
          <a:prstGeom prst="ellipse">
            <a:avLst/>
          </a:prstGeom>
          <a:solidFill>
            <a:srgbClr val="3E6680"/>
          </a:solidFill>
          <a:ln/>
        </p:spPr>
        <p:txBody>
          <a:bodyPr/>
          <a:p/>
        </p:txBody>
      </p:sp>
      <p:pic>
        <p:nvPicPr>
          <p:cNvPr id="8" name="Image 1" descr="/home/claude/pptx_build/icons/checkcirc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240280"/>
            <a:ext cx="457200" cy="4572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269480" y="1965960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 mesura és suficient sola: cal defensa en capes.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594360" y="4114800"/>
            <a:ext cx="914400" cy="914400"/>
          </a:xfrm>
          <a:prstGeom prst="ellipse">
            <a:avLst/>
          </a:prstGeom>
          <a:solidFill>
            <a:srgbClr val="F2A541"/>
          </a:solidFill>
          <a:ln/>
        </p:spPr>
        <p:txBody>
          <a:bodyPr/>
          <a:p/>
        </p:txBody>
      </p:sp>
      <p:pic>
        <p:nvPicPr>
          <p:cNvPr id="11" name="Image 2" descr="/home/claude/pptx_build/icons/thermomete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4343400"/>
            <a:ext cx="457200" cy="45720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691640" y="4069080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Temperatura, humitat, electricitat i incendis: l'entorn també és un risc.</a:t>
            </a:r>
            <a:endParaRPr lang="en-US" sz="1400" dirty="0"/>
          </a:p>
        </p:txBody>
      </p:sp>
      <p:sp>
        <p:nvSpPr>
          <p:cNvPr id="13" name="Shape 8"/>
          <p:cNvSpPr/>
          <p:nvPr/>
        </p:nvSpPr>
        <p:spPr>
          <a:xfrm>
            <a:off x="6172200" y="4114800"/>
            <a:ext cx="914400" cy="914400"/>
          </a:xfrm>
          <a:prstGeom prst="ellipse">
            <a:avLst/>
          </a:prstGeom>
          <a:solidFill>
            <a:srgbClr val="3E6680"/>
          </a:solidFill>
          <a:ln/>
        </p:spPr>
        <p:txBody>
          <a:bodyPr/>
          <a:p/>
        </p:txBody>
      </p:sp>
      <p:pic>
        <p:nvPicPr>
          <p:cNvPr id="14" name="Image 3" descr="/home/claude/pptx_build/icons/usershiel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0" y="4343400"/>
            <a:ext cx="457200" cy="45720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7269480" y="4069080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famílies de mesures: dissuadir, dificultar, detectar i avaluar.</a:t>
            </a:r>
            <a:endParaRPr lang="en-US" sz="1400" dirty="0"/>
          </a:p>
        </p:txBody>
      </p:sp>
      <p:sp>
        <p:nvSpPr>
          <p:cNvPr id="16" name="Text 10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2A5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-1828800"/>
            <a:ext cx="5486400" cy="5486400"/>
          </a:xfrm>
          <a:prstGeom prst="ellipse">
            <a:avLst/>
          </a:prstGeom>
          <a:solidFill>
            <a:srgbClr val="FFFFFF">
              <a:alpha val="20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51560" y="2651760"/>
            <a:ext cx="1554480" cy="1554480"/>
          </a:xfrm>
          <a:prstGeom prst="ellipse">
            <a:avLst/>
          </a:prstGeom>
          <a:solidFill>
            <a:srgbClr val="13293D"/>
          </a:solidFill>
          <a:ln/>
        </p:spPr>
        <p:txBody>
          <a:bodyPr/>
          <a:p/>
        </p:txBody>
      </p:sp>
      <p:pic>
        <p:nvPicPr>
          <p:cNvPr id="4" name="Image 0" descr="/home/claude/pptx_build/icons/ques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01318" y="3001518"/>
            <a:ext cx="854964" cy="85496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3291840" y="19202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0B1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 ÉS EL TORN VOSTRE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3246120" y="2331720"/>
            <a:ext cx="8412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1B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Tens 10.000€ per protegir un petit centre de dades.</a:t>
            </a:r>
            <a:endParaRPr lang="en-US" sz="2700" dirty="0"/>
          </a:p>
        </p:txBody>
      </p:sp>
      <p:sp>
        <p:nvSpPr>
          <p:cNvPr id="7" name="Text 4"/>
          <p:cNvSpPr txBox="1"/>
          <p:nvPr/>
        </p:nvSpPr>
        <p:spPr>
          <a:xfrm>
            <a:off x="3291840" y="35204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B1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grups de 3: escolliu les 3 mesures de seguretat passiva que prioritzaríeu i justifiqueu per què. Penseu en dissuasió, accés, detecció i resposta.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3291840" y="4937760"/>
            <a:ext cx="8138160" cy="1051560"/>
          </a:xfrm>
          <a:prstGeom prst="roundRect">
            <a:avLst>
              <a:gd name="adj" fmla="val 8696"/>
            </a:avLst>
          </a:prstGeom>
          <a:solidFill>
            <a:srgbClr val="13293D"/>
          </a:solidFill>
          <a:ln/>
        </p:spPr>
        <p:txBody>
          <a:bodyPr/>
          <a:p/>
        </p:txBody>
      </p:sp>
      <p:sp>
        <p:nvSpPr>
          <p:cNvPr id="9" name="Text 6"/>
          <p:cNvSpPr txBox="1"/>
          <p:nvPr/>
        </p:nvSpPr>
        <p:spPr>
          <a:xfrm>
            <a:off x="3566160" y="4937760"/>
            <a:ext cx="7680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minuts en grup + posada en comú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FONTS DEL MATERIAL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Webgrafia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1078992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B2A38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914400" y="2308860"/>
            <a:ext cx="914400" cy="914400"/>
          </a:xfrm>
          <a:prstGeom prst="ellipse">
            <a:avLst/>
          </a:prstGeom>
          <a:solidFill>
            <a:srgbClr val="3E6680"/>
          </a:solidFill>
          <a:ln/>
        </p:spPr>
        <p:txBody>
          <a:bodyPr/>
          <a:p/>
        </p:txBody>
      </p:sp>
      <p:pic>
        <p:nvPicPr>
          <p:cNvPr id="6" name="Image 0" descr="/home/claude/pptx_build/icons/glob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2537460"/>
            <a:ext cx="457200" cy="4572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2148840" y="2148840"/>
            <a:ext cx="8869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Seguretat passiva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2148840" y="2587752"/>
            <a:ext cx="8869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 Obert de Catalunya (IOC) · Material del mòdul “Seguretat informàtica” (M06), Unitat 1, apartat 1</a:t>
            </a:r>
            <a:endParaRPr lang="en-US" sz="1200" dirty="0"/>
          </a:p>
        </p:txBody>
      </p:sp>
      <p:sp>
        <p:nvSpPr>
          <p:cNvPr id="9" name="Text 6">
            <a:hlinkClick r:id="rId2" tooltip=""/>
          </p:cNvPr>
          <p:cNvSpPr txBox="1"/>
          <p:nvPr/>
        </p:nvSpPr>
        <p:spPr>
          <a:xfrm>
            <a:off x="2148840" y="2953512"/>
            <a:ext cx="8366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u="sng" dirty="0">
                <a:solidFill>
                  <a:srgbClr val="3E668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https://ioc.xtec.cat/materials/FP/Recursos/fp_smx_m06_/web/fp_smx_m06_htmlindex/WebContent/u1/a1/continguts.html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48640" y="3794760"/>
            <a:ext cx="1078992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B2A38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914400" y="4137660"/>
            <a:ext cx="914400" cy="914400"/>
          </a:xfrm>
          <a:prstGeom prst="ellipse">
            <a:avLst/>
          </a:prstGeom>
          <a:solidFill>
            <a:srgbClr val="3E6680"/>
          </a:solidFill>
          <a:ln/>
        </p:spPr>
        <p:txBody>
          <a:bodyPr/>
          <a:p/>
        </p:txBody>
      </p:sp>
      <p:pic>
        <p:nvPicPr>
          <p:cNvPr id="12" name="Image 1" descr="/home/claude/pptx_build/icons/glob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4366260"/>
            <a:ext cx="457200" cy="4572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2148840" y="3977640"/>
            <a:ext cx="8869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Introducció — Unitat 1: Seguretat passiva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2148840" y="4416552"/>
            <a:ext cx="8869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 Obert de Catalunya (IOC) · Material del mòdul “Seguretat informàtica” (M06), Unitat 1</a:t>
            </a:r>
            <a:endParaRPr lang="en-US" sz="1200" dirty="0"/>
          </a:p>
        </p:txBody>
      </p:sp>
      <p:sp>
        <p:nvSpPr>
          <p:cNvPr id="15" name="Text 11">
            <a:hlinkClick r:id="rId4" tooltip=""/>
          </p:cNvPr>
          <p:cNvSpPr txBox="1"/>
          <p:nvPr/>
        </p:nvSpPr>
        <p:spPr>
          <a:xfrm>
            <a:off x="2148840" y="4782312"/>
            <a:ext cx="8366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u="sng" dirty="0">
                <a:solidFill>
                  <a:srgbClr val="3E668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https://ioc.xtec.cat/materials/FP/Recursos/fp_smx_m06_/web/fp_smx_m06_htmlindex/WebContent/u1/introduccio.html</a:t>
            </a:r>
            <a:endParaRPr lang="en-US" sz="1100" dirty="0"/>
          </a:p>
        </p:txBody>
      </p:sp>
      <p:sp>
        <p:nvSpPr>
          <p:cNvPr id="16" name="Text 12"/>
          <p:cNvSpPr txBox="1"/>
          <p:nvPr/>
        </p:nvSpPr>
        <p:spPr>
          <a:xfrm>
            <a:off x="548640" y="585216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Llicència Creative Commons BY-NC-SA · Institut Obert de Catalunya, 2011</a:t>
            </a:r>
            <a:endParaRPr lang="en-US" sz="1200" dirty="0"/>
          </a:p>
        </p:txBody>
      </p:sp>
      <p:sp>
        <p:nvSpPr>
          <p:cNvPr id="17" name="Text 13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2A541"/>
                </a:solidFill>
                <a:latin typeface="Calibri"/>
              </a:rPr>
              <a:t>SOTA EL CAPÓ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6242E"/>
                </a:solidFill>
                <a:latin typeface="Cambria"/>
              </a:rPr>
              <a:t>El triangle del foc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B6B77"/>
                </a:solidFill>
                <a:latin typeface="Calibri"/>
              </a:rPr>
              <a:t>Calen els tres elements alhora perquè hi hagi foc: n'hi ha prou d'eliminar-ne un.</a:t>
            </a:r>
          </a:p>
        </p:txBody>
      </p:sp>
      <p:pic>
        <p:nvPicPr>
          <p:cNvPr id="5" name="Picture 4" descr="triangle_fo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07392" y="1920240"/>
            <a:ext cx="5176910" cy="4206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26364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5B6B77"/>
                </a:solidFill>
                <a:latin typeface="Calibri"/>
              </a:rPr>
              <a:t>El triangle del foc: n'hi ha prou d'eliminar un dels tres elements perquè s'apagui.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B77"/>
                </a:solidFill>
              </a:rPr>
              <a:t>16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2A541"/>
                </a:solidFill>
                <a:latin typeface="Calibri"/>
              </a:rPr>
              <a:t>UN EXEMPLE REAL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6242E"/>
                </a:solidFill>
                <a:latin typeface="Cambria"/>
              </a:rPr>
              <a:t>Extintor de pols ABC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B6B77"/>
                </a:solidFill>
                <a:latin typeface="Calibri"/>
              </a:rPr>
              <a:t>Els extintors són una de les mesures bàsiques de prevenció d'incendis.</a:t>
            </a:r>
          </a:p>
        </p:txBody>
      </p:sp>
      <p:pic>
        <p:nvPicPr>
          <p:cNvPr id="5" name="Picture 4" descr="foto_extin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37756" y="1920240"/>
            <a:ext cx="2116182" cy="4206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26364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5B6B77"/>
                </a:solidFill>
                <a:latin typeface="Calibri"/>
              </a:rPr>
              <a:t>Cal que passin revisions periòdiques perquè siguin fiables quan calgui.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B77"/>
                </a:solidFill>
              </a:rPr>
              <a:t>18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2A541"/>
                </a:solidFill>
                <a:latin typeface="Calibri"/>
              </a:rPr>
              <a:t>UN EXEMPLE REAL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6242E"/>
                </a:solidFill>
                <a:latin typeface="Cambria"/>
              </a:rPr>
              <a:t>Tanca perimetral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B6B77"/>
                </a:solidFill>
                <a:latin typeface="Calibri"/>
              </a:rPr>
              <a:t>L'alçada d'una tanca canvia molt el seu efecte dissuasiu.</a:t>
            </a:r>
          </a:p>
        </p:txBody>
      </p:sp>
      <p:pic>
        <p:nvPicPr>
          <p:cNvPr id="5" name="Picture 4" descr="foto_tanca_perimet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7952" y="1920240"/>
            <a:ext cx="5875790" cy="3931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98932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5B6B77"/>
                </a:solidFill>
                <a:latin typeface="Calibri"/>
              </a:rPr>
              <a:t>Les tanques han de tenir una alçada determinada perquè siguin eficaces com a mesura dissuasiva contra intrusos.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B77"/>
                </a:solidFill>
              </a:rPr>
              <a:t>21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2A541"/>
                </a:solidFill>
                <a:latin typeface="Calibri"/>
              </a:rPr>
              <a:t>HO SABIES?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6242E"/>
                </a:solidFill>
                <a:latin typeface="Cambria"/>
              </a:rPr>
              <a:t>El cinema i la detecció d'intrusos</a:t>
            </a:r>
          </a:p>
        </p:txBody>
      </p:sp>
      <p:pic>
        <p:nvPicPr>
          <p:cNvPr id="4" name="Picture 3" descr="foto_intrus_pellicu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7952" y="1920240"/>
            <a:ext cx="5875790" cy="3931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98932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5B6B77"/>
                </a:solidFill>
                <a:latin typeface="Calibri"/>
              </a:rPr>
              <a:t>Algunes pel·lícules ens mostren com els intrusos intenten burlar els sistemes de detecció d'intrusos.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B77"/>
                </a:solidFill>
              </a:rPr>
              <a:t>24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2026-09-03T17:17:40Z</dcterms:created>
  <dcterms:modified xsi:type="dcterms:W3CDTF">2026-09-03T17:17:40Z</dcterms:modified>
</cp:coreProperties>
</file>