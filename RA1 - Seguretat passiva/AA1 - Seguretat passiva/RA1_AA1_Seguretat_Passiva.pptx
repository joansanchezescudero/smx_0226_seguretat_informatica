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30"/>
    <p:sldId id="271" r:id="rId17"/>
    <p:sldId id="280" r:id="rId31"/>
    <p:sldId id="272" r:id="rId18"/>
    <p:sldId id="273" r:id="rId19"/>
    <p:sldId id="281" r:id="rId32"/>
    <p:sldId id="274" r:id="rId20"/>
    <p:sldId id="275" r:id="rId21"/>
    <p:sldId id="282" r:id="rId33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hyperlink" Target="https://ioc.xtec.cat/materials/FP/Recursos/fp_smx_m06_/web/fp_smx_m06_htmlindex/WebContent/u1/a1/continguts.html" TargetMode="External"/><Relationship Id="rId3" Type="http://schemas.openxmlformats.org/officeDocument/2006/relationships/image" Target="../media/image-23-1.png"/><Relationship Id="rId4" Type="http://schemas.openxmlformats.org/officeDocument/2006/relationships/hyperlink" Target="https://ioc.xtec.cat/materials/FP/Recursos/fp_smx_m06_/web/fp_smx_m06_htmlindex/WebContent/u1/introduccio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3E668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237744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6860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2148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514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passiva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Protegint allò físic: equips, sales i persones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68880" y="429768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4688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COMENÇAR: LA UNITAT EN CONTEXT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informàtica: molt més que tallafocs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seguretat informàtica és una disciplina holística: engloba tot el que ajuda a reduir i controlar els riscos del dia a dia d'una empresa.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468880"/>
            <a:ext cx="1005840" cy="100584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7" name="Image 0" descr="/home/claude/pptx_build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7203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4028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que la gent imagina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319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Tallafocs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d'intrusions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214884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83680" y="24688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1" descr="/home/claude/pptx_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7203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1812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que sovint s'oblida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9319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Seguretat física dels equips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Continuïtat elèctrica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d'accés a les sales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unitat veurem que la base física és tan important com les eines de programari.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robatori de dispositius no para de créixer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0" y="2651760"/>
            <a:ext cx="1097280" cy="109728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7" name="Image 0" descr="/home/claude/pptx_build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926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Segons l'FBI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robatori d'ordinadors portàtils i de butxaca s'ha incrementat exponencialment en els darrers anys.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22860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503920" y="265176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1" descr="/home/claude/pptx_build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9260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risc especialment greu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el propietari és un alt càrrec d'una empresa, la pèrdua del dispositiu pot suposar un risc de seguretat molt important.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 RUTA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3 apartats d'aquesta unitat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 TOQUEM AQUEST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60220" y="253746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7" name="Image 0" descr="/home/claude/pptx_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777490"/>
            <a:ext cx="480060" cy="4800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Seguretat passiva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física sobre la qual construir tota la resta de mesures de seguretat.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46354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2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54889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Sistemes d'alimentació ininterrompuda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tall de corrent, en un entorn corporatiu, pot suposar pèrdua de dades crítiques i costos econòmics.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383280" cy="3749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16686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7" name="Image 2" descr="/home/claude/pptx_build/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0" y="254889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83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Seguretat lògica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40690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 i autorització: des de contrasenyes fins a mesures biomètriques.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6022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54889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 i entorn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escollir i preparar un espai segur per als equips: emplaçament, temperatura, electricitat i incendis.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6354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5488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i amenaces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amenaces internes i externes, i entendre com s'avalua el risc real.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6686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0" y="254889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de protecció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Conèixer les 4 grans famílies de mesures: dissuasió, control d'accés, detecció i resposta.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EN PARLEM?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D'una sala sencera... a la teva butxaca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0" y="2286000"/>
            <a:ext cx="1097280" cy="10972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 1960-1970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ordinador ocupava una sala sencera. Només grans corporacions en tenien, i poca gent hi podia accedir.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503920" y="228600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560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Portem l'equivalent a mil ordinadors a la butxaca, i s'hi pot accedir sense fils, des de fora de l'edifici.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760720" y="37033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5" name="Image 2" descr="/home/claude/pptx_build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384733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física vs. seguretat lògica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286000"/>
            <a:ext cx="1005840" cy="100584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5374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FÍSICA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490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Protegeix el maquinari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cablejat, dispositius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panys, tanques, SAI, extintors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28600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5374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1812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LÒGICA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7490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Protegeix la informació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Programari, contrasenyes, permisos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xifratge, antivirus, backups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Aquesta unitat treballa la vessant FÍSICA de la seguretat.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ESTRATÈGIA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en capes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mesura és infal·lible per si sola: es combinen diverses capes perquè, si una falla, n'hi hagi una altra al darrere.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7432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53896" y="30632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7" name="Image 0" descr="/home/claude/pptx_build/icons/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3291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05256" y="4160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Tanca perimetral</a:t>
            </a:r>
            <a:endParaRPr lang="en-US" sz="1400" dirty="0"/>
          </a:p>
        </p:txBody>
      </p:sp>
      <p:pic>
        <p:nvPicPr>
          <p:cNvPr id="10" name="Image 1" descr="/home/claude/pptx_build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70332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57016" y="27432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242816" y="30632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3" name="Image 2" descr="/home/claude/pptx_build/icons/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66744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694176" y="4160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Murs de l'edifici</a:t>
            </a:r>
            <a:endParaRPr lang="en-US" sz="1400" dirty="0"/>
          </a:p>
        </p:txBody>
      </p:sp>
      <p:pic>
        <p:nvPicPr>
          <p:cNvPr id="16" name="Image 3" descr="/home/claude/pptx_build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70332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45936" y="27432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8" name="Shape 12"/>
          <p:cNvSpPr/>
          <p:nvPr/>
        </p:nvSpPr>
        <p:spPr>
          <a:xfrm>
            <a:off x="7031736" y="30632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9" name="Image 4" descr="/home/claude/pptx_build/icons/id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32918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55664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483096" y="4160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Accés amb targeta</a:t>
            </a:r>
            <a:endParaRPr lang="en-US" sz="1400" dirty="0"/>
          </a:p>
        </p:txBody>
      </p:sp>
      <p:pic>
        <p:nvPicPr>
          <p:cNvPr id="22" name="Image 5" descr="/home/claude/pptx_build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370332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34856" y="2743200"/>
            <a:ext cx="2286000" cy="2468880"/>
          </a:xfrm>
          <a:prstGeom prst="roundRect">
            <a:avLst>
              <a:gd name="adj" fmla="val 48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4" name="Shape 16"/>
          <p:cNvSpPr/>
          <p:nvPr/>
        </p:nvSpPr>
        <p:spPr>
          <a:xfrm>
            <a:off x="9820656" y="306324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5" name="Image 6" descr="/home/claude/pptx_build/icons/user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56" y="329184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244584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>
                    <a:alpha val="6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9272016" y="4160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de seguretat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més capes cal superar, més temps guanyem per reaccionar davant d'un atac.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Amenaça vs. risc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196596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6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476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94767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Qualsevol vulnerabilitat que un atacant pugui arribar a explotar (una finestra sense reixa, una porta sense pany...).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91540" y="32461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404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20240" y="3227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322783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probabilitat que algú descobreixi aquella amenaça i l'exploti realment.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86868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Amenaces INTERNES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50566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incendi fortuït, una fuita d'aigua... o un empleat descontent. Poden ser difícils de controlar: coneixen el sistema per dins.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45262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644652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Amenaces EXTERNES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50566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Atacants aliens que volen robar informació o malmetre recursos. El nivell de risc no és el mateix per a totes les empreses.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 DE LES INSTAL·LACIONS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construïm el centre de dades?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35458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5717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49631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Terrenys, cartells i logos: com més discreta la instal·lació, menys atrau atacants.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9380" y="235458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5717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externs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49631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de criminalitat i proximitat a policia, bombers i hospitals.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91540" y="445770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6748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Accessibilitat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59943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Accés per carretera, trànsit i proximitat a aeroports o estacions.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69380" y="445770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mount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67487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Desastres naturals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59943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 d'inundacions, terratrèmols, allaus o despreniments.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Servidors... a mines i vaixells?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0" y="2560320"/>
            <a:ext cx="1097280" cy="10972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7" name="Image 0" descr="/home/claude/pptx_build/icons/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834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abandonades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Algunes empreses hi instal·len servidors per aprofitar el fred natural i estalviar en refrigeració.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219456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503920" y="256032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1" descr="/home/claude/pptx_build/icons/s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8346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Vaixells en alta mar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42519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gegant d'Internet ha provat parcs de servidors flotants: onades per energia, aigua per refrigerar, i ubicació secreta = molta seguretat.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CONDICIONS AMBIENTALS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temperatura, un factor crític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 equips escalfats = avaries.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controlar la temperatura ambiental i revisar periòdicament ventiladors i refrigeració.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Humitat massa alta → corrosió. Humitat massa baixa → electricitat estàtica i curtcircuits.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2103120"/>
            <a:ext cx="4480560" cy="1554480"/>
          </a:xfrm>
          <a:prstGeom prst="roundRect">
            <a:avLst>
              <a:gd name="adj" fmla="val 7059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0" y="2240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80°C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240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 intern d'ordinadors i perifèrics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4023360"/>
            <a:ext cx="4480560" cy="1554480"/>
          </a:xfrm>
          <a:prstGeom prst="roundRect">
            <a:avLst>
              <a:gd name="adj" fmla="val 7059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0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38°C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4160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 intern per a discs i emmagatzematge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16636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0" descr="/home/claude/pptx_build/icons/thermo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" y="5351526"/>
            <a:ext cx="452628" cy="4526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63040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sobre d'aquests valors, els components es poden fer malbé de manera irreparable.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CONDICIONS ELÈCTRIQUES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Alimentació neta i sense talls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7260" y="221742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4574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331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7249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d'Alimentació Ininterrompuda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83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Garanteix la continuïtat del servei quan hi ha un tall extern d'alimentació. Imprescindible en qualsevol sala de servidors.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9202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15100" y="221742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1" descr="/home/claude/pptx_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5745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2331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Interferències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27249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Electromagnètiques i de ràdio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995160" y="3383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mal aïllats o motors: interferències electromagnètiques.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Curiositat: els fluorescents són la font més habitual d'interferències de ràdio — per això no es passa cablejat a prop.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CONDICIONS AMBIENTALS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Ventilació: no només fred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606040"/>
            <a:ext cx="1920240" cy="192024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5" name="Image 0" descr="/home/claude/pptx_build/icons/w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3086100"/>
            <a:ext cx="960120" cy="960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31920" y="192024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d'aire condicionat de circuit tancat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 l'aire de dins l'edifici, ja filtrat, en lloc d'expulsar-lo a l'exterior.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931920" y="3383280"/>
            <a:ext cx="7132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251960" y="3566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què cal filtrar l'aire?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40233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pols obstrueix els ventiladors de refrigeració interna dels equips.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 gasos poden accelerar la corrosió dels components.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 D'INCENDIS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Perquè hi hagi foc, cal...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20440" y="1691640"/>
            <a:ext cx="1371600" cy="137160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5" name="Image 0" descr="/home/claude/pptx_build/icons/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340" y="20345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74221" y="4023360"/>
            <a:ext cx="1371600" cy="137160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8" name="Image 1" descr="/home/claude/pptx_build/icons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21" y="4366260"/>
            <a:ext cx="685800" cy="6858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54181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66659" y="4023360"/>
            <a:ext cx="1371600" cy="137160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11" name="Image 2" descr="/home/claude/pptx_build/icons/f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59" y="4366260"/>
            <a:ext cx="685800" cy="685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46619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Oxigen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949440" y="2103120"/>
            <a:ext cx="4663440" cy="3749040"/>
          </a:xfrm>
          <a:prstGeom prst="roundRect">
            <a:avLst>
              <a:gd name="adj" fmla="val 292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 txBox="1"/>
          <p:nvPr/>
        </p:nvSpPr>
        <p:spPr>
          <a:xfrm>
            <a:off x="7269480" y="2331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 un dels tres i el foc s'apaga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30632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combustible: escuma que aïlla el material.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oxigen: CO2 elimina l'oxigen disponible (perillós si hi ha persones).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més combustible per m², més ràpid es propaga: per això cal ordre a les zones d'emmagatzematge.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 D'INCENDIS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Detectar-ho aviat, apagar-ho bé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30886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5260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4505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Òptics (variacions de llum per fum) o de temperatura. Manuals o automàtics.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9380" y="230886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extinguis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5260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Extinció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4505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 (extintors, mànegues) o automàtics (aspersors d'aigua o gas).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Tipus de foc i com apagar-los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0789920" cy="16002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Extinció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Fusta, paper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Aigua, escuma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Líquid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Petroli, carbó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CO2, escuma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Elèctric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Cables, material elèctric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CO2, pólvora seca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Metalls inflamables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Magnesi, sodi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Pólvora seca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DE SEGURETAT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grans famílies de mesures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6656" y="237744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59536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31036" y="326898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7" name="Image 0" descr="/home/claude/pptx_build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066" y="3509010"/>
            <a:ext cx="480060" cy="4800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Dissuasives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que l'atac sembli poc atractiu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65576" y="237744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648456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19956" y="326898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3" name="Image 1" descr="/home/claude/pptx_build/icons/d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986" y="3509010"/>
            <a:ext cx="480060" cy="4800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48456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Dificultat d'accés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648456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Guanyar temps de reacció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4496" y="237744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6437376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008876" y="326898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9" name="Image 2" descr="/home/claude/pptx_build/icons/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06" y="3509010"/>
            <a:ext cx="480060" cy="4800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37376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 d'intrusos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37376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 alguna cosa passa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43416" y="237744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3" name="Text 18"/>
          <p:cNvSpPr txBox="1"/>
          <p:nvPr/>
        </p:nvSpPr>
        <p:spPr>
          <a:xfrm>
            <a:off x="9226296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9797796" y="326898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5" name="Image 3" descr="/home/claude/pptx_build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826" y="3509010"/>
            <a:ext cx="480060" cy="4800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26296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Avaluació d'incidències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226296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respondre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DISSUASIVES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Fer-los canviar d'opinió abans d'entrar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514600"/>
            <a:ext cx="1737360" cy="17373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5" name="Image 0" descr="/home/claude/pptx_build/icons/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9489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0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Tanques, murs, barrots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Guardes de seguretat i gossos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Senyals d'alerta i il·luminació nocturna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9520" y="192024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9095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L'alçada d'una tanca canvia tot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només dissuadeix vianants casuals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d'escalar amb facilitat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846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 m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4846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l'empresa es pren la seguretat seriosament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80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tanca no és només física: és també una barrera psicològica.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DIFICULTATS D'ACCÉS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“mantrap”: una trampa per a intrusos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“Trampa per a persones” (literal)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habitació amb DUES portes.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S'obre la primera porta i un guarda identifica la persona.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primera porta es tanca. Ara cal superar un control robust (biometria, targeta + contrasenya...) per obrir la segona.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 el supera... la persona queda atrapada entre les dues portes.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205740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8" name="Image 0" descr="/home/claude/pptx_build/icons/d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420" y="2400300"/>
            <a:ext cx="685800" cy="685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3886200"/>
            <a:ext cx="1371600" cy="13716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0" name="Image 1" descr="/home/claude/pptx_build/icon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420" y="422910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5486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Altres controls d'accés: cadenats, targeta intel·ligent, teclat numèric, biometria...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 I RESPOSTA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l'intrús i saber-hi respondre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7260" y="217170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41173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1945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de detecció d'intrusos (SDI)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interns i externs (perimetrals).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Detecten canvis lumínics, acústics, de moviment o electromagnètics.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Necessiten alimentació pròpia: tallar el corrent no els ha d'inutilitzar.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5100" y="217170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1173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5528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Avaluació d'incidències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33375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falsos positius existeixen: no tota alarma és un atac real.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un protocol clar i una estructura de comunicació: qui truca a qui segons cada tipus d'incidència.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un vidre trencat → un guarda hi va a mirar; un foc a la sala de servidors → bombers.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seguretat física és la base de tota la seguretat informàtica.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72200" y="201168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8" name="Image 1" descr="/home/claude/pptx_build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mesura és suficient sola: cal defensa en capes.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4360" y="411480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2" descr="/home/claude/pptx_build/icons/thermome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humitat, electricitat i incendis: l'entorn també és un risc.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72200" y="411480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4" name="Image 3" descr="/home/claude/pptx_build/icons/user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3434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948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famílies de mesures: dissuadir, dificultar, detectar i avaluar.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1560" y="2651760"/>
            <a:ext cx="1554480" cy="155448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4" name="Image 0" descr="/home/claude/pptx_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318" y="3001518"/>
            <a:ext cx="854964" cy="8549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10.000€ per protegir un petit centre de dades.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3520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escolliu les 3 mesures de seguretat passiva que prioritzaríeu i justifiqueu per què. Penseu en dissuasió, accés, detecció i resposta.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493776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566160" y="49377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789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30886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374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14884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passiva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5877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Obert de Catalunya (IOC) · Material del mòdul “Seguretat informàtica” (M06), Unitat 1, apartat 1</a:t>
            </a:r>
            <a:endParaRPr lang="en-US" sz="1200" dirty="0"/>
          </a:p>
        </p:txBody>
      </p:sp>
      <p:sp>
        <p:nvSpPr>
          <p:cNvPr id="9" name="Text 6">
            <a:hlinkClick r:id="rId2" tooltip=""/>
          </p:cNvPr>
          <p:cNvSpPr txBox="1"/>
          <p:nvPr/>
        </p:nvSpPr>
        <p:spPr>
          <a:xfrm>
            <a:off x="2148840" y="2953512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https://ioc.xtec.cat/materials/FP/Recursos/fp_smx_m06_/web/fp_smx_m06_htmlindex/WebContent/u1/a1/continguts.html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0789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14400" y="413766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2" name="Image 1" descr="/home/claude/pptx_build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662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48840" y="397764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 — Unitat 1: Seguretat passiva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44165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Obert de Catalunya (IOC) · Material del mòdul “Seguretat informàtica” (M06), Unitat 1</a:t>
            </a:r>
            <a:endParaRPr lang="en-US" sz="1200" dirty="0"/>
          </a:p>
        </p:txBody>
      </p:sp>
      <p:sp>
        <p:nvSpPr>
          <p:cNvPr id="15" name="Text 11">
            <a:hlinkClick r:id="rId4" tooltip=""/>
          </p:cNvPr>
          <p:cNvSpPr txBox="1"/>
          <p:nvPr/>
        </p:nvSpPr>
        <p:spPr>
          <a:xfrm>
            <a:off x="2148840" y="4782312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https://ioc.xtec.cat/materials/FP/Recursos/fp_smx_m06_/web/fp_smx_m06_htmlindex/WebContent/u1/introduccio.html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Creative Commons BY-NC-SA · Institut Obert de Catalunya, 2011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El triangle del foc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Calen els tres elements alhora perquè hi hagi foc: n'hi ha prou d'eliminar-ne un.</a:t>
            </a:r>
          </a:p>
        </p:txBody>
      </p:sp>
      <p:pic>
        <p:nvPicPr>
          <p:cNvPr id="5" name="Picture 4" descr="triangle_f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2" y="1920240"/>
            <a:ext cx="517691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El triangle del foc: n'hi ha prou d'eliminar un dels tres elements perquè s'apagui.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Extintor de pols 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Els extintors són una de les mesures bàsiques de prevenció d'incendis.</a:t>
            </a:r>
          </a:p>
        </p:txBody>
      </p:sp>
      <p:pic>
        <p:nvPicPr>
          <p:cNvPr id="5" name="Picture 4" descr="foto_extin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756" y="1920240"/>
            <a:ext cx="211618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Cal que passin revisions periòdiques perquè siguin fiables quan calgui.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Tanca perimetral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L'alçada d'una tanca canvia molt el seu efecte dissuasiu.</a:t>
            </a:r>
          </a:p>
        </p:txBody>
      </p:sp>
      <p:pic>
        <p:nvPicPr>
          <p:cNvPr id="5" name="Picture 4" descr="foto_tanca_perime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52" y="1920240"/>
            <a:ext cx="587579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Les tanques han de tenir una alçada determinada perquè siguin eficaces com a mesura dissuasiva contra intrusos.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HO SABIES?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El cinema i la detecció d'intrusos</a:t>
            </a:r>
          </a:p>
        </p:txBody>
      </p:sp>
      <p:pic>
        <p:nvPicPr>
          <p:cNvPr id="4" name="Picture 3" descr="foto_intrus_pell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52" y="1920240"/>
            <a:ext cx="587579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Algunes pel·lícules ens mostren com els intrusos intenten burlar els sistemes de detecció d'intrusos.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2026-09-03T17:17:40Z</dcterms:created>
  <dcterms:modified xsi:type="dcterms:W3CDTF">2026-09-03T17:17:40Z</dcterms:modified>
</cp:coreProperties>
</file>