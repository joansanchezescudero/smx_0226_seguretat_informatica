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2.png"/><Relationship Id="rId5" Type="http://schemas.openxmlformats.org/officeDocument/2006/relationships/image" Target="../media/image-8-5.png"/><Relationship Id="rId6" Type="http://schemas.openxmlformats.org/officeDocument/2006/relationships/image" Target="../media/image-8-2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1.png"/><Relationship Id="rId3" Type="http://schemas.openxmlformats.org/officeDocument/2006/relationships/image" Target="../media/image-1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ioc.xtec.cat/materials/FP/Recursos/fp_smx_m06_/web/fp_smx_m06_htmlindex/WebContent/u1/a1/continguts.html" TargetMode="External"/><Relationship Id="rId4" Type="http://schemas.openxmlformats.org/officeDocument/2006/relationships/hyperlink" Target="https://ioc.xtec.cat/materials/FP/Recursos/fp_smx_m06_/web/fp_smx_m06_htmlindex/WebContent/u1/introduccio.html" TargetMode="External"/><Relationship Id="rId1" Type="http://schemas.openxmlformats.org/officeDocument/2006/relationships/image" Target="../media/image-23-1.png"/><Relationship Id="rId3" Type="http://schemas.openxmlformats.org/officeDocument/2006/relationships/image" Target="../media/image-2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4572000" cy="4572000"/>
          </a:xfrm>
          <a:prstGeom prst="ellipse">
            <a:avLst/>
          </a:prstGeom>
          <a:solidFill>
            <a:srgbClr val="0B1B29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E6680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2377440"/>
            <a:ext cx="1371600" cy="137160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5" name="Image 0" descr="/home/claude/pptx_build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686050"/>
            <a:ext cx="754380" cy="7543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468880" y="21488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2423160" y="25146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passiva</a:t>
            </a:r>
            <a:endParaRPr lang="en-US" sz="5400" dirty="0"/>
          </a:p>
        </p:txBody>
      </p:sp>
      <p:sp>
        <p:nvSpPr>
          <p:cNvPr id="8" name="Text 5"/>
          <p:cNvSpPr txBox="1"/>
          <p:nvPr/>
        </p:nvSpPr>
        <p:spPr>
          <a:xfrm>
            <a:off x="246888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Protegint allò físic: equips, sales i persones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468880" y="4297680"/>
            <a:ext cx="292608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46888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4892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468880" y="5166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COMENÇAR: LA UNITAT EN CONTEXT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informàtica: molt més que tallafocs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seguretat informàtica és una disciplina holística: engloba tot el que ajuda a reduir i controlar els riscos del dia a dia d'una empresa.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12064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468880"/>
            <a:ext cx="1005840" cy="100584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7" name="Image 0" descr="/home/claude/pptx_build/icons/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720340"/>
            <a:ext cx="502920" cy="5029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240280" y="2651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que la gent imagina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93192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Tallafocs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Antivirus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 d'intrusions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26480" y="2148840"/>
            <a:ext cx="512064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83680" y="2468880"/>
            <a:ext cx="1005840" cy="100584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2" name="Image 1" descr="/home/claude/pptx_build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272034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818120" y="2651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que sovint s'oblida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393192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Seguretat física dels equips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Continuïtat elèctrica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d'accés a les sales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897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unitat veurem que la base física és tan important com les eines de programari.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B1B2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robatori de dispositius no para de créixer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0" y="2651760"/>
            <a:ext cx="1097280" cy="1097280"/>
          </a:xfrm>
          <a:prstGeom prst="ellipse">
            <a:avLst/>
          </a:prstGeom>
          <a:solidFill>
            <a:srgbClr val="D64545"/>
          </a:solidFill>
          <a:ln/>
        </p:spPr>
      </p:sp>
      <p:pic>
        <p:nvPicPr>
          <p:cNvPr id="7" name="Image 0" descr="/home/claude/pptx_build/icons/chart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2926080"/>
            <a:ext cx="548640" cy="5486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Segons l'FBI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29768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robatori d'ordinadors portàtils i de butxaca s'ha incrementat exponencialment en els darrers anys.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92240" y="228600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3E6680"/>
          </a:solidFill>
          <a:ln/>
        </p:spPr>
      </p:sp>
      <p:sp>
        <p:nvSpPr>
          <p:cNvPr id="11" name="Shape 8"/>
          <p:cNvSpPr/>
          <p:nvPr/>
        </p:nvSpPr>
        <p:spPr>
          <a:xfrm>
            <a:off x="8503920" y="2651760"/>
            <a:ext cx="1097280" cy="10972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2" name="Image 1" descr="/home/claude/pptx_build/icons/brief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92608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6656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risc especialment greu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429768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el propietari és un alt càrrec d'una empresa, la pèrdua del dispositiu pot suposar un risc de seguretat molt important.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 RUTA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Els 3 apartats d'aquesta unitat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83280" cy="3749040"/>
          </a:xfrm>
          <a:prstGeom prst="roundRect">
            <a:avLst>
              <a:gd name="adj" fmla="val 3243"/>
            </a:avLst>
          </a:prstGeom>
          <a:solidFill>
            <a:srgbClr val="13293D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148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AVUI TOQUEM AQUEST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760220" y="253746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7" name="Image 0" descr="/home/claude/pptx_build/icons/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0250" y="2777490"/>
            <a:ext cx="480060" cy="4800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" y="36576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Seguretat passiva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9768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física sobre la qual construir tota la resta de mesures de seguretat.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51960" y="1965960"/>
            <a:ext cx="3383280" cy="37490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6354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2" name="Image 1" descr="/home/claude/pptx_build/icons/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570" y="2548890"/>
            <a:ext cx="480060" cy="4800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48056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Sistemes d'alimentació ininterrompuda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406908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 de corrent, en un entorn corporatiu, pot suposar pèrdua de dades crítiques i costos econòmics.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955280" y="1965960"/>
            <a:ext cx="3383280" cy="37490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16686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7" name="Image 2" descr="/home/claude/pptx_build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890" y="2548890"/>
            <a:ext cx="480060" cy="4800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18388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Seguretat lògica</a:t>
            </a:r>
            <a:endParaRPr lang="en-US" sz="1450" dirty="0"/>
          </a:p>
        </p:txBody>
      </p:sp>
      <p:sp>
        <p:nvSpPr>
          <p:cNvPr id="19" name="Text 14"/>
          <p:cNvSpPr txBox="1"/>
          <p:nvPr/>
        </p:nvSpPr>
        <p:spPr>
          <a:xfrm>
            <a:off x="8229600" y="406908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 i autorització: des de contrasenyes fins a mesures biomètriques.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76022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0250" y="254889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Ubicació i entorn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escollir i preparar un espai segur per als equips: emplaçament, temperatura, electricitat i incendis.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5196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6354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1" name="Image 1" descr="/home/claude/pptx_build/icons/user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570" y="254889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056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Riscos i amenaces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 amenaces internes i externes, i entendre com s'avalua el risc real.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95528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6686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6" name="Image 2" descr="/home/claude/pptx_build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890" y="2548890"/>
            <a:ext cx="480060" cy="4800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8388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Mesures de protecció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Conèixer les 4 grans famílies de mesures: dissuasió, control d'accés, detecció i resposta.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QUÈ EN PARLEM?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D'una sala sencera... a la teva butxaca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2286000"/>
            <a:ext cx="1097280" cy="109728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25603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ANYS 1960-1970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93192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ordinador ocupava una sala sencera. Només grans corporacions en tenien, i poca gent hi podia accedir.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92240" y="192024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3E6680"/>
          </a:solidFill>
          <a:ln/>
        </p:spPr>
      </p:sp>
      <p:sp>
        <p:nvSpPr>
          <p:cNvPr id="10" name="Shape 7"/>
          <p:cNvSpPr/>
          <p:nvPr/>
        </p:nvSpPr>
        <p:spPr>
          <a:xfrm>
            <a:off x="8503920" y="2286000"/>
            <a:ext cx="1097280" cy="10972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mob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56032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76656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AVUI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812280" y="393192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Portem l'equivalent a mil ordinadors a la butxaca, i s'hi pot accedir sense fils, des de fora de l'edifici.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760720" y="3703320"/>
            <a:ext cx="640080" cy="6400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5" name="Image 2" descr="/home/claude/pptx_build/icons/arrow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738" y="3847338"/>
            <a:ext cx="352044" cy="3520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física vs. seguretat lògica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1206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286000"/>
            <a:ext cx="1005840" cy="100584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53746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FÍSICA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74904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Protegeix el maquinari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Sales, cablejat, dispositius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panys, tanques, SAI, extintors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126480" y="1965960"/>
            <a:ext cx="51206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2286000"/>
            <a:ext cx="1005840" cy="100584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fingerpr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253746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1812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LÒGICA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6492240" y="374904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Protegeix la informació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Programari, contrasenyes, permisos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xifratge, antivirus, backups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943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Aquesta unitat treballa la vessant FÍSICA de la seguretat.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ESTRATÈGIA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Defensa en capes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mesura és infal·lible per si sola: es combinen diverses capes perquè, si una falla, n'hi hagi una altra al darrere.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68096" y="2743200"/>
            <a:ext cx="2286000" cy="2468880"/>
          </a:xfrm>
          <a:prstGeom prst="roundRect">
            <a:avLst>
              <a:gd name="adj" fmla="val 4800"/>
            </a:avLst>
          </a:prstGeom>
          <a:solidFill>
            <a:srgbClr val="13293D"/>
          </a:solidFill>
          <a:ln/>
        </p:spPr>
      </p:sp>
      <p:sp>
        <p:nvSpPr>
          <p:cNvPr id="6" name="Shape 4"/>
          <p:cNvSpPr/>
          <p:nvPr/>
        </p:nvSpPr>
        <p:spPr>
          <a:xfrm>
            <a:off x="1453896" y="306324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7" name="Image 0" descr="/home/claude/pptx_build/icons/w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2496" y="32918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834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>
                    <a:alpha val="6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905256" y="4160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Tanca perimetral</a:t>
            </a:r>
            <a:endParaRPr lang="en-US" sz="1400" dirty="0"/>
          </a:p>
        </p:txBody>
      </p:sp>
      <p:pic>
        <p:nvPicPr>
          <p:cNvPr id="10" name="Image 1" descr="/home/claude/pptx_build/icons/arrow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536" y="3703320"/>
            <a:ext cx="320040" cy="3200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557016" y="2743200"/>
            <a:ext cx="2286000" cy="2468880"/>
          </a:xfrm>
          <a:prstGeom prst="roundRect">
            <a:avLst>
              <a:gd name="adj" fmla="val 4800"/>
            </a:avLst>
          </a:prstGeom>
          <a:solidFill>
            <a:srgbClr val="3E6680"/>
          </a:solidFill>
          <a:ln/>
        </p:spPr>
      </p:sp>
      <p:sp>
        <p:nvSpPr>
          <p:cNvPr id="12" name="Shape 8"/>
          <p:cNvSpPr/>
          <p:nvPr/>
        </p:nvSpPr>
        <p:spPr>
          <a:xfrm>
            <a:off x="4242816" y="306324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3" name="Image 2" descr="/home/claude/pptx_build/icons/build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329184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66744" y="2834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>
                    <a:alpha val="6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3694176" y="4160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Murs de l'edifici</a:t>
            </a:r>
            <a:endParaRPr lang="en-US" sz="1400" dirty="0"/>
          </a:p>
        </p:txBody>
      </p:sp>
      <p:pic>
        <p:nvPicPr>
          <p:cNvPr id="16" name="Image 3" descr="/home/claude/pptx_build/icons/arrowr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3703320"/>
            <a:ext cx="320040" cy="32004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345936" y="2743200"/>
            <a:ext cx="2286000" cy="2468880"/>
          </a:xfrm>
          <a:prstGeom prst="roundRect">
            <a:avLst>
              <a:gd name="adj" fmla="val 4800"/>
            </a:avLst>
          </a:prstGeom>
          <a:solidFill>
            <a:srgbClr val="13293D"/>
          </a:solidFill>
          <a:ln/>
        </p:spPr>
      </p:sp>
      <p:sp>
        <p:nvSpPr>
          <p:cNvPr id="18" name="Shape 12"/>
          <p:cNvSpPr/>
          <p:nvPr/>
        </p:nvSpPr>
        <p:spPr>
          <a:xfrm>
            <a:off x="7031736" y="306324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9" name="Image 4" descr="/home/claude/pptx_build/icons/idc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36" y="3291840"/>
            <a:ext cx="457200" cy="4572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55664" y="2834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>
                    <a:alpha val="6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6483096" y="4160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Accés amb targeta</a:t>
            </a:r>
            <a:endParaRPr lang="en-US" sz="1400" dirty="0"/>
          </a:p>
        </p:txBody>
      </p:sp>
      <p:pic>
        <p:nvPicPr>
          <p:cNvPr id="22" name="Image 5" descr="/home/claude/pptx_build/icons/arrowrigh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23376" y="3703320"/>
            <a:ext cx="320040" cy="32004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9134856" y="2743200"/>
            <a:ext cx="2286000" cy="2468880"/>
          </a:xfrm>
          <a:prstGeom prst="roundRect">
            <a:avLst>
              <a:gd name="adj" fmla="val 4800"/>
            </a:avLst>
          </a:prstGeom>
          <a:solidFill>
            <a:srgbClr val="3E6680"/>
          </a:solidFill>
          <a:ln/>
        </p:spPr>
      </p:sp>
      <p:sp>
        <p:nvSpPr>
          <p:cNvPr id="24" name="Shape 16"/>
          <p:cNvSpPr/>
          <p:nvPr/>
        </p:nvSpPr>
        <p:spPr>
          <a:xfrm>
            <a:off x="9820656" y="306324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25" name="Image 6" descr="/home/claude/pptx_build/icons/usershie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9256" y="3291840"/>
            <a:ext cx="457200" cy="45720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9244584" y="2834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>
                    <a:alpha val="6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18"/>
          <p:cNvSpPr txBox="1"/>
          <p:nvPr/>
        </p:nvSpPr>
        <p:spPr>
          <a:xfrm>
            <a:off x="9272016" y="4160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de seguretat</a:t>
            </a:r>
            <a:endParaRPr lang="en-US" sz="1400" dirty="0"/>
          </a:p>
        </p:txBody>
      </p:sp>
      <p:sp>
        <p:nvSpPr>
          <p:cNvPr id="28" name="Text 19"/>
          <p:cNvSpPr txBox="1"/>
          <p:nvPr/>
        </p:nvSpPr>
        <p:spPr>
          <a:xfrm>
            <a:off x="548640" y="5623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més capes cal superar, més temps guanyem per reaccionar davant d'un atac.</a:t>
            </a:r>
            <a:endParaRPr lang="en-US" sz="1400" dirty="0"/>
          </a:p>
        </p:txBody>
      </p:sp>
      <p:sp>
        <p:nvSpPr>
          <p:cNvPr id="29" name="Text 2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Amenaça vs. risc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0789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1540" y="196596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6" name="Image 0" descr="/home/claude/pptx_build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60270"/>
            <a:ext cx="388620" cy="3886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1947672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Amenaça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947672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Qualsevol vulnerabilitat que un atacant pugui arribar a explotar (una finestra sense reixa, una porta sense pany...).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108960"/>
            <a:ext cx="10789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91540" y="324612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40430"/>
            <a:ext cx="388620" cy="3886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920240" y="3227832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023360" y="3227832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probabilitat que algú descobreixi aquella amenaça i l'exploti realment.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4526280"/>
            <a:ext cx="5120640" cy="1508760"/>
          </a:xfrm>
          <a:prstGeom prst="roundRect">
            <a:avLst>
              <a:gd name="adj" fmla="val 6061"/>
            </a:avLst>
          </a:prstGeom>
          <a:solidFill>
            <a:srgbClr val="3E668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68680" y="4663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Amenaces INTERNES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505663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incendi fortuït, una fuita d'aigua... o un empleat descontent. Poden ser difícils de controlar: coneixen el sistema per dins.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126480" y="4526280"/>
            <a:ext cx="5120640" cy="1508760"/>
          </a:xfrm>
          <a:prstGeom prst="roundRect">
            <a:avLst>
              <a:gd name="adj" fmla="val 6061"/>
            </a:avLst>
          </a:prstGeom>
          <a:solidFill>
            <a:srgbClr val="D64545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446520" y="4663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Amenaces EXTERNES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505663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Atacants aliens que volen robar informació o malmetre recursos. El nivell de risc no és el mateix per a totes les empreses.</a:t>
            </a:r>
            <a:endParaRPr lang="en-US" sz="1250" dirty="0"/>
          </a:p>
        </p:txBody>
      </p:sp>
      <p:sp>
        <p:nvSpPr>
          <p:cNvPr id="20" name="Text 1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 DE LES INSTAL·LACIONS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construïm el centre de dades?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1540" y="2354580"/>
            <a:ext cx="868680" cy="86868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571750"/>
            <a:ext cx="434340" cy="4343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20756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Visibilitat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920240" y="2496312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Terrenys, cartells i logos: com més discreta la instal·lació, menys atrau atacants.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18745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69380" y="235458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550" y="2571750"/>
            <a:ext cx="434340" cy="4343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98080" y="20756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Factors externs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498080" y="2496312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Taxes de criminalitat i proximitat a policia, bombers i hospitals.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97764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91540" y="4457700"/>
            <a:ext cx="868680" cy="86868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6" name="Image 2" descr="/home/claude/pptx_build/icons/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" y="4674870"/>
            <a:ext cx="434340" cy="4343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920240" y="41788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Accessibilitat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920240" y="4599432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Accés per carretera, trànsit i proximitat a aeroports o estacions.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26480" y="397764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69380" y="445770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21" name="Image 3" descr="/home/claude/pptx_build/icons/mounta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550" y="4674870"/>
            <a:ext cx="434340" cy="4343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98080" y="41788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Desastres naturals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498080" y="4599432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 d'inundacions, terratrèmols, allaus o despreniments.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B1B2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Servidors... a mines i vaixells?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120640" cy="3840480"/>
          </a:xfrm>
          <a:prstGeom prst="roundRect">
            <a:avLst>
              <a:gd name="adj" fmla="val 2857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0" y="2560320"/>
            <a:ext cx="1097280" cy="109728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7" name="Image 0" descr="/home/claude/pptx_build/icons/mount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2834640"/>
            <a:ext cx="548640" cy="5486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Mines abandonades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25196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Algunes empreses hi instal·len servidors per aprofitar el fred natural i estalviar en refrigeració.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92240" y="2194560"/>
            <a:ext cx="5120640" cy="3840480"/>
          </a:xfrm>
          <a:prstGeom prst="roundRect">
            <a:avLst>
              <a:gd name="adj" fmla="val 2857"/>
            </a:avLst>
          </a:prstGeom>
          <a:solidFill>
            <a:srgbClr val="3E6680"/>
          </a:solidFill>
          <a:ln/>
        </p:spPr>
      </p:sp>
      <p:sp>
        <p:nvSpPr>
          <p:cNvPr id="11" name="Shape 8"/>
          <p:cNvSpPr/>
          <p:nvPr/>
        </p:nvSpPr>
        <p:spPr>
          <a:xfrm>
            <a:off x="8503920" y="2560320"/>
            <a:ext cx="1097280" cy="10972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2" name="Image 1" descr="/home/claude/pptx_build/icons/sh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83464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6656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Vaixells en alta mar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425196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gegant d'Internet ha provat parcs de servidors flotants: onades per energia, aigua per refrigerar, i ubicació secreta = molta seguretat.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CONDICIONS AMBIENTALS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temperatura, un factor crític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 equips escalfats = avaries.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controlar la temperatura ambiental i revisar periòdicament ventiladors i refrigeració.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Humitat massa alta → corrosió. Humitat massa baixa → electricitat estàtica i curtcircuits.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040880" y="2103120"/>
            <a:ext cx="4480560" cy="1554480"/>
          </a:xfrm>
          <a:prstGeom prst="roundRect">
            <a:avLst>
              <a:gd name="adj" fmla="val 7059"/>
            </a:avLst>
          </a:prstGeom>
          <a:solidFill>
            <a:srgbClr val="3E668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80°C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224028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 intern d'ordinadors i perifèrics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040880" y="4023360"/>
            <a:ext cx="4480560" cy="1554480"/>
          </a:xfrm>
          <a:prstGeom prst="roundRect">
            <a:avLst>
              <a:gd name="adj" fmla="val 7059"/>
            </a:avLst>
          </a:prstGeom>
          <a:solidFill>
            <a:srgbClr val="D645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0" y="41605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38°C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41605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 intern per a discs i emmagatzematge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5166360"/>
            <a:ext cx="822960" cy="82296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2" name="Image 0" descr="/home/claude/pptx_build/icons/thermome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086" y="5351526"/>
            <a:ext cx="452628" cy="45262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463040" y="52578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sobre d'aquests valors, els components es poden fer malbé de manera irreparable.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CONDICIONS ELÈCTRIQUES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Alimentació neta i sense talls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7260" y="221742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bo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290" y="245745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57400" y="23317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SAI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2057400" y="272491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d'Alimentació Ininterrompuda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3832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Garanteix la continuïtat del servei quan hi ha un tall extern d'alimentació. Imprescindible en qualsevol sala de servidors.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26480" y="1920240"/>
            <a:ext cx="512064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15100" y="221742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2" name="Image 1" descr="/home/claude/pptx_build/icons/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5130" y="2457450"/>
            <a:ext cx="480060" cy="4800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35240" y="23317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Interferències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635240" y="27249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Electromagnètiques i de ràdio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995160" y="33832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Cables mal aïllats o motors: interferències electromagnètiques.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Curiositat: els fluorescents són la font més habitual d'interferències de ràdio — per això no es passa cablejat a prop.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CONDICIONS AMBIENTALS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Ventilació: no només fred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43000" y="2606040"/>
            <a:ext cx="1920240" cy="192024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5" name="Image 0" descr="/home/claude/pptx_build/icons/wi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3060" y="3086100"/>
            <a:ext cx="960120" cy="960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931920" y="1920240"/>
            <a:ext cx="7132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d'aire condicionat de circuit tancat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Recicla l'aire de dins l'edifici, ja filtrat, en lloc d'expulsar-lo a l'exterior.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931920" y="3383280"/>
            <a:ext cx="71323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251960" y="35661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cal filtrar l'aire?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251960" y="402336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pols obstrueix els ventiladors de refrigeració interna dels equips.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Certs gasos poden accelerar la corrosió dels components.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PREVENCIÓ D'INCENDIS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Perquè hi hagi foc, cal...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520440" y="1691640"/>
            <a:ext cx="1371600" cy="1371600"/>
          </a:xfrm>
          <a:prstGeom prst="ellipse">
            <a:avLst/>
          </a:prstGeom>
          <a:solidFill>
            <a:srgbClr val="D64545"/>
          </a:solidFill>
          <a:ln/>
        </p:spPr>
      </p:sp>
      <p:pic>
        <p:nvPicPr>
          <p:cNvPr id="5" name="Image 0" descr="/home/claude/pptx_build/icons/fi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63340" y="2034540"/>
            <a:ext cx="685800" cy="685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00400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174221" y="4023360"/>
            <a:ext cx="1371600" cy="1371600"/>
          </a:xfrm>
          <a:prstGeom prst="ellipse">
            <a:avLst/>
          </a:prstGeom>
          <a:solidFill>
            <a:srgbClr val="D64545"/>
          </a:solidFill>
          <a:ln/>
        </p:spPr>
      </p:sp>
      <p:pic>
        <p:nvPicPr>
          <p:cNvPr id="8" name="Image 1" descr="/home/claude/pptx_build/icons/fi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121" y="4366260"/>
            <a:ext cx="685800" cy="6858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854181" y="5486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Combustible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866659" y="4023360"/>
            <a:ext cx="1371600" cy="1371600"/>
          </a:xfrm>
          <a:prstGeom prst="ellipse">
            <a:avLst/>
          </a:prstGeom>
          <a:solidFill>
            <a:srgbClr val="D64545"/>
          </a:solidFill>
          <a:ln/>
        </p:spPr>
      </p:sp>
      <p:pic>
        <p:nvPicPr>
          <p:cNvPr id="11" name="Image 2" descr="/home/claude/pptx_build/icons/fi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9559" y="4366260"/>
            <a:ext cx="685800" cy="6858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46619" y="5486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Oxigen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949440" y="2103120"/>
            <a:ext cx="4663440" cy="3749040"/>
          </a:xfrm>
          <a:prstGeom prst="roundRect">
            <a:avLst>
              <a:gd name="adj" fmla="val 2927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269480" y="23317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 un dels tres i el foc s'apaga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269480" y="3063240"/>
            <a:ext cx="4023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combustible: escuma que aïlla el material.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oxigen: CO2 elimina l'oxigen disponible (perillós si hi ha persones).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més combustible per m², més ràpid es propaga: per això cal ordre a les zones d'emmagatzematge.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PREVENCIÓ D'INCENDIS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Detectar-ho aviat, apagar-ho bé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1540" y="2308860"/>
            <a:ext cx="868680" cy="86868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b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526030"/>
            <a:ext cx="434340" cy="4343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2057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Detectors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920240" y="2450592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Òptics (variacions de llum per fum) o de temperatura. Manuals o automàtics.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26480" y="18288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69380" y="230886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extinguish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550" y="2526030"/>
            <a:ext cx="434340" cy="4343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98080" y="2057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Extinció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498080" y="2450592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Manuals (extintors, mànegues) o automàtics (aspersors d'aigua o gas).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3931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Tipus de foc i com apagar-los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10789920" cy="16002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3657600"/>
                <a:gridCol w="36576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Extinció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Comú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Fusta, paper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Aigua, escuma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Líquid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Petroli, carbó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CO2, escuma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Elèctric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Cables, material elèctric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CO2, pólvora seca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Metalls inflamables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Magnesi, sodi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Pólvora seca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 DE SEGURETAT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grans famílies de mesures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76656" y="2377440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1329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59536" y="2514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431036" y="326898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7" name="Image 0" descr="/home/claude/pptx_build/icons/b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1066" y="3509010"/>
            <a:ext cx="480060" cy="4800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59536" y="4343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Dissuasives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48006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 que l'atac sembli poc atractiu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65576" y="2377440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3E668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48456" y="2514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4219956" y="326898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3" name="Image 1" descr="/home/claude/pptx_build/icons/d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986" y="3509010"/>
            <a:ext cx="480060" cy="4800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48456" y="4343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Dificultat d'accés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3648456" y="48006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Guanyar temps de reacció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54496" y="2377440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13293D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437376" y="2514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7008876" y="326898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9" name="Image 2" descr="/home/claude/pptx_build/icons/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906" y="3509010"/>
            <a:ext cx="480060" cy="4800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37376" y="4343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 d'intrusos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6437376" y="48006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que alguna cosa passa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43416" y="2377440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3E6680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9226296" y="2514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4" name="Shape 19"/>
          <p:cNvSpPr/>
          <p:nvPr/>
        </p:nvSpPr>
        <p:spPr>
          <a:xfrm>
            <a:off x="9797796" y="326898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25" name="Image 3" descr="/home/claude/pptx_build/icons/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7826" y="3509010"/>
            <a:ext cx="480060" cy="48006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226296" y="4343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Avaluació d'incidències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9226296" y="48006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com respondre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 DISSUASIVES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Fer-los canviar d'opinió abans d'entrar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51560" y="2514600"/>
            <a:ext cx="1737360" cy="17373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5" name="Image 0" descr="/home/claude/pptx_build/icons/w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900" y="2948940"/>
            <a:ext cx="868680" cy="868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57600" y="192024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Tanques, murs, barrots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Guardes de seguretat i gossos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Senyals d'alerta i il·luminació nocturna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589520" y="1920240"/>
            <a:ext cx="4023360" cy="4023360"/>
          </a:xfrm>
          <a:prstGeom prst="roundRect">
            <a:avLst>
              <a:gd name="adj" fmla="val 2727"/>
            </a:avLst>
          </a:prstGeom>
          <a:solidFill>
            <a:srgbClr val="1329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909560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2514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L'alçada d'una tanca canvia tot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2918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9052560" y="3291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només dissuadeix vianants casuals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4069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9052560" y="4069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difícil d'escalar amb facilitat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4846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 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9052560" y="4846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l'empresa es pren la seguretat seriosament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0807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tanca no és només física: és també una barrera psicològica.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DIFICULTATS D'ACCÉS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“mantrap”: una trampa per a intrusos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583680" cy="4114800"/>
          </a:xfrm>
          <a:prstGeom prst="roundRect">
            <a:avLst>
              <a:gd name="adj" fmla="val 2667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“Trampa per a persones” (literal)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60320"/>
            <a:ext cx="5943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habitació amb DUES portes.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S'obre la primera porta i un guarda identifica la persona.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 primera porta es tanca. Ara cal superar un control robust (biometria, targeta + contrasenya...) per obrir la segona.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Si no el supera... la persona queda atrapada entre les dues portes.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732520" y="2057400"/>
            <a:ext cx="1371600" cy="137160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8" name="Image 0" descr="/home/claude/pptx_build/icons/do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5420" y="2400300"/>
            <a:ext cx="685800" cy="685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732520" y="3886200"/>
            <a:ext cx="1371600" cy="137160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0" name="Image 1" descr="/home/claude/pptx_build/icons/fingerpr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5420" y="4229100"/>
            <a:ext cx="685800" cy="685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98080" y="54864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Altres controls d'accés: cadenats, targeta intel·ligent, teclat numèric, biometria...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 I RESPOSTA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Detectar l'intrús i saber-hi respondre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1206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7260" y="217170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vid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290" y="241173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57400" y="219456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de detecció d'intrusos (SDI)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33756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interns i externs (perimetrals).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Detecten canvis lumínics, acústics, de moviment o electromagnètics.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Necessiten alimentació pròpia: tallar el corrent no els ha d'inutilitzar.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26480" y="1874520"/>
            <a:ext cx="51206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15100" y="217170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clip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5130" y="241173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955280" y="22860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Avaluació d'incidències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6995160" y="333756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falsos positius existeixen: no tota alarma és un atac real.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un protocol clar i una estructura de comunicació: qui truca a qui segons cada tipus d'incidència.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un vidre trencat → un guarda hi va a mirar; un foc a la sala de servidors → bombers.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01168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5" name="Image 0" descr="/home/claude/pptx_build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402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9659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seguretat física és la base de tota la seguretat informàtica.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172200" y="201168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8" name="Image 1" descr="/home/claude/pptx_build/icons/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402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269480" y="19659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mesura és suficient sola: cal defensa en capes.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94360" y="411480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2" descr="/home/claude/pptx_build/icons/thermome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34340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91640" y="40690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Temperatura, humitat, electricitat i incendis: l'entorn també és un risc.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172200" y="411480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4" name="Image 3" descr="/home/claude/pptx_build/icons/user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434340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269480" y="40690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famílies de mesures: dissuadir, dificultar, detectar i avaluar.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A5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" y="2651760"/>
            <a:ext cx="1554480" cy="1554480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4" name="Image 0" descr="/home/claude/pptx_build/icons/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318" y="3001518"/>
            <a:ext cx="854964" cy="8549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291840" y="1920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331720"/>
            <a:ext cx="8412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Tens 10.000€ per protegir un petit centre de dades.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35204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escolliu les 3 mesures de seguretat passiva que prioritzaríeu i justifiqueu per què. Penseu en dissuasió, accés, detecció i resposta.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291840" y="4937760"/>
            <a:ext cx="8138160" cy="1051560"/>
          </a:xfrm>
          <a:prstGeom prst="roundRect">
            <a:avLst>
              <a:gd name="adj" fmla="val 8696"/>
            </a:avLst>
          </a:prstGeom>
          <a:solidFill>
            <a:srgbClr val="13293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566160" y="4937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07899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0886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g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5374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48840" y="214884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passiva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2148840" y="2587752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Obert de Catalunya (IOC) · Material del mòdul “Seguretat informàtica” (M06), Unitat 1, apartat 1</a:t>
            </a:r>
            <a:endParaRPr lang="en-US" sz="1200" dirty="0"/>
          </a:p>
        </p:txBody>
      </p:sp>
      <p:sp>
        <p:nvSpPr>
          <p:cNvPr id="9" name="Text 6">
            <a:hlinkClick r:id="rId2" tooltip=""/>
          </p:cNvPr>
          <p:cNvSpPr txBox="1"/>
          <p:nvPr/>
        </p:nvSpPr>
        <p:spPr>
          <a:xfrm>
            <a:off x="2148840" y="2953512"/>
            <a:ext cx="8366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https://ioc.xtec.cat/materials/FP/Recursos/fp_smx_m06_/web/fp_smx_m06_htmlindex/WebContent/u1/a1/continguts.html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3794760"/>
            <a:ext cx="1078992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413766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2" name="Image 1" descr="/home/claude/pptx_build/icons/glo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436626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48840" y="397764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Introducció — Unitat 1: Seguretat passiva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148840" y="4416552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Obert de Catalunya (IOC) · Material del mòdul “Seguretat informàtica” (M06), Unitat 1</a:t>
            </a:r>
            <a:endParaRPr lang="en-US" sz="1200" dirty="0"/>
          </a:p>
        </p:txBody>
      </p:sp>
      <p:sp>
        <p:nvSpPr>
          <p:cNvPr id="15" name="Text 11">
            <a:hlinkClick r:id="rId4" tooltip=""/>
          </p:cNvPr>
          <p:cNvSpPr txBox="1"/>
          <p:nvPr/>
        </p:nvSpPr>
        <p:spPr>
          <a:xfrm>
            <a:off x="2148840" y="4782312"/>
            <a:ext cx="8366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https://ioc.xtec.cat/materials/FP/Recursos/fp_smx_m06_/web/fp_smx_m06_htmlindex/WebContent/u1/introduccio.html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2026-09-03T17:17:40Z</dcterms:created>
  <dcterms:modified xsi:type="dcterms:W3CDTF">2026-09-03T17:17:40Z</dcterms:modified>
</cp:coreProperties>
</file>