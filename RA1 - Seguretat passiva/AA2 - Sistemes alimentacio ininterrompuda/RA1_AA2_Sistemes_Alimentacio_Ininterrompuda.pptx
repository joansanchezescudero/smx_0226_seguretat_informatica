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hyperlink" Target="https://ioc.xtec.cat/materials/FP/Recursos/fp_smx_m06_/web/fp_smx_m06_htmlindex/WebContent/u1/a2/continguts.html" TargetMode="External"/><Relationship Id="rId1" Type="http://schemas.openxmlformats.org/officeDocument/2006/relationships/image" Target="../media/image-20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645920"/>
            <a:ext cx="4572000" cy="4572000"/>
          </a:xfrm>
          <a:prstGeom prst="ellipse">
            <a:avLst/>
          </a:prstGeom>
          <a:solidFill>
            <a:srgbClr val="0B1B29"/>
          </a:solidFill>
          <a:ln/>
        </p:spPr>
      </p:sp>
      <p:sp>
        <p:nvSpPr>
          <p:cNvPr id="3" name="Shape 1"/>
          <p:cNvSpPr/>
          <p:nvPr/>
        </p:nvSpPr>
        <p:spPr>
          <a:xfrm>
            <a:off x="-1371600" y="4572000"/>
            <a:ext cx="3657600" cy="3657600"/>
          </a:xfrm>
          <a:prstGeom prst="ellipse">
            <a:avLst/>
          </a:prstGeom>
          <a:solidFill>
            <a:srgbClr val="3E6680">
              <a:alpha val="3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731520" y="2377440"/>
            <a:ext cx="1371600" cy="13716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5" name="Image 0" descr="/home/claude/pptx_build/icons/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40130" y="2686050"/>
            <a:ext cx="754380" cy="7543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2468880" y="1965960"/>
            <a:ext cx="8686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RA1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2423160" y="2331720"/>
            <a:ext cx="9326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d'alimentació ininterrompuda</a:t>
            </a:r>
            <a:endParaRPr lang="en-US" sz="4200" dirty="0"/>
          </a:p>
        </p:txBody>
      </p:sp>
      <p:sp>
        <p:nvSpPr>
          <p:cNvPr id="8" name="Text 5"/>
          <p:cNvSpPr txBox="1"/>
          <p:nvPr/>
        </p:nvSpPr>
        <p:spPr>
          <a:xfrm>
            <a:off x="2468880" y="3657600"/>
            <a:ext cx="8686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un tall de llum no aturi mai la feina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2468880" y="4297680"/>
            <a:ext cx="2926080" cy="0"/>
          </a:xfrm>
          <a:prstGeom prst="line">
            <a:avLst/>
          </a:prstGeom>
          <a:noFill/>
          <a:ln w="25400">
            <a:solidFill>
              <a:srgbClr val="F2A541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2468880" y="44348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2468880" y="4892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300" dirty="0"/>
          </a:p>
        </p:txBody>
      </p:sp>
      <p:sp>
        <p:nvSpPr>
          <p:cNvPr id="12" name="Text 9"/>
          <p:cNvSpPr txBox="1"/>
          <p:nvPr/>
        </p:nvSpPr>
        <p:spPr>
          <a:xfrm>
            <a:off x="2468880" y="5166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6022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00250" y="254889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7724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Problemes elèctrics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Apagades, sobretensions, baixades de tensió i variacions de freqüència: què són i per què fan mal.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25196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46354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03570" y="254889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8056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 un SAI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57200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Parts, indicadors d'estat i els tres tipus principals: standby, interactiu de línia i online.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7955280" y="2011680"/>
            <a:ext cx="3383280" cy="3566160"/>
          </a:xfrm>
          <a:prstGeom prst="roundRect">
            <a:avLst>
              <a:gd name="adj" fmla="val 32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B2A38">
                <a:alpha val="15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66860" y="230886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gau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06890" y="2548890"/>
            <a:ext cx="480060" cy="4800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83880" y="3429000"/>
            <a:ext cx="2926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Escollir el SAI adequat</a:t>
            </a:r>
            <a:endParaRPr lang="en-US" sz="1800" dirty="0"/>
          </a:p>
        </p:txBody>
      </p:sp>
      <p:sp>
        <p:nvSpPr>
          <p:cNvPr id="18" name="Text 13"/>
          <p:cNvSpPr txBox="1"/>
          <p:nvPr/>
        </p:nvSpPr>
        <p:spPr>
          <a:xfrm>
            <a:off x="8275320" y="4069080"/>
            <a:ext cx="2743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Càrrega, autonomia i capacitat: com calcular quin SAI necessita cada equip.</a:t>
            </a:r>
            <a:endParaRPr lang="en-US" sz="1300" dirty="0"/>
          </a:p>
        </p:txBody>
      </p:sp>
      <p:sp>
        <p:nvSpPr>
          <p:cNvPr id="19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COMENÇAR, UNA ANALOGIA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els pneumàtics d'un cotxe...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560320" y="2286000"/>
            <a:ext cx="1097280" cy="10972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c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2560320"/>
            <a:ext cx="548640" cy="5486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8229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PNEUMÀTICS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cotxe necessita un model i una pressió concrets. Massa poca pressió: perill. Massa pes: cal pujar-la, però mai per sobre del límit.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6492240" y="1920240"/>
            <a:ext cx="5120640" cy="4206240"/>
          </a:xfrm>
          <a:prstGeom prst="roundRect">
            <a:avLst>
              <a:gd name="adj" fmla="val 2609"/>
            </a:avLst>
          </a:prstGeom>
          <a:solidFill>
            <a:srgbClr val="3E6680"/>
          </a:solidFill>
          <a:ln/>
        </p:spPr>
      </p:sp>
      <p:sp>
        <p:nvSpPr>
          <p:cNvPr id="10" name="Shape 7"/>
          <p:cNvSpPr/>
          <p:nvPr/>
        </p:nvSpPr>
        <p:spPr>
          <a:xfrm>
            <a:off x="8503920" y="2286000"/>
            <a:ext cx="1097280" cy="10972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2560320"/>
            <a:ext cx="548640" cy="5486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6766560" y="35204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SAI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6812280" y="3931920"/>
            <a:ext cx="448056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equip necessita un SAI adequat. Un SAI domèstic no serveix per a un centre de dades, i mai s'hi ha de connectar més càrrega de la que suporta.</a:t>
            </a:r>
            <a:endParaRPr lang="en-US" sz="1500" dirty="0"/>
          </a:p>
        </p:txBody>
      </p:sp>
      <p:sp>
        <p:nvSpPr>
          <p:cNvPr id="14" name="Shape 10"/>
          <p:cNvSpPr/>
          <p:nvPr/>
        </p:nvSpPr>
        <p:spPr>
          <a:xfrm>
            <a:off x="5760720" y="3703320"/>
            <a:ext cx="640080" cy="6400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5" name="Image 2" descr="/home/claude/pptx_build/icons/arrowrigh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04738" y="3847338"/>
            <a:ext cx="352044" cy="35204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tall de llum no avisa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3000" y="2697480"/>
            <a:ext cx="1737360" cy="173736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5" name="Image 0" descr="/home/claude/pptx_build/icons/pl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3131820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931920" y="2194560"/>
            <a:ext cx="722376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pèrdua sobtada de corrent atura l'ordinador a l'instant.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 malmetre el maquinari.</a:t>
            </a:r>
            <a:endParaRPr lang="en-US" sz="1600" dirty="0"/>
          </a:p>
          <a:p>
            <a:pPr marL="342900" indent="-342900">
              <a:spcAft>
                <a:spcPts val="1400"/>
              </a:spcAft>
              <a:buSzPct val="100000"/>
              <a:buChar char="•"/>
            </a:pPr>
            <a:r>
              <a:rPr lang="en-US" sz="16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 provocar pèrdua de dades vitals que encara no s'havien desat.</a:t>
            </a:r>
            <a:endParaRPr lang="en-US" sz="1600" dirty="0"/>
          </a:p>
        </p:txBody>
      </p:sp>
      <p:sp>
        <p:nvSpPr>
          <p:cNvPr id="7" name="Shape 4"/>
          <p:cNvSpPr/>
          <p:nvPr/>
        </p:nvSpPr>
        <p:spPr>
          <a:xfrm>
            <a:off x="3931920" y="4297680"/>
            <a:ext cx="7223760" cy="1737360"/>
          </a:xfrm>
          <a:prstGeom prst="roundRect">
            <a:avLst>
              <a:gd name="adj" fmla="val 6316"/>
            </a:avLst>
          </a:prstGeom>
          <a:solidFill>
            <a:srgbClr val="1329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51960" y="4297680"/>
            <a:ext cx="65836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SAI (UPS en anglès) garanteix alimentació contínua i de bona qualitat, encara que hi hagi talls de llum.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PROBLEMES ELÈCTRICS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Quatre maneres de fer malbé un equip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2354580"/>
            <a:ext cx="868680" cy="86868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6" name="Image 0" descr="/home/claude/pptx_build/icons/plu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8710" y="257175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92024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Apagades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1920240" y="26517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 total del subministrament elèctric.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69380" y="235458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warnin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6550" y="257175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98080" y="219456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Sobretensions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7498080" y="265176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voltatge puja per sobre del que hauria de ser.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4864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91540" y="4457700"/>
            <a:ext cx="868680" cy="86868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batteryhalf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8710" y="467487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92024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Baixades de tensió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1920240" y="4754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voltatge baixa per sota del que hauria de ser.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6126480" y="39776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69380" y="445770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Image 3" descr="/home/claude/pptx_build/icons/win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6550" y="467487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98080" y="429768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Variació de freqüència</a:t>
            </a:r>
            <a:endParaRPr lang="en-US" sz="1600" dirty="0"/>
          </a:p>
        </p:txBody>
      </p:sp>
      <p:sp>
        <p:nvSpPr>
          <p:cNvPr id="23" name="Text 17"/>
          <p:cNvSpPr txBox="1"/>
          <p:nvPr/>
        </p:nvSpPr>
        <p:spPr>
          <a:xfrm>
            <a:off x="7498080" y="4754880"/>
            <a:ext cx="3474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senyal ja no va als 50 Hz habituals a Europa.</a:t>
            </a:r>
            <a:endParaRPr lang="en-US" sz="1300" dirty="0"/>
          </a:p>
        </p:txBody>
      </p:sp>
      <p:sp>
        <p:nvSpPr>
          <p:cNvPr id="24" name="Text 1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SOBRETENSIONS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rebre “més” no és bo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6304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dispositiu electrònic està dissenyat per rebre un voltatge màxim concret. Superar-lo el pot fer malbé a l'instant.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377440"/>
            <a:ext cx="3383280" cy="2377440"/>
          </a:xfrm>
          <a:prstGeom prst="roundRect">
            <a:avLst>
              <a:gd name="adj" fmla="val 4615"/>
            </a:avLst>
          </a:prstGeom>
          <a:solidFill>
            <a:srgbClr val="3E6680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3152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1,35 V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5661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tensió normal de funcionament d'un LED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251960" y="2377440"/>
            <a:ext cx="3383280" cy="2377440"/>
          </a:xfrm>
          <a:prstGeom prst="roundRect">
            <a:avLst>
              <a:gd name="adj" fmla="val 4615"/>
            </a:avLst>
          </a:prstGeom>
          <a:solidFill>
            <a:srgbClr val="3E668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43484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1,6 V</a:t>
            </a:r>
            <a:endParaRPr lang="en-US" sz="34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35661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tensió màxima que suporta abans de fer-se malbé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7955280" y="2377440"/>
            <a:ext cx="3383280" cy="2377440"/>
          </a:xfrm>
          <a:prstGeom prst="roundRect">
            <a:avLst>
              <a:gd name="adj" fmla="val 4615"/>
            </a:avLst>
          </a:prstGeom>
          <a:solidFill>
            <a:srgbClr val="D64545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138160" y="265176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V</a:t>
            </a:r>
            <a:endParaRPr lang="en-US" sz="34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3566160"/>
            <a:ext cx="28346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F2F6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connectem a 2 piles d'1,5V... es fon a l'instant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548640" y="51206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aparells elèctrics funcionen amb la mateixa lògica: una sobretensió pot cremar-los a l'instant.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SOBRETENSIONS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D'on venen i com ens protegim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37260" y="2217420"/>
            <a:ext cx="960120" cy="96012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6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423160"/>
            <a:ext cx="2788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Causes habituals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204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Apagades i talls de llum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Llamps (les més perilloses)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Curtcircuits</a:t>
            </a:r>
            <a:endParaRPr lang="en-US" sz="135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Grans motors o aires condicionats que alteren la línia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3749040"/>
          </a:xfrm>
          <a:prstGeom prst="roundRect">
            <a:avLst>
              <a:gd name="adj" fmla="val 292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515100" y="2217420"/>
            <a:ext cx="960120" cy="9601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plug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83880" y="2240280"/>
            <a:ext cx="2788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Descarregador de sobretensió</a:t>
            </a:r>
            <a:endParaRPr lang="en-US" sz="1550" dirty="0"/>
          </a:p>
        </p:txBody>
      </p:sp>
      <p:sp>
        <p:nvSpPr>
          <p:cNvPr id="13" name="Text 9"/>
          <p:cNvSpPr txBox="1"/>
          <p:nvPr/>
        </p:nvSpPr>
        <p:spPr>
          <a:xfrm>
            <a:off x="6995160" y="3520440"/>
            <a:ext cx="44805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 bàsica i econòmica per a PC, monitors i impressores.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tots els endolls múltiples en porten: cal comprovar-ho.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Davant d'una tempesta, el més segur és desendollar l'equip.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BAIXADES DE TENSIÓ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 el voltatge cau momentàniament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1143000" y="2697480"/>
            <a:ext cx="1737360" cy="17373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5" name="Image 0" descr="/home/claude/pptx_build/icons/batteryhalf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77340" y="3131820"/>
            <a:ext cx="868680" cy="86868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3931920" y="2103120"/>
            <a:ext cx="7223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Menys serioses que les sobretensions: la majoria d'equips toleren fluctuacions grans.</a:t>
            </a:r>
            <a:endParaRPr lang="en-US" sz="15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motor gran que arrenca consumeix molt corrent de cop i “roba” tensió a la resta de la línia.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3931920" y="3840480"/>
            <a:ext cx="7223760" cy="2103120"/>
          </a:xfrm>
          <a:prstGeom prst="roundRect">
            <a:avLst>
              <a:gd name="adj" fmla="val 5217"/>
            </a:avLst>
          </a:prstGeom>
          <a:solidFill>
            <a:srgbClr val="13293D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251960" y="4069080"/>
            <a:ext cx="6583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Regulador de voltatge (VRM)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251960" y="4526280"/>
            <a:ext cx="65836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Circuit electrònic que manté el nivell de voltatge d'una línia elèctrica, eliminant tant sobretensions com baixades de tensió. Un VRM és un regulador contingut en una unitat reemplaçable.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Bateria + protecció, en un sol aparell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737360" y="242316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6" name="Image 0" descr="/home/claude/pptx_build/icons/batter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8820" y="26746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Bateria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40233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Subministra electricitat als equips connectats quan falla la línia principal.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251960" y="21031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5440680" y="242316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shiel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92140" y="2674620"/>
            <a:ext cx="502920" cy="50292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4526280" y="40233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 sobretensions, baixades de tensió i soroll de línia abans que arribin a l'equip.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7955280" y="2103120"/>
            <a:ext cx="3383280" cy="3200400"/>
          </a:xfrm>
          <a:prstGeom prst="roundRect">
            <a:avLst>
              <a:gd name="adj" fmla="val 3429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9144000" y="2423160"/>
            <a:ext cx="1005840" cy="100584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6" name="Image 2" descr="/home/claude/pptx_build/icons/cloc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95460" y="2674620"/>
            <a:ext cx="502920" cy="50292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61188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Autonomia</a:t>
            </a:r>
            <a:endParaRPr lang="en-US" sz="1600" dirty="0"/>
          </a:p>
        </p:txBody>
      </p:sp>
      <p:sp>
        <p:nvSpPr>
          <p:cNvPr id="18" name="Text 13"/>
          <p:cNvSpPr txBox="1"/>
          <p:nvPr/>
        </p:nvSpPr>
        <p:spPr>
          <a:xfrm>
            <a:off x="8229600" y="4023360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pocs minuts a diverses hores, segons el model: temps per aturar tot de manera ordenada.</a:t>
            </a:r>
            <a:endParaRPr lang="en-US" sz="1250" dirty="0"/>
          </a:p>
        </p:txBody>
      </p:sp>
      <p:sp>
        <p:nvSpPr>
          <p:cNvPr id="19" name="Text 14"/>
          <p:cNvSpPr txBox="1"/>
          <p:nvPr/>
        </p:nvSpPr>
        <p:spPr>
          <a:xfrm>
            <a:off x="548640" y="55778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cal encara més temps, el SAI pot donar marge fins que arrenqui un grup electrogen.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DINS D'UN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6 parts principals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943100" y="2029968"/>
            <a:ext cx="731520" cy="7315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exch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5980" y="2212848"/>
            <a:ext cx="365760" cy="3657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2852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Circuits d'inversió/conversió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Transformen corrent altern ↔ continu.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42062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600700" y="2029968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83580" y="221284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389120" y="2852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Bateria</a:t>
            </a:r>
            <a:endParaRPr lang="en-US" sz="1250" dirty="0"/>
          </a:p>
        </p:txBody>
      </p:sp>
      <p:sp>
        <p:nvSpPr>
          <p:cNvPr id="13" name="Text 9"/>
          <p:cNvSpPr txBox="1"/>
          <p:nvPr/>
        </p:nvSpPr>
        <p:spPr>
          <a:xfrm>
            <a:off x="438912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Determina mida i autonomia del SAI.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7863840" y="182880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58300" y="2029968"/>
            <a:ext cx="731520" cy="7315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plu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0" y="2212848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046720" y="285292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Interruptor principal</a:t>
            </a:r>
            <a:endParaRPr lang="en-US" sz="1250" dirty="0"/>
          </a:p>
        </p:txBody>
      </p:sp>
      <p:sp>
        <p:nvSpPr>
          <p:cNvPr id="18" name="Text 13"/>
          <p:cNvSpPr txBox="1"/>
          <p:nvPr/>
        </p:nvSpPr>
        <p:spPr>
          <a:xfrm>
            <a:off x="8046720" y="324612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Activa o desactiva la sortida elèctrica.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1943100" y="4178808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Image 3" descr="/home/claude/pptx_build/icons/chargingstation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25980" y="436168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31520" y="50017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Connectors de sortida</a:t>
            </a:r>
            <a:endParaRPr lang="en-US" sz="1250" dirty="0"/>
          </a:p>
        </p:txBody>
      </p:sp>
      <p:sp>
        <p:nvSpPr>
          <p:cNvPr id="23" name="Text 17"/>
          <p:cNvSpPr txBox="1"/>
          <p:nvPr/>
        </p:nvSpPr>
        <p:spPr>
          <a:xfrm>
            <a:off x="7315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es connecten els equips a protegir.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42062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25" name="Shape 19"/>
          <p:cNvSpPr/>
          <p:nvPr/>
        </p:nvSpPr>
        <p:spPr>
          <a:xfrm>
            <a:off x="5600700" y="4178808"/>
            <a:ext cx="731520" cy="7315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26" name="Image 4" descr="/home/claude/pptx_build/icons/bel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83580" y="4361688"/>
            <a:ext cx="365760" cy="36576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4389120" y="50017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Indicadors d'estat</a:t>
            </a:r>
            <a:endParaRPr lang="en-US" sz="1250" dirty="0"/>
          </a:p>
        </p:txBody>
      </p:sp>
      <p:sp>
        <p:nvSpPr>
          <p:cNvPr id="28" name="Text 21"/>
          <p:cNvSpPr txBox="1"/>
          <p:nvPr/>
        </p:nvSpPr>
        <p:spPr>
          <a:xfrm>
            <a:off x="43891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LED i alarmes sonores.</a:t>
            </a:r>
            <a:endParaRPr lang="en-US" sz="1050" dirty="0"/>
          </a:p>
        </p:txBody>
      </p:sp>
      <p:sp>
        <p:nvSpPr>
          <p:cNvPr id="29" name="Shape 22"/>
          <p:cNvSpPr/>
          <p:nvPr/>
        </p:nvSpPr>
        <p:spPr>
          <a:xfrm>
            <a:off x="7863840" y="3977640"/>
            <a:ext cx="3520440" cy="1920240"/>
          </a:xfrm>
          <a:prstGeom prst="roundRect">
            <a:avLst>
              <a:gd name="adj" fmla="val 476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30" name="Shape 23"/>
          <p:cNvSpPr/>
          <p:nvPr/>
        </p:nvSpPr>
        <p:spPr>
          <a:xfrm>
            <a:off x="9258300" y="4178808"/>
            <a:ext cx="731520" cy="73152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31" name="Image 5" descr="/home/claude/pptx_build/icons/desktop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441180" y="4361688"/>
            <a:ext cx="365760" cy="365760"/>
          </a:xfrm>
          <a:prstGeom prst="rect">
            <a:avLst/>
          </a:prstGeom>
        </p:spPr>
      </p:pic>
      <p:sp>
        <p:nvSpPr>
          <p:cNvPr id="32" name="Text 24"/>
          <p:cNvSpPr txBox="1"/>
          <p:nvPr/>
        </p:nvSpPr>
        <p:spPr>
          <a:xfrm>
            <a:off x="8046720" y="5001768"/>
            <a:ext cx="3154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Programari de control</a:t>
            </a:r>
            <a:endParaRPr lang="en-US" sz="1250" dirty="0"/>
          </a:p>
        </p:txBody>
      </p:sp>
      <p:sp>
        <p:nvSpPr>
          <p:cNvPr id="33" name="Text 25"/>
          <p:cNvSpPr txBox="1"/>
          <p:nvPr/>
        </p:nvSpPr>
        <p:spPr>
          <a:xfrm>
            <a:off x="8046720" y="5394960"/>
            <a:ext cx="3154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Monitoratge des de l'ordinador.</a:t>
            </a:r>
            <a:endParaRPr lang="en-US" sz="1050" dirty="0"/>
          </a:p>
        </p:txBody>
      </p:sp>
      <p:sp>
        <p:nvSpPr>
          <p:cNvPr id="34" name="Text 26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D'UN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Els indicadors ens parlen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30886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bol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0140" y="251460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874520" y="21031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línia (online)</a:t>
            </a:r>
            <a:endParaRPr lang="en-US" sz="1450" dirty="0"/>
          </a:p>
        </p:txBody>
      </p:sp>
      <p:sp>
        <p:nvSpPr>
          <p:cNvPr id="8" name="Text 5"/>
          <p:cNvSpPr txBox="1"/>
          <p:nvPr/>
        </p:nvSpPr>
        <p:spPr>
          <a:xfrm>
            <a:off x="1874520" y="249631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amb corrent de la línia elèctrica normal.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126480" y="187452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6492240" y="2308860"/>
            <a:ext cx="822960" cy="82296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97980" y="251460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7452360" y="210312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bateria (on battery)</a:t>
            </a:r>
            <a:endParaRPr lang="en-US" sz="1450" dirty="0"/>
          </a:p>
        </p:txBody>
      </p:sp>
      <p:sp>
        <p:nvSpPr>
          <p:cNvPr id="13" name="Text 9"/>
          <p:cNvSpPr txBox="1"/>
          <p:nvPr/>
        </p:nvSpPr>
        <p:spPr>
          <a:xfrm>
            <a:off x="7452360" y="249631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 amb l'energia de la bateria.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548640" y="384048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4274820"/>
            <a:ext cx="822960" cy="822960"/>
          </a:xfrm>
          <a:prstGeom prst="ellipse">
            <a:avLst/>
          </a:prstGeom>
          <a:solidFill>
            <a:srgbClr val="D64545"/>
          </a:solidFill>
          <a:ln/>
        </p:spPr>
      </p:sp>
      <p:pic>
        <p:nvPicPr>
          <p:cNvPr id="16" name="Image 2" descr="/home/claude/pptx_build/icons/warning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0140" y="448056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874520" y="4069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Sobrecàrrega (overload)</a:t>
            </a:r>
            <a:endParaRPr lang="en-US" sz="1450" dirty="0"/>
          </a:p>
        </p:txBody>
      </p:sp>
      <p:sp>
        <p:nvSpPr>
          <p:cNvPr id="18" name="Text 13"/>
          <p:cNvSpPr txBox="1"/>
          <p:nvPr/>
        </p:nvSpPr>
        <p:spPr>
          <a:xfrm>
            <a:off x="1874520" y="446227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 ha més equips connectats dels que el SAI pot gestionar.</a:t>
            </a:r>
            <a:endParaRPr lang="en-US" sz="1200" dirty="0"/>
          </a:p>
        </p:txBody>
      </p:sp>
      <p:sp>
        <p:nvSpPr>
          <p:cNvPr id="19" name="Shape 14"/>
          <p:cNvSpPr/>
          <p:nvPr/>
        </p:nvSpPr>
        <p:spPr>
          <a:xfrm>
            <a:off x="6126480" y="3840480"/>
            <a:ext cx="5120640" cy="1691640"/>
          </a:xfrm>
          <a:prstGeom prst="roundRect">
            <a:avLst>
              <a:gd name="adj" fmla="val 540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20" name="Shape 15"/>
          <p:cNvSpPr/>
          <p:nvPr/>
        </p:nvSpPr>
        <p:spPr>
          <a:xfrm>
            <a:off x="6492240" y="4274820"/>
            <a:ext cx="822960" cy="82296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Image 3" descr="/home/claude/pptx_build/icons/batteryhalf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97980" y="4480560"/>
            <a:ext cx="411480" cy="41148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52360" y="4069080"/>
            <a:ext cx="3520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Substituir bateria</a:t>
            </a:r>
            <a:endParaRPr lang="en-US" sz="1450" dirty="0"/>
          </a:p>
        </p:txBody>
      </p:sp>
      <p:sp>
        <p:nvSpPr>
          <p:cNvPr id="23" name="Text 17"/>
          <p:cNvSpPr txBox="1"/>
          <p:nvPr/>
        </p:nvSpPr>
        <p:spPr>
          <a:xfrm>
            <a:off x="7452360" y="4462272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bateria està en mal estat i cal canviar-la.</a:t>
            </a:r>
            <a:endParaRPr lang="en-US" sz="1200" dirty="0"/>
          </a:p>
        </p:txBody>
      </p:sp>
      <p:sp>
        <p:nvSpPr>
          <p:cNvPr id="24" name="Text 18"/>
          <p:cNvSpPr txBox="1"/>
          <p:nvPr/>
        </p:nvSpPr>
        <p:spPr>
          <a:xfrm>
            <a:off x="54864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Alguns SAI tenen també alarmes sonores, per si no esteu mirant els llums en aquell moment.</a:t>
            </a:r>
            <a:endParaRPr lang="en-US" sz="1300" dirty="0"/>
          </a:p>
        </p:txBody>
      </p:sp>
      <p:sp>
        <p:nvSpPr>
          <p:cNvPr id="25" name="Text 19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PARTS D'UN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programari de monitoratge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93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</p:sp>
      <p:sp>
        <p:nvSpPr>
          <p:cNvPr id="5" name="Shape 3"/>
          <p:cNvSpPr/>
          <p:nvPr/>
        </p:nvSpPr>
        <p:spPr>
          <a:xfrm>
            <a:off x="1088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6" name="Image 0" descr="/home/claude/pptx_build/icons/gau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05306" y="2937510"/>
            <a:ext cx="434340" cy="43434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30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Estat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630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Càrrega, condicions ambientals...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2779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</p:sp>
      <p:sp>
        <p:nvSpPr>
          <p:cNvPr id="10" name="Shape 7"/>
          <p:cNvSpPr/>
          <p:nvPr/>
        </p:nvSpPr>
        <p:spPr>
          <a:xfrm>
            <a:off x="3374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1" descr="/home/claude/pptx_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91306" y="2937510"/>
            <a:ext cx="434340" cy="43434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916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Registre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2916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Historial d'esdeveniments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5065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</p:sp>
      <p:sp>
        <p:nvSpPr>
          <p:cNvPr id="15" name="Shape 11"/>
          <p:cNvSpPr/>
          <p:nvPr/>
        </p:nvSpPr>
        <p:spPr>
          <a:xfrm>
            <a:off x="5660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6" name="Image 2" descr="/home/claude/pptx_build/icons/checkcircl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77306" y="2937510"/>
            <a:ext cx="434340" cy="4343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5202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Diagnòstic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5202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Comprovacions programades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7351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</p:sp>
      <p:sp>
        <p:nvSpPr>
          <p:cNvPr id="20" name="Shape 15"/>
          <p:cNvSpPr/>
          <p:nvPr/>
        </p:nvSpPr>
        <p:spPr>
          <a:xfrm>
            <a:off x="7946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Image 3" descr="/home/claude/pptx_build/icons/bell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63306" y="2937510"/>
            <a:ext cx="434340" cy="4343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488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Alarmes PC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7488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Notificacions a l'ordinador</a:t>
            </a:r>
            <a:endParaRPr lang="en-US" sz="1050" dirty="0"/>
          </a:p>
        </p:txBody>
      </p:sp>
      <p:sp>
        <p:nvSpPr>
          <p:cNvPr id="24" name="Shape 18"/>
          <p:cNvSpPr/>
          <p:nvPr/>
        </p:nvSpPr>
        <p:spPr>
          <a:xfrm>
            <a:off x="9637776" y="2377440"/>
            <a:ext cx="2057400" cy="2926080"/>
          </a:xfrm>
          <a:prstGeom prst="roundRect">
            <a:avLst>
              <a:gd name="adj" fmla="val 5333"/>
            </a:avLst>
          </a:prstGeom>
          <a:solidFill>
            <a:srgbClr val="3E6680"/>
          </a:solidFill>
          <a:ln/>
        </p:spPr>
      </p:sp>
      <p:sp>
        <p:nvSpPr>
          <p:cNvPr id="25" name="Shape 19"/>
          <p:cNvSpPr/>
          <p:nvPr/>
        </p:nvSpPr>
        <p:spPr>
          <a:xfrm>
            <a:off x="10232136" y="2720340"/>
            <a:ext cx="868680" cy="86868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6" name="Image 4" descr="/home/claude/pptx_build/icons/desktop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449306" y="2937510"/>
            <a:ext cx="434340" cy="434340"/>
          </a:xfrm>
          <a:prstGeom prst="rect">
            <a:avLst/>
          </a:prstGeom>
        </p:spPr>
      </p:pic>
      <p:sp>
        <p:nvSpPr>
          <p:cNvPr id="27" name="Text 20"/>
          <p:cNvSpPr txBox="1"/>
          <p:nvPr/>
        </p:nvSpPr>
        <p:spPr>
          <a:xfrm>
            <a:off x="9774936" y="3794760"/>
            <a:ext cx="1783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Apagada automàtica</a:t>
            </a:r>
            <a:endParaRPr lang="en-US" sz="1300" dirty="0"/>
          </a:p>
        </p:txBody>
      </p:sp>
      <p:sp>
        <p:nvSpPr>
          <p:cNvPr id="28" name="Text 21"/>
          <p:cNvSpPr txBox="1"/>
          <p:nvPr/>
        </p:nvSpPr>
        <p:spPr>
          <a:xfrm>
            <a:off x="9774936" y="4251960"/>
            <a:ext cx="17830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Tanca el sistema de forma segura</a:t>
            </a:r>
            <a:endParaRPr lang="en-US" sz="1050" dirty="0"/>
          </a:p>
        </p:txBody>
      </p:sp>
      <p:sp>
        <p:nvSpPr>
          <p:cNvPr id="29" name="Text 22"/>
          <p:cNvSpPr txBox="1"/>
          <p:nvPr/>
        </p:nvSpPr>
        <p:spPr>
          <a:xfrm>
            <a:off x="548640" y="562356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Connectant un cable (avui, normalment USB) del SAI a l'ordinador.</a:t>
            </a:r>
            <a:endParaRPr lang="en-US" sz="1300" dirty="0"/>
          </a:p>
        </p:txBody>
      </p:sp>
      <p:sp>
        <p:nvSpPr>
          <p:cNvPr id="30" name="Text 23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TIPUS DE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Standby, interactiu de línia o online?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8745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3E668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488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Standby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24612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bateria només actua quan falla la línia. Temps de transferència breu. Barat, per a PC domèstics.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251960" y="18745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13293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526280" y="21488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452628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Interactiu de línia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4526280" y="324612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L'inversor/convertidor sempre és a la sortida: resposta més ràpida. Per a petites empreses i servidors web.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7955280" y="1874520"/>
            <a:ext cx="3429000" cy="3931920"/>
          </a:xfrm>
          <a:prstGeom prst="roundRect">
            <a:avLst>
              <a:gd name="adj" fmla="val 3200"/>
            </a:avLst>
          </a:prstGeom>
          <a:solidFill>
            <a:srgbClr val="F2A54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229600" y="2148840"/>
            <a:ext cx="2880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0" y="2468880"/>
            <a:ext cx="2880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0" y="3246120"/>
            <a:ext cx="288036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L'ordinador sempre rep corrent de la bateria. Sense temps de transferència. Car, per a centres de dades.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GRAN DIFERÈNCIA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“temps de transferència”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0B1B29"/>
          </a:solidFill>
          <a:ln w="12700">
            <a:solidFill>
              <a:srgbClr val="3E668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7260" y="221742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exchang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7290" y="245745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057400" y="23774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Standby / interactiu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868680" y="356616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7E4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 ha un breu interval (fracció de segon) entre el tall de llum i el moment en què la bateria alimenta l'ordinador. És prou curt per no notar-se, però existeix.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6126480" y="1920240"/>
            <a:ext cx="5120640" cy="3931920"/>
          </a:xfrm>
          <a:prstGeom prst="roundRect">
            <a:avLst>
              <a:gd name="adj" fmla="val 2791"/>
            </a:avLst>
          </a:prstGeom>
          <a:solidFill>
            <a:srgbClr val="F2A541"/>
          </a:solidFill>
          <a:ln/>
        </p:spPr>
      </p:sp>
      <p:sp>
        <p:nvSpPr>
          <p:cNvPr id="10" name="Shape 7"/>
          <p:cNvSpPr/>
          <p:nvPr/>
        </p:nvSpPr>
        <p:spPr>
          <a:xfrm>
            <a:off x="6515100" y="2217420"/>
            <a:ext cx="960120" cy="9601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1" name="Image 1" descr="/home/claude/pptx_build/icons/checkcircl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55130" y="2457450"/>
            <a:ext cx="480060" cy="48006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183880" y="2377440"/>
            <a:ext cx="2788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Online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6446520" y="3566160"/>
            <a:ext cx="448056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L'ordinador sempre rep alimentació de la bateria, tant si hi ha llum de línia com si no. Zero temps de transferència: la protecció més robusta que existeix.</a:t>
            </a:r>
            <a:endParaRPr lang="en-US" sz="1400" dirty="0"/>
          </a:p>
        </p:txBody>
      </p:sp>
      <p:sp>
        <p:nvSpPr>
          <p:cNvPr id="14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ESCOLLIR EL SAI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Càrrega, autonomia i capacitat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7830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7724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Càrrega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77724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conjunt d'equips connectats al SAI.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51960" y="17830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448056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Autonomia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48056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que el SAI pot alimentar aquesta càrrega.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955280" y="1783080"/>
            <a:ext cx="3383280" cy="1371600"/>
          </a:xfrm>
          <a:prstGeom prst="roundRect">
            <a:avLst>
              <a:gd name="adj" fmla="val 6667"/>
            </a:avLst>
          </a:prstGeom>
          <a:solidFill>
            <a:srgbClr val="3E6680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183880" y="192024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2A54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Capacitat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2286000"/>
            <a:ext cx="29260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potència màxima que el SAI pot subministrar.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342900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Exemple real: SAI APC Back-UPS 550VA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840480"/>
          <a:ext cx="5486400" cy="1920240"/>
        </p:xfrm>
        <a:graphic>
          <a:graphicData uri="http://schemas.openxmlformats.org/drawingml/2006/table">
            <a:tbl>
              <a:tblPr/>
              <a:tblGrid>
                <a:gridCol w="3200400"/>
                <a:gridCol w="22860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Càrrega (VA)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Autonomia (minuts)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93D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 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160 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320 VA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480 VA (87% de la capacitat)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min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3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6400800" y="3840480"/>
            <a:ext cx="493776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6675120" y="406908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més càrrega hi connectis, menys autonomia tindràs.</a:t>
            </a:r>
            <a:endParaRPr lang="en-US" sz="1450" dirty="0"/>
          </a:p>
        </p:txBody>
      </p:sp>
      <p:sp>
        <p:nvSpPr>
          <p:cNvPr id="17" name="Text 14"/>
          <p:cNvSpPr txBox="1"/>
          <p:nvPr/>
        </p:nvSpPr>
        <p:spPr>
          <a:xfrm>
            <a:off x="6675120" y="4846320"/>
            <a:ext cx="43891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només 4 minuts, cal decidir si n'hi ha prou per aturar els equips de manera ordenada.</a:t>
            </a:r>
            <a:endParaRPr lang="en-US" sz="1250" dirty="0"/>
          </a:p>
        </p:txBody>
      </p:sp>
      <p:sp>
        <p:nvSpPr>
          <p:cNvPr id="18" name="Text 1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COMPTE AMB LES UNITATS!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Watts (W) ≠ Voltamperes (VA)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3E668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Potència real (W)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606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consumeix realment la càrrega. La que has de calcular sumant el consum dels teus equips.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126480" y="1920240"/>
            <a:ext cx="5120640" cy="1828800"/>
          </a:xfrm>
          <a:prstGeom prst="roundRect">
            <a:avLst>
              <a:gd name="adj" fmla="val 5000"/>
            </a:avLst>
          </a:prstGeom>
          <a:solidFill>
            <a:srgbClr val="F2A54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400800" y="21031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Potència aparent (VA)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400800" y="26060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2E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que subministra el SAI. Sempre és igual o més gran que la potència real.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548640" y="4023360"/>
            <a:ext cx="10607040" cy="1920240"/>
          </a:xfrm>
          <a:prstGeom prst="roundRect">
            <a:avLst>
              <a:gd name="adj" fmla="val 5714"/>
            </a:avLst>
          </a:prstGeom>
          <a:solidFill>
            <a:srgbClr val="D64545"/>
          </a:solidFill>
          <a:ln/>
        </p:spPr>
      </p:sp>
      <p:sp>
        <p:nvSpPr>
          <p:cNvPr id="11" name="Shape 9"/>
          <p:cNvSpPr/>
          <p:nvPr/>
        </p:nvSpPr>
        <p:spPr>
          <a:xfrm>
            <a:off x="960120" y="4389120"/>
            <a:ext cx="1188720" cy="1188720"/>
          </a:xfrm>
          <a:prstGeom prst="ellipse">
            <a:avLst/>
          </a:prstGeom>
          <a:solidFill>
            <a:srgbClr val="0B1B29"/>
          </a:solidFill>
          <a:ln/>
        </p:spPr>
      </p:sp>
      <p:pic>
        <p:nvPicPr>
          <p:cNvPr id="12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4686300"/>
            <a:ext cx="594360" cy="594360"/>
          </a:xfrm>
          <a:prstGeom prst="rect">
            <a:avLst/>
          </a:prstGeom>
        </p:spPr>
      </p:pic>
      <p:sp>
        <p:nvSpPr>
          <p:cNvPr id="13" name="Text 10"/>
          <p:cNvSpPr txBox="1"/>
          <p:nvPr/>
        </p:nvSpPr>
        <p:spPr>
          <a:xfrm>
            <a:off x="2468880" y="42519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FE1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 habitual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2468880" y="4617720"/>
            <a:ext cx="8412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SAI de 300 W / 500 VA NO serveix per a una càrrega de 400 W, encara que “400 no arribi a 500”. Cal comparar W amb W, mai W amb VA.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L'HORA DE DECIDIR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Escollir i ubicar el SAI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828800" y="214884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we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4540" y="2354580"/>
            <a:ext cx="411480" cy="41148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3152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Quina càrrega haurà de suportar?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77724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Suma la potència real (W) de tots els equips a protegir.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25196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5532120" y="214884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1" name="Image 1" descr="/home/claude/pptx_build/icons/cloc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37860" y="2354580"/>
            <a:ext cx="411480" cy="411480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443484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 autonomia vols?</a:t>
            </a:r>
            <a:endParaRPr lang="en-US" sz="1300" dirty="0"/>
          </a:p>
        </p:txBody>
      </p:sp>
      <p:sp>
        <p:nvSpPr>
          <p:cNvPr id="13" name="Text 9"/>
          <p:cNvSpPr txBox="1"/>
          <p:nvPr/>
        </p:nvSpPr>
        <p:spPr>
          <a:xfrm>
            <a:off x="448056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Pocs minuts per aturar equips, o hores per a un servidor crític.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7955280" y="1920240"/>
            <a:ext cx="3383280" cy="2286000"/>
          </a:xfrm>
          <a:prstGeom prst="roundRect">
            <a:avLst>
              <a:gd name="adj" fmla="val 48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235440" y="2148840"/>
            <a:ext cx="822960" cy="82296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6" name="Image 2" descr="/home/claude/pptx_build/icons/map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1180" y="2354580"/>
            <a:ext cx="411480" cy="41148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8138160" y="3063240"/>
            <a:ext cx="30175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quin espai disposes?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8183880" y="361188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 lloc a prop dels equips i bona ventilació.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548640" y="4526280"/>
            <a:ext cx="10607040" cy="1371600"/>
          </a:xfrm>
          <a:prstGeom prst="roundRect">
            <a:avLst>
              <a:gd name="adj" fmla="val 8000"/>
            </a:avLst>
          </a:prstGeom>
          <a:solidFill>
            <a:srgbClr val="13293D"/>
          </a:solidFill>
          <a:ln/>
        </p:spPr>
      </p:sp>
      <p:sp>
        <p:nvSpPr>
          <p:cNvPr id="20" name="Shape 15"/>
          <p:cNvSpPr/>
          <p:nvPr/>
        </p:nvSpPr>
        <p:spPr>
          <a:xfrm>
            <a:off x="1005840" y="47548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21" name="Image 3" descr="/home/claude/pptx_build/icons/thermometer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34440" y="4983480"/>
            <a:ext cx="457200" cy="45720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2194560" y="4663440"/>
            <a:ext cx="8595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E4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Alguns SAI generen molta calor. Si la sala no està ben climatitzada, poden malmetre el propi maquinari que haurien de protegir. I recorda: cables sempre ben recollits, mai enmig del pas.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29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94360" y="201168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5" name="Image 0" descr="/home/claude/pptx_build/icons/war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2240280"/>
            <a:ext cx="457200" cy="4572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69164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problemes elèctrics: apagades, sobretensions, baixades de tensió i variació de freqüència.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6172200" y="201168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8" name="Image 1" descr="/home/claude/pptx_build/icons/batter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240280"/>
            <a:ext cx="457200" cy="4572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7269480" y="196596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SAI combina bateria + protecció elèctrica per als equips connectats.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94360" y="4114800"/>
            <a:ext cx="914400" cy="914400"/>
          </a:xfrm>
          <a:prstGeom prst="ellipse">
            <a:avLst/>
          </a:prstGeom>
          <a:solidFill>
            <a:srgbClr val="F2A541"/>
          </a:solidFill>
          <a:ln/>
        </p:spPr>
      </p:sp>
      <p:pic>
        <p:nvPicPr>
          <p:cNvPr id="11" name="Image 2" descr="/home/claude/pptx_build/icons/exch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4343400"/>
            <a:ext cx="457200" cy="457200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69164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tipus de SAI: standby, interactiu de línia i online (sense temps de transferència).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6172200" y="4114800"/>
            <a:ext cx="914400" cy="91440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14" name="Image 3" descr="/home/claude/pptx_build/icons/gau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0800" y="4343400"/>
            <a:ext cx="457200" cy="457200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7269480" y="4069080"/>
            <a:ext cx="38404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Escollir un SAI: calcula la càrrega en watts (W), mai en VA, i pensa l'autonomia que necessites.</a:t>
            </a:r>
            <a:endParaRPr lang="en-US" sz="1350" dirty="0"/>
          </a:p>
        </p:txBody>
      </p:sp>
      <p:sp>
        <p:nvSpPr>
          <p:cNvPr id="16" name="Text 10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2A54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0" y="-1828800"/>
            <a:ext cx="5486400" cy="5486400"/>
          </a:xfrm>
          <a:prstGeom prst="ellipse">
            <a:avLst/>
          </a:prstGeom>
          <a:solidFill>
            <a:srgbClr val="FFFFFF">
              <a:alpha val="2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" y="2651760"/>
            <a:ext cx="1554480" cy="1554480"/>
          </a:xfrm>
          <a:prstGeom prst="ellipse">
            <a:avLst/>
          </a:prstGeom>
          <a:solidFill>
            <a:srgbClr val="13293D"/>
          </a:solidFill>
          <a:ln/>
        </p:spPr>
      </p:sp>
      <p:pic>
        <p:nvPicPr>
          <p:cNvPr id="4" name="Image 0" descr="/home/claude/pptx_build/icons/ques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1318" y="3001518"/>
            <a:ext cx="854964" cy="85496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291840" y="182880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3246120" y="2240280"/>
            <a:ext cx="85039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0B1B2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Heu d'escollir un SAI per a un petit despatx amb 3 ordinadors i 1 servidor.</a:t>
            </a:r>
            <a:endParaRPr lang="en-US" sz="2500" dirty="0"/>
          </a:p>
        </p:txBody>
      </p:sp>
      <p:sp>
        <p:nvSpPr>
          <p:cNvPr id="7" name="Text 4"/>
          <p:cNvSpPr txBox="1"/>
          <p:nvPr/>
        </p:nvSpPr>
        <p:spPr>
          <a:xfrm>
            <a:off x="3291840" y="365760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0B1B2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quin tipus de SAI (standby, interactiu o online) triaríeu, quina autonomia demanaríeu i com calcularíeu la càrrega necessària (en W).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3291840" y="4937760"/>
            <a:ext cx="8138160" cy="1051560"/>
          </a:xfrm>
          <a:prstGeom prst="roundRect">
            <a:avLst>
              <a:gd name="adj" fmla="val 8696"/>
            </a:avLst>
          </a:prstGeom>
          <a:solidFill>
            <a:srgbClr val="13293D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3566160" y="4937760"/>
            <a:ext cx="768096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5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8580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0789920" cy="1737360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5400000">
              <a:srgbClr val="1B2A38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1540" y="2491740"/>
            <a:ext cx="960120" cy="960120"/>
          </a:xfrm>
          <a:prstGeom prst="ellipse">
            <a:avLst/>
          </a:prstGeom>
          <a:solidFill>
            <a:srgbClr val="3E6680"/>
          </a:solidFill>
          <a:ln/>
        </p:spPr>
      </p:sp>
      <p:pic>
        <p:nvPicPr>
          <p:cNvPr id="6" name="Image 0" descr="/home/claude/pptx_build/icons/glob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31570" y="2731770"/>
            <a:ext cx="480060" cy="48006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2194560" y="2331720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d'alimentació ininterrompuda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2194560" y="2788920"/>
            <a:ext cx="8778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Obert de Catalunya (IOC) · Material del mòdul “Seguretat informàtica” (M06), Unitat 1, apartat 2</a:t>
            </a:r>
            <a:endParaRPr lang="en-US" sz="1250" dirty="0"/>
          </a:p>
        </p:txBody>
      </p:sp>
      <p:sp>
        <p:nvSpPr>
          <p:cNvPr id="9" name="Text 6">
            <a:hlinkClick r:id="rId2" tooltip=""/>
          </p:cNvPr>
          <p:cNvSpPr txBox="1"/>
          <p:nvPr/>
        </p:nvSpPr>
        <p:spPr>
          <a:xfrm>
            <a:off x="2194560" y="3200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u="sng" dirty="0">
                <a:solidFill>
                  <a:srgbClr val="3E668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https://ioc.xtec.cat/materials/FP/Recursos/fp_smx_m06_/web/fp_smx_m06_htmlindex/WebContent/u1/a2/continguts.html</a:t>
            </a:r>
            <a:endParaRPr lang="en-US" sz="115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58521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Creative Commons BY-NC-SA · Institut Obert de Catalunya, 2011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2026-09-03T17:17:40Z</dcterms:created>
  <dcterms:modified xsi:type="dcterms:W3CDTF">2026-09-03T17:17:40Z</dcterms:modified>
</cp:coreProperties>
</file>