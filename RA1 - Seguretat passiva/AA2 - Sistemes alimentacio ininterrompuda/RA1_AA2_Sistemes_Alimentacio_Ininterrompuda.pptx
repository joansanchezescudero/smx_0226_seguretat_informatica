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6" r:id="rId27"/>
    <p:sldId id="265" r:id="rId11"/>
    <p:sldId id="277" r:id="rId28"/>
    <p:sldId id="266" r:id="rId12"/>
    <p:sldId id="267" r:id="rId13"/>
    <p:sldId id="268" r:id="rId14"/>
    <p:sldId id="269" r:id="rId15"/>
    <p:sldId id="278" r:id="rId29"/>
    <p:sldId id="270" r:id="rId16"/>
    <p:sldId id="271" r:id="rId17"/>
    <p:sldId id="279" r:id="rId30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1.xml"/><Relationship Id="rId12" Type="http://schemas.openxmlformats.org/officeDocument/2006/relationships/slide" Target="slides/slide13.xml"/><Relationship Id="rId13" Type="http://schemas.openxmlformats.org/officeDocument/2006/relationships/slide" Target="slides/slide14.xml"/><Relationship Id="rId14" Type="http://schemas.openxmlformats.org/officeDocument/2006/relationships/slide" Target="slides/slide15.xml"/><Relationship Id="rId15" Type="http://schemas.openxmlformats.org/officeDocument/2006/relationships/slide" Target="slides/slide16.xml"/><Relationship Id="rId16" Type="http://schemas.openxmlformats.org/officeDocument/2006/relationships/slide" Target="slides/slide18.xml"/><Relationship Id="rId17" Type="http://schemas.openxmlformats.org/officeDocument/2006/relationships/slide" Target="slides/slide19.xml"/><Relationship Id="rId18" Type="http://schemas.openxmlformats.org/officeDocument/2006/relationships/slide" Target="slides/slide21.xml"/><Relationship Id="rId19" Type="http://schemas.openxmlformats.org/officeDocument/2006/relationships/slide" Target="slides/slide22.xml"/><Relationship Id="rId20" Type="http://schemas.openxmlformats.org/officeDocument/2006/relationships/slide" Target="slides/slide23.xml"/><Relationship Id="rId21" Type="http://schemas.openxmlformats.org/officeDocument/2006/relationships/slide" Target="slides/slide24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10.xml"/><Relationship Id="rId28" Type="http://schemas.openxmlformats.org/officeDocument/2006/relationships/slide" Target="slides/slide12.xml"/><Relationship Id="rId29" Type="http://schemas.openxmlformats.org/officeDocument/2006/relationships/slide" Target="slides/slide17.xml"/><Relationship Id="rId30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hyperlink" Target="https://ioc.xtec.cat/materials/FP/Recursos/fp_smx_m06_/web/fp_smx_m06_htmlindex/WebContent/u1/a2/continguts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645920"/>
            <a:ext cx="4572000" cy="457200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3E6680">
              <a:alpha val="30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31520" y="2377440"/>
            <a:ext cx="1371600" cy="137160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pic>
        <p:nvPicPr>
          <p:cNvPr id="5" name="Image 0" descr="/home/claude/pptx_build/icons/bo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2686050"/>
            <a:ext cx="754380" cy="7543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468880" y="19659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MÒDUL 06 · SEGURETAT INFORMÀTICA — RA1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2423160" y="2331720"/>
            <a:ext cx="9326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Sistemes d'alimentació ininterrompuda</a:t>
            </a:r>
            <a:endParaRPr lang="en-US" sz="4200" dirty="0"/>
          </a:p>
        </p:txBody>
      </p:sp>
      <p:sp>
        <p:nvSpPr>
          <p:cNvPr id="8" name="Text 5"/>
          <p:cNvSpPr txBox="1"/>
          <p:nvPr/>
        </p:nvSpPr>
        <p:spPr>
          <a:xfrm>
            <a:off x="2468880" y="36576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un tall de llum no aturi mai la feina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2468880" y="4297680"/>
            <a:ext cx="292608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246888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CFGM Sistemes Microinformàtics i Xarxes · 2n curs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2468880" y="4892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 Puig Castellar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2468880" y="5166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Joan Sánchez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AQUESTA SESSIÓ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Què aprendrem avui?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38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760220" y="2308860"/>
            <a:ext cx="960120" cy="960120"/>
          </a:xfrm>
          <a:prstGeom prst="ellipse">
            <a:avLst/>
          </a:prstGeom>
          <a:solidFill>
            <a:srgbClr val="3E6680"/>
          </a:solidFill>
          <a:ln/>
        </p:spPr>
        <p:txBody>
          <a:bodyPr/>
          <a:p/>
        </p:txBody>
      </p:sp>
      <p:pic>
        <p:nvPicPr>
          <p:cNvPr id="6" name="Image 0" descr="/home/claude/pptx_build/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0250" y="2548890"/>
            <a:ext cx="480060" cy="4800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34290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Problemes elèctrics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40690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Apagades, sobretensions, baixades de tensió i variacions de freqüència: què són i per què fan mal.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51960" y="201168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38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5463540" y="2308860"/>
            <a:ext cx="960120" cy="960120"/>
          </a:xfrm>
          <a:prstGeom prst="ellipse">
            <a:avLst/>
          </a:prstGeom>
          <a:solidFill>
            <a:srgbClr val="3E6680"/>
          </a:solidFill>
          <a:ln/>
        </p:spPr>
        <p:txBody>
          <a:bodyPr/>
          <a:p/>
        </p:txBody>
      </p:sp>
      <p:pic>
        <p:nvPicPr>
          <p:cNvPr id="11" name="Image 1" descr="/home/claude/pptx_build/icons/batte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3570" y="2548890"/>
            <a:ext cx="480060" cy="4800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80560" y="34290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funciona un SAI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40690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Parts, indicadors d'estat i els tres tipus principals: standby, interactiu de línia i online.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955280" y="201168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38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9166860" y="2308860"/>
            <a:ext cx="960120" cy="960120"/>
          </a:xfrm>
          <a:prstGeom prst="ellipse">
            <a:avLst/>
          </a:prstGeom>
          <a:solidFill>
            <a:srgbClr val="3E6680"/>
          </a:solidFill>
          <a:ln/>
        </p:spPr>
        <p:txBody>
          <a:bodyPr/>
          <a:p/>
        </p:txBody>
      </p:sp>
      <p:pic>
        <p:nvPicPr>
          <p:cNvPr id="16" name="Image 2" descr="/home/claude/pptx_build/icons/gau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6890" y="2548890"/>
            <a:ext cx="480060" cy="4800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183880" y="34290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Escollir el SAI adequat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275320" y="40690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Càrrega, autonomia i capacitat: com calcular quin SAI necessita cada equip.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COMENÇAR, UNA ANALOGIA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els pneumàtics d'un cotxe...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120640" cy="4206240"/>
          </a:xfrm>
          <a:prstGeom prst="roundRect">
            <a:avLst>
              <a:gd name="adj" fmla="val 2609"/>
            </a:avLst>
          </a:prstGeom>
          <a:solidFill>
            <a:srgbClr val="0B1B29"/>
          </a:solidFill>
          <a:ln w="12700">
            <a:solidFill>
              <a:srgbClr val="3E668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560320" y="2286000"/>
            <a:ext cx="1097280" cy="1097280"/>
          </a:xfrm>
          <a:prstGeom prst="ellipse">
            <a:avLst/>
          </a:prstGeom>
          <a:solidFill>
            <a:srgbClr val="3E6680"/>
          </a:solidFill>
          <a:ln/>
        </p:spPr>
        <p:txBody>
          <a:bodyPr/>
          <a:p/>
        </p:txBody>
      </p:sp>
      <p:pic>
        <p:nvPicPr>
          <p:cNvPr id="6" name="Image 0" descr="/home/claude/pptx_build/icons/c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4640" y="25603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3520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PNEUMÀTICS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931920"/>
            <a:ext cx="4480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cotxe necessita un model i una pressió concrets. Massa poca pressió: perill. Massa pes: cal pujar-la, però mai per sobre del límit.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92240" y="1920240"/>
            <a:ext cx="5120640" cy="4206240"/>
          </a:xfrm>
          <a:prstGeom prst="roundRect">
            <a:avLst>
              <a:gd name="adj" fmla="val 2609"/>
            </a:avLst>
          </a:prstGeom>
          <a:solidFill>
            <a:srgbClr val="3E6680"/>
          </a:solidFill>
          <a:ln/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8503920" y="2286000"/>
            <a:ext cx="1097280" cy="109728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pic>
        <p:nvPicPr>
          <p:cNvPr id="11" name="Image 1" descr="/home/claude/pptx_build/icons/batte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256032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766560" y="3520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6812280" y="3931920"/>
            <a:ext cx="4480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equip necessita un SAI adequat. Un SAI domèstic no serveix per a un centre de dades, i mai s'hi ha de connectar més càrrega de la que suporta.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5760720" y="3703320"/>
            <a:ext cx="640080" cy="64008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pic>
        <p:nvPicPr>
          <p:cNvPr id="15" name="Image 2" descr="/home/claude/pptx_build/icons/arrowr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4738" y="3847338"/>
            <a:ext cx="352044" cy="3520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tall de llum no avisa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43000" y="2697480"/>
            <a:ext cx="1737360" cy="1737360"/>
          </a:xfrm>
          <a:prstGeom prst="ellipse">
            <a:avLst/>
          </a:prstGeom>
          <a:solidFill>
            <a:srgbClr val="D64545"/>
          </a:solidFill>
          <a:ln/>
        </p:spPr>
        <p:txBody>
          <a:bodyPr/>
          <a:p/>
        </p:txBody>
      </p:sp>
      <p:pic>
        <p:nvPicPr>
          <p:cNvPr id="5" name="Image 0" descr="/home/claude/pptx_build/icons/plu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7340" y="3131820"/>
            <a:ext cx="868680" cy="8686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931920" y="2194560"/>
            <a:ext cx="7223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pèrdua sobtada de corrent atura l'ordinador a l'instant.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 malmetre el maquinari.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 provocar pèrdua de dades vitals que encara no s'havien desat.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931920" y="4297680"/>
            <a:ext cx="7223760" cy="1737360"/>
          </a:xfrm>
          <a:prstGeom prst="roundRect">
            <a:avLst>
              <a:gd name="adj" fmla="val 6316"/>
            </a:avLst>
          </a:prstGeom>
          <a:solidFill>
            <a:srgbClr val="13293D"/>
          </a:solidFill>
          <a:ln/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4251960" y="4297680"/>
            <a:ext cx="6583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SAI (UPS en anglès) garanteix alimentació contínua i de bona qualitat, encara que hi hagi talls de llum.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PROBLEMES ELÈCTRICS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Quatre maneres de fer malbé un equip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1206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91540" y="2354580"/>
            <a:ext cx="868680" cy="868680"/>
          </a:xfrm>
          <a:prstGeom prst="ellipse">
            <a:avLst/>
          </a:prstGeom>
          <a:solidFill>
            <a:srgbClr val="D64545"/>
          </a:solidFill>
          <a:ln/>
        </p:spPr>
        <p:txBody>
          <a:bodyPr/>
          <a:p/>
        </p:txBody>
      </p:sp>
      <p:pic>
        <p:nvPicPr>
          <p:cNvPr id="6" name="Image 0" descr="/home/claude/pptx_build/icons/plu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710" y="2571750"/>
            <a:ext cx="434340" cy="4343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20240" y="2194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Apagades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920240" y="26517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 total del subministrament elèctric.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26480" y="1874520"/>
            <a:ext cx="51206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469380" y="2354580"/>
            <a:ext cx="868680" cy="86868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pic>
        <p:nvPicPr>
          <p:cNvPr id="11" name="Image 1" descr="/home/claude/pptx_build/icons/w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550" y="2571750"/>
            <a:ext cx="434340" cy="4343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98080" y="2194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Sobretensions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7498080" y="26517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voltatge puja per sobre del que hauria de ser.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1206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91540" y="4457700"/>
            <a:ext cx="868680" cy="868680"/>
          </a:xfrm>
          <a:prstGeom prst="ellipse">
            <a:avLst/>
          </a:prstGeom>
          <a:solidFill>
            <a:srgbClr val="3E6680"/>
          </a:solidFill>
          <a:ln/>
        </p:spPr>
        <p:txBody>
          <a:bodyPr/>
          <a:p/>
        </p:txBody>
      </p:sp>
      <p:pic>
        <p:nvPicPr>
          <p:cNvPr id="16" name="Image 2" descr="/home/claude/pptx_build/icons/batteryhal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710" y="4674870"/>
            <a:ext cx="434340" cy="4343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920240" y="4297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Baixades de tensió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1920240" y="47548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voltatge baixa per sota del que hauria de ser.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126480" y="3977640"/>
            <a:ext cx="51206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6469380" y="4457700"/>
            <a:ext cx="868680" cy="86868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pic>
        <p:nvPicPr>
          <p:cNvPr id="21" name="Image 3" descr="/home/claude/pptx_build/icons/win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6550" y="4674870"/>
            <a:ext cx="434340" cy="43434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98080" y="4297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Variació de freqüència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498080" y="47548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senyal ja no va als 50 Hz habituals a Europa.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SOBRETENSIONS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 rebre “més” no és bo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dispositiu electrònic està dissenyat per rebre un voltatge màxim concret. Superar-lo el pot fer malbé a l'instant.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3383280" cy="2377440"/>
          </a:xfrm>
          <a:prstGeom prst="roundRect">
            <a:avLst>
              <a:gd name="adj" fmla="val 4615"/>
            </a:avLst>
          </a:prstGeom>
          <a:solidFill>
            <a:srgbClr val="3E6680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31520" y="26517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1,35 V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56616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tensió normal de funcionament d'un LED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51960" y="2377440"/>
            <a:ext cx="3383280" cy="2377440"/>
          </a:xfrm>
          <a:prstGeom prst="roundRect">
            <a:avLst>
              <a:gd name="adj" fmla="val 4615"/>
            </a:avLst>
          </a:prstGeom>
          <a:solidFill>
            <a:srgbClr val="3E6680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4434840" y="26517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 V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356616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tensió màxima que suporta abans de fer-se malbé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955280" y="2377440"/>
            <a:ext cx="3383280" cy="2377440"/>
          </a:xfrm>
          <a:prstGeom prst="roundRect">
            <a:avLst>
              <a:gd name="adj" fmla="val 4615"/>
            </a:avLst>
          </a:prstGeom>
          <a:solidFill>
            <a:srgbClr val="D64545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8138160" y="26517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V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356616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connectem a 2 piles d'1,5V... es fon a l'instant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120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 aparells elèctrics funcionen amb la mateixa lògica: una sobretensió pot cremar-los a l'instant.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SOBRETENSIONS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D'on venen i com ens protegim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12064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37260" y="2217420"/>
            <a:ext cx="960120" cy="960120"/>
          </a:xfrm>
          <a:prstGeom prst="ellipse">
            <a:avLst/>
          </a:prstGeom>
          <a:solidFill>
            <a:srgbClr val="D64545"/>
          </a:solidFill>
          <a:ln/>
        </p:spPr>
        <p:txBody>
          <a:bodyPr/>
          <a:p/>
        </p:txBody>
      </p:sp>
      <p:pic>
        <p:nvPicPr>
          <p:cNvPr id="6" name="Image 0" descr="/home/claude/pptx_build/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7290" y="2457450"/>
            <a:ext cx="480060" cy="4800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057400" y="242316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Causes habituals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52044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Apagades i talls de llum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Llamps (les més perilloses)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Curtcircuits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Grans motors o aires condicionats que alteren la línia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126480" y="1920240"/>
            <a:ext cx="512064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515100" y="2217420"/>
            <a:ext cx="960120" cy="96012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pic>
        <p:nvPicPr>
          <p:cNvPr id="11" name="Image 1" descr="/home/claude/pptx_build/icons/plu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5130" y="2457450"/>
            <a:ext cx="480060" cy="4800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183880" y="224028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Descarregador de sobretensió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6995160" y="352044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 bàsica i econòmica per a PC, monitors i impressores.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tots els endolls múltiples en porten: cal comprovar-ho.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Davant d'una tempesta, el més segur és desendollar l'equip.</a:t>
            </a:r>
            <a:endParaRPr lang="en-US" sz="1300" dirty="0"/>
          </a:p>
          <a:p>
            <a:pPr>
              <a:spcBef>
                <a:spcPts val="800"/>
              </a:spcBef>
            </a:pPr>
            <a:r>
              <a:rPr sz="1200" i="1">
                <a:solidFill>
                  <a:srgbClr val="5B6B77"/>
                </a:solidFill>
              </a:rPr>
              <a:t>Els llamps poden provocar sobretensions tan altes que el propi descarregador no les pugui filtrar: per això cal desendollar l'equip, no només confiar-hi.</a:t>
            </a:r>
          </a:p>
        </p:txBody>
      </p:sp>
      <p:sp>
        <p:nvSpPr>
          <p:cNvPr id="14" name="Text 10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BAIXADES DE TENSIÓ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 el voltatge cau momentàniament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43000" y="2697480"/>
            <a:ext cx="1737360" cy="1737360"/>
          </a:xfrm>
          <a:prstGeom prst="ellipse">
            <a:avLst/>
          </a:prstGeom>
          <a:solidFill>
            <a:srgbClr val="3E6680"/>
          </a:solidFill>
          <a:ln/>
        </p:spPr>
        <p:txBody>
          <a:bodyPr/>
          <a:p/>
        </p:txBody>
      </p:sp>
      <p:pic>
        <p:nvPicPr>
          <p:cNvPr id="5" name="Image 0" descr="/home/claude/pptx_build/icons/batteryhal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7340" y="3131820"/>
            <a:ext cx="868680" cy="8686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931920" y="2103120"/>
            <a:ext cx="7223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Menys serioses que les sobretensions: la majoria d'equips toleren fluctuacions grans.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motor gran que arrenca consumeix molt corrent de cop i “roba” tensió a la resta de la línia.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931920" y="3840480"/>
            <a:ext cx="7223760" cy="2103120"/>
          </a:xfrm>
          <a:prstGeom prst="roundRect">
            <a:avLst>
              <a:gd name="adj" fmla="val 5217"/>
            </a:avLst>
          </a:prstGeom>
          <a:solidFill>
            <a:srgbClr val="13293D"/>
          </a:solidFill>
          <a:ln/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4251960" y="406908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Regulador de voltatge (VRM)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251960" y="452628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electrònic que manté el nivell de voltatge d'una línia elèctrica, eliminant tant sobretensions com baixades de tensió. Un VRM és un regulador contingut en una unitat reemplaçable.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SAI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Bateria + protecció, en un sol aparell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383280" cy="3200400"/>
          </a:xfrm>
          <a:prstGeom prst="roundRect">
            <a:avLst>
              <a:gd name="adj" fmla="val 3429"/>
            </a:avLst>
          </a:prstGeom>
          <a:solidFill>
            <a:srgbClr val="0B1B29"/>
          </a:solidFill>
          <a:ln w="12700">
            <a:solidFill>
              <a:srgbClr val="3E668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737360" y="2423160"/>
            <a:ext cx="1005840" cy="100584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pic>
        <p:nvPicPr>
          <p:cNvPr id="6" name="Image 0" descr="/home/claude/pptx_build/icons/batte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8820" y="26746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3611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Bateria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02336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Subministra electricitat als equips connectats quan falla la línia principal.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51960" y="2103120"/>
            <a:ext cx="3383280" cy="3200400"/>
          </a:xfrm>
          <a:prstGeom prst="roundRect">
            <a:avLst>
              <a:gd name="adj" fmla="val 3429"/>
            </a:avLst>
          </a:prstGeom>
          <a:solidFill>
            <a:srgbClr val="0B1B29"/>
          </a:solidFill>
          <a:ln w="12700">
            <a:solidFill>
              <a:srgbClr val="3E668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5440680" y="2423160"/>
            <a:ext cx="1005840" cy="100584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pic>
        <p:nvPicPr>
          <p:cNvPr id="11" name="Image 1" descr="/home/claude/pptx_build/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2140" y="267462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34840" y="3611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526280" y="402336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 sobretensions, baixades de tensió i soroll de línia abans que arribin a l'equip.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955280" y="2103120"/>
            <a:ext cx="3383280" cy="3200400"/>
          </a:xfrm>
          <a:prstGeom prst="roundRect">
            <a:avLst>
              <a:gd name="adj" fmla="val 3429"/>
            </a:avLst>
          </a:prstGeom>
          <a:solidFill>
            <a:srgbClr val="0B1B29"/>
          </a:solidFill>
          <a:ln w="12700">
            <a:solidFill>
              <a:srgbClr val="3E6680"/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9144000" y="2423160"/>
            <a:ext cx="1005840" cy="100584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pic>
        <p:nvPicPr>
          <p:cNvPr id="16" name="Image 2" descr="/home/claude/pptx_build/icons/c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5460" y="267462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138160" y="3611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Autonomia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229600" y="402336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pocs minuts a diverses hores, segons el model: temps per aturar tot de manera ordenada.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5577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cal encara més temps, el SAI pot donar marge fins que arrenqui un grup electrogen.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2A541"/>
                </a:solidFill>
                <a:latin typeface="Calibri"/>
              </a:rPr>
              <a:t>UN EXEMPLE REAL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42E"/>
                </a:solidFill>
                <a:latin typeface="Cambria"/>
              </a:rPr>
              <a:t>SAI de la companyia APC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B6B77"/>
                </a:solidFill>
                <a:latin typeface="Calibri"/>
              </a:rPr>
              <a:t>Part davantera: el panell frontal mostra l'estat i els indicadors de línia/bateria.</a:t>
            </a:r>
          </a:p>
        </p:txBody>
      </p:sp>
      <p:pic>
        <p:nvPicPr>
          <p:cNvPr id="5" name="Picture 4" descr="foto_sai_apc_dav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9927" y="1920240"/>
            <a:ext cx="3291840" cy="35888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64624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B6B77"/>
                </a:solidFill>
                <a:latin typeface="Calibri"/>
              </a:rPr>
              <a:t>SAI de la companyia APC (part davantera).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B77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DINS D'UN SAI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6 parts principals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943100" y="2029968"/>
            <a:ext cx="731520" cy="731520"/>
          </a:xfrm>
          <a:prstGeom prst="ellipse">
            <a:avLst/>
          </a:prstGeom>
          <a:solidFill>
            <a:srgbClr val="3E6680"/>
          </a:solidFill>
          <a:ln/>
        </p:spPr>
        <p:txBody>
          <a:bodyPr/>
          <a:p/>
        </p:txBody>
      </p:sp>
      <p:pic>
        <p:nvPicPr>
          <p:cNvPr id="6" name="Image 0" descr="/home/claude/pptx_build/icons/exch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5980" y="2212848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85292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Circuits d'inversió/conversió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2461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Transformen corrent altern ↔ continu.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06240" y="182880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5600700" y="2029968"/>
            <a:ext cx="731520" cy="73152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pic>
        <p:nvPicPr>
          <p:cNvPr id="11" name="Image 1" descr="/home/claude/pptx_build/icons/batte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3580" y="2212848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389120" y="285292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Bateria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4389120" y="32461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 mida i autonomia del SAI.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863840" y="182880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9258300" y="2029968"/>
            <a:ext cx="731520" cy="731520"/>
          </a:xfrm>
          <a:prstGeom prst="ellipse">
            <a:avLst/>
          </a:prstGeom>
          <a:solidFill>
            <a:srgbClr val="3E6680"/>
          </a:solidFill>
          <a:ln/>
        </p:spPr>
        <p:txBody>
          <a:bodyPr/>
          <a:p/>
        </p:txBody>
      </p:sp>
      <p:pic>
        <p:nvPicPr>
          <p:cNvPr id="16" name="Image 2" descr="/home/claude/pptx_build/icons/plu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1180" y="2212848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046720" y="285292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Interruptor principal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8046720" y="32461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 o desactiva la sortida elèctrica.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97764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1943100" y="4178808"/>
            <a:ext cx="731520" cy="73152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pic>
        <p:nvPicPr>
          <p:cNvPr id="21" name="Image 3" descr="/home/claude/pptx_build/icons/chargingstat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5980" y="4361688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1520" y="500176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Connectors de sortida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731520" y="53949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es connecten els equips a protegir.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206240" y="397764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5" name="Shape 19"/>
          <p:cNvSpPr/>
          <p:nvPr/>
        </p:nvSpPr>
        <p:spPr>
          <a:xfrm>
            <a:off x="5600700" y="4178808"/>
            <a:ext cx="731520" cy="731520"/>
          </a:xfrm>
          <a:prstGeom prst="ellipse">
            <a:avLst/>
          </a:prstGeom>
          <a:solidFill>
            <a:srgbClr val="3E6680"/>
          </a:solidFill>
          <a:ln/>
        </p:spPr>
        <p:txBody>
          <a:bodyPr/>
          <a:p/>
        </p:txBody>
      </p:sp>
      <p:pic>
        <p:nvPicPr>
          <p:cNvPr id="26" name="Image 4" descr="/home/claude/pptx_build/icons/bel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3580" y="4361688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389120" y="500176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Indicadors d'estat</a:t>
            </a:r>
            <a:endParaRPr lang="en-US" sz="1250" dirty="0"/>
          </a:p>
        </p:txBody>
      </p:sp>
      <p:sp>
        <p:nvSpPr>
          <p:cNvPr id="28" name="Text 21"/>
          <p:cNvSpPr txBox="1"/>
          <p:nvPr/>
        </p:nvSpPr>
        <p:spPr>
          <a:xfrm>
            <a:off x="4389120" y="53949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i alarmes sonores.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7863840" y="397764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0" name="Shape 23"/>
          <p:cNvSpPr/>
          <p:nvPr/>
        </p:nvSpPr>
        <p:spPr>
          <a:xfrm>
            <a:off x="9258300" y="4178808"/>
            <a:ext cx="731520" cy="73152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pic>
        <p:nvPicPr>
          <p:cNvPr id="31" name="Image 5" descr="/home/claude/pptx_build/icons/deskto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1180" y="4361688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046720" y="500176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Programari de control</a:t>
            </a:r>
            <a:endParaRPr lang="en-US" sz="1250" dirty="0"/>
          </a:p>
        </p:txBody>
      </p:sp>
      <p:sp>
        <p:nvSpPr>
          <p:cNvPr id="33" name="Text 25"/>
          <p:cNvSpPr txBox="1"/>
          <p:nvPr/>
        </p:nvSpPr>
        <p:spPr>
          <a:xfrm>
            <a:off x="8046720" y="53949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Monitoratge des de l'ordinador.</a:t>
            </a:r>
            <a:endParaRPr lang="en-US" sz="1050" dirty="0"/>
          </a:p>
        </p:txBody>
      </p:sp>
      <p:sp>
        <p:nvSpPr>
          <p:cNvPr id="34" name="Text 26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2A541"/>
                </a:solidFill>
                <a:latin typeface="Calibri"/>
              </a:rPr>
              <a:t>UN EXEMPLE REAL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42E"/>
                </a:solidFill>
                <a:latin typeface="Cambria"/>
              </a:rPr>
              <a:t>SAI de la companyia APC (part posterior)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B6B77"/>
                </a:solidFill>
                <a:latin typeface="Calibri"/>
              </a:rPr>
              <a:t>S'hi veuen els connectors de sortida i l'interruptor principal.</a:t>
            </a:r>
          </a:p>
        </p:txBody>
      </p:sp>
      <p:pic>
        <p:nvPicPr>
          <p:cNvPr id="5" name="Picture 4" descr="foto_sai_apc_darre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558" y="1920240"/>
            <a:ext cx="2396578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B6B77"/>
                </a:solidFill>
                <a:latin typeface="Calibri"/>
              </a:rPr>
              <a:t>SAI de la companyia APC (part posterior).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B77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D'UN SAI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Els indicadors ens parlen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1206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14400" y="2308860"/>
            <a:ext cx="822960" cy="822960"/>
          </a:xfrm>
          <a:prstGeom prst="ellipse">
            <a:avLst/>
          </a:prstGeom>
          <a:solidFill>
            <a:srgbClr val="3E6680"/>
          </a:solidFill>
          <a:ln/>
        </p:spPr>
        <p:txBody>
          <a:bodyPr/>
          <a:p/>
        </p:txBody>
      </p:sp>
      <p:pic>
        <p:nvPicPr>
          <p:cNvPr id="6" name="Image 0" descr="/home/claude/pptx_build/icons/bo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25146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74520" y="21031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línia (online)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1874520" y="2496312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amb corrent de la línia elèctrica normal.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26480" y="1874520"/>
            <a:ext cx="51206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492240" y="2308860"/>
            <a:ext cx="822960" cy="82296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pic>
        <p:nvPicPr>
          <p:cNvPr id="11" name="Image 1" descr="/home/claude/pptx_build/icons/batte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980" y="251460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52360" y="21031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bateria (on battery)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7452360" y="2496312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amb l'energia de la bateria.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840480"/>
            <a:ext cx="51206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914400" y="4274820"/>
            <a:ext cx="822960" cy="822960"/>
          </a:xfrm>
          <a:prstGeom prst="ellipse">
            <a:avLst/>
          </a:prstGeom>
          <a:solidFill>
            <a:srgbClr val="D64545"/>
          </a:solidFill>
          <a:ln/>
        </p:spPr>
        <p:txBody>
          <a:bodyPr/>
          <a:p/>
        </p:txBody>
      </p:sp>
      <p:pic>
        <p:nvPicPr>
          <p:cNvPr id="16" name="Image 2" descr="/home/claude/pptx_build/icons/warn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" y="448056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874520" y="40690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Sobrecàrrega (overload)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1874520" y="4462272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 ha més equips connectats dels que el SAI pot gestionar.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126480" y="3840480"/>
            <a:ext cx="51206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6492240" y="4274820"/>
            <a:ext cx="822960" cy="82296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pic>
        <p:nvPicPr>
          <p:cNvPr id="21" name="Image 3" descr="/home/claude/pptx_build/icons/batteryhal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7980" y="448056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52360" y="40690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Substituir bateria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7452360" y="4462272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bateria està en mal estat i cal canviar-la.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5623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Alguns SAI tenen també alarmes sonores, per si no esteu mirant els llums en aquell moment.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D'UN SAI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programari de monitoratge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93776" y="2377440"/>
            <a:ext cx="2057400" cy="2926080"/>
          </a:xfrm>
          <a:prstGeom prst="roundRect">
            <a:avLst>
              <a:gd name="adj" fmla="val 5333"/>
            </a:avLst>
          </a:prstGeom>
          <a:solidFill>
            <a:srgbClr val="3E6680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88136" y="2720340"/>
            <a:ext cx="868680" cy="86868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pic>
        <p:nvPicPr>
          <p:cNvPr id="6" name="Image 0" descr="/home/claude/pptx_build/icons/gau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5306" y="2937510"/>
            <a:ext cx="434340" cy="4343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30936" y="37947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30936" y="42519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4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Càrrega, condicions ambientals...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779776" y="2377440"/>
            <a:ext cx="2057400" cy="2926080"/>
          </a:xfrm>
          <a:prstGeom prst="roundRect">
            <a:avLst>
              <a:gd name="adj" fmla="val 5333"/>
            </a:avLst>
          </a:prstGeom>
          <a:solidFill>
            <a:srgbClr val="3E6680"/>
          </a:solidFill>
          <a:ln/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3374136" y="2720340"/>
            <a:ext cx="868680" cy="86868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pic>
        <p:nvPicPr>
          <p:cNvPr id="11" name="Image 1" descr="/home/claude/pptx_build/icons/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1306" y="2937510"/>
            <a:ext cx="434340" cy="4343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916936" y="37947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2916936" y="42519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4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d'esdeveniments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065776" y="2377440"/>
            <a:ext cx="2057400" cy="2926080"/>
          </a:xfrm>
          <a:prstGeom prst="roundRect">
            <a:avLst>
              <a:gd name="adj" fmla="val 5333"/>
            </a:avLst>
          </a:prstGeom>
          <a:solidFill>
            <a:srgbClr val="3E6680"/>
          </a:solidFill>
          <a:ln/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5660136" y="2720340"/>
            <a:ext cx="868680" cy="86868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pic>
        <p:nvPicPr>
          <p:cNvPr id="16" name="Image 2" descr="/home/claude/pptx_build/icons/check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7306" y="2937510"/>
            <a:ext cx="434340" cy="4343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202936" y="37947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Diagnòstic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5202936" y="42519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4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Comprovacions programades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351776" y="2377440"/>
            <a:ext cx="2057400" cy="2926080"/>
          </a:xfrm>
          <a:prstGeom prst="roundRect">
            <a:avLst>
              <a:gd name="adj" fmla="val 5333"/>
            </a:avLst>
          </a:prstGeom>
          <a:solidFill>
            <a:srgbClr val="3E6680"/>
          </a:solidFill>
          <a:ln/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7946136" y="2720340"/>
            <a:ext cx="868680" cy="86868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pic>
        <p:nvPicPr>
          <p:cNvPr id="21" name="Image 3" descr="/home/claude/pptx_build/icons/bel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3306" y="2937510"/>
            <a:ext cx="434340" cy="43434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88936" y="37947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Alarmes PC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7488936" y="42519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4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Notificacions a l'ordinador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9637776" y="2377440"/>
            <a:ext cx="2057400" cy="2926080"/>
          </a:xfrm>
          <a:prstGeom prst="roundRect">
            <a:avLst>
              <a:gd name="adj" fmla="val 5333"/>
            </a:avLst>
          </a:prstGeom>
          <a:solidFill>
            <a:srgbClr val="3E6680"/>
          </a:solidFill>
          <a:ln/>
        </p:spPr>
        <p:txBody>
          <a:bodyPr/>
          <a:p/>
        </p:txBody>
      </p:sp>
      <p:sp>
        <p:nvSpPr>
          <p:cNvPr id="25" name="Shape 19"/>
          <p:cNvSpPr/>
          <p:nvPr/>
        </p:nvSpPr>
        <p:spPr>
          <a:xfrm>
            <a:off x="10232136" y="2720340"/>
            <a:ext cx="868680" cy="86868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pic>
        <p:nvPicPr>
          <p:cNvPr id="26" name="Image 4" descr="/home/claude/pptx_build/icons/deskto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9306" y="2937510"/>
            <a:ext cx="434340" cy="43434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774936" y="37947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Apagada automàtica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9774936" y="42519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4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Tanca el sistema de forma segura</a:t>
            </a:r>
            <a:endParaRPr lang="en-US" sz="1050" dirty="0"/>
          </a:p>
        </p:txBody>
      </p:sp>
      <p:sp>
        <p:nvSpPr>
          <p:cNvPr id="29" name="Text 22"/>
          <p:cNvSpPr txBox="1"/>
          <p:nvPr/>
        </p:nvSpPr>
        <p:spPr>
          <a:xfrm>
            <a:off x="548640" y="5623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Connectant un cable (avui, normalment USB) del SAI a l'ordinador.</a:t>
            </a:r>
            <a:endParaRPr lang="en-US" sz="1300" dirty="0"/>
          </a:p>
        </p:txBody>
      </p:sp>
      <p:sp>
        <p:nvSpPr>
          <p:cNvPr id="30" name="Text 2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TIPUS DE SAI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Standby, interactiu de línia o online?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429000" cy="3931920"/>
          </a:xfrm>
          <a:prstGeom prst="roundRect">
            <a:avLst>
              <a:gd name="adj" fmla="val 3200"/>
            </a:avLst>
          </a:prstGeom>
          <a:solidFill>
            <a:srgbClr val="3E6680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688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Standby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46120"/>
            <a:ext cx="2880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bateria només actua quan falla la línia. Temps de transferència breu. Barat, per a PC domèstics.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51960" y="1874520"/>
            <a:ext cx="3429000" cy="3931920"/>
          </a:xfrm>
          <a:prstGeom prst="roundRect">
            <a:avLst>
              <a:gd name="adj" fmla="val 3200"/>
            </a:avLst>
          </a:prstGeom>
          <a:solidFill>
            <a:srgbClr val="13293D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4526280" y="21488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4688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Interactiu de línia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3246120"/>
            <a:ext cx="2880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L'inversor/convertidor sempre és a la sortida: resposta més ràpida. Per a petites empreses i servidors web.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55280" y="1874520"/>
            <a:ext cx="3429000" cy="3931920"/>
          </a:xfrm>
          <a:prstGeom prst="roundRect">
            <a:avLst>
              <a:gd name="adj" fmla="val 3200"/>
            </a:avLst>
          </a:prstGeom>
          <a:solidFill>
            <a:srgbClr val="F2A541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8229600" y="21488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1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24688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3246120"/>
            <a:ext cx="2880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L'ordinador sempre rep corrent de la bateria. Sense temps de transferència. Car, per a centres de dades.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GRAN DIFERÈNCIA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“temps de transferència”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120640" cy="3931920"/>
          </a:xfrm>
          <a:prstGeom prst="roundRect">
            <a:avLst>
              <a:gd name="adj" fmla="val 2791"/>
            </a:avLst>
          </a:prstGeom>
          <a:solidFill>
            <a:srgbClr val="0B1B29"/>
          </a:solidFill>
          <a:ln w="12700">
            <a:solidFill>
              <a:srgbClr val="3E668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37260" y="2217420"/>
            <a:ext cx="960120" cy="960120"/>
          </a:xfrm>
          <a:prstGeom prst="ellipse">
            <a:avLst/>
          </a:prstGeom>
          <a:solidFill>
            <a:srgbClr val="3E6680"/>
          </a:solidFill>
          <a:ln/>
        </p:spPr>
        <p:txBody>
          <a:bodyPr/>
          <a:p/>
        </p:txBody>
      </p:sp>
      <p:pic>
        <p:nvPicPr>
          <p:cNvPr id="6" name="Image 0" descr="/home/claude/pptx_build/icons/exch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7290" y="2457450"/>
            <a:ext cx="480060" cy="4800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057400" y="237744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Standby / interactiu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566160"/>
            <a:ext cx="4480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 ha un breu interval (fracció de segon) entre el tall de llum i el moment en què la bateria alimenta l'ordinador. És prou curt per no notar-se, però existeix.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26480" y="1920240"/>
            <a:ext cx="5120640" cy="3931920"/>
          </a:xfrm>
          <a:prstGeom prst="roundRect">
            <a:avLst>
              <a:gd name="adj" fmla="val 2791"/>
            </a:avLst>
          </a:prstGeom>
          <a:solidFill>
            <a:srgbClr val="F2A541"/>
          </a:solidFill>
          <a:ln/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515100" y="2217420"/>
            <a:ext cx="960120" cy="9601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1" name="Image 1" descr="/home/claude/pptx_build/icons/check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5130" y="2457450"/>
            <a:ext cx="480060" cy="4800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183880" y="237744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446520" y="3566160"/>
            <a:ext cx="4480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2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L'ordinador sempre rep alimentació de la bateria, tant si hi ha llum de línia com si no. Zero temps de transferència: la protecció més robusta que existeix.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2A541"/>
                </a:solidFill>
                <a:latin typeface="Calibri"/>
              </a:rPr>
              <a:t>SOTA EL CAPÓ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42E"/>
                </a:solidFill>
                <a:latin typeface="Cambria"/>
              </a:rPr>
              <a:t>Tipus de SAI: el “temps de transferència”</a:t>
            </a:r>
          </a:p>
        </p:txBody>
      </p:sp>
      <p:pic>
        <p:nvPicPr>
          <p:cNvPr id="4" name="Picture 3" descr="sai_tipus_transferen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201" y="1920240"/>
            <a:ext cx="7611291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B6B77"/>
                </a:solidFill>
                <a:latin typeface="Calibri"/>
              </a:rPr>
              <a:t>Com més curt el temps de transferència, més robusta la protecció: el SAI online no en té gens.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B77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ESCOLLIR EL SAI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Càrrega, autonomia i capacitat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3E6680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77240" y="1920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Càrrega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860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conjunt d'equips connectats al SAI.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51960" y="178308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3E6680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4480560" y="1920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Autonomia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22860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que el SAI pot alimentar aquesta càrrega.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55280" y="178308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3E6680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8183880" y="1920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Capacitat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183880" y="22860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potència màxima que el SAI pot subministrar.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429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Exemple real: SAI APC Back-UPS 550VA</a:t>
            </a:r>
            <a:endParaRPr lang="en-US" sz="15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40480"/>
          <a:ext cx="5486400" cy="1920240"/>
        </p:xfrm>
        <a:graphic>
          <a:graphicData uri="http://schemas.openxmlformats.org/drawingml/2006/table">
            <a:tbl>
              <a:tblPr/>
              <a:tblGrid>
                <a:gridCol w="3200400"/>
                <a:gridCol w="22860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Càrrega (VA)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Autonomia (minuts)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 VA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 min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 VA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 min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320 VA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min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480 VA (87% de la capacitat)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min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6400800" y="3840480"/>
            <a:ext cx="49377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6675120" y="406908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més càrrega hi connectis, menys autonomia tindràs.</a:t>
            </a:r>
            <a:endParaRPr lang="en-US" sz="1450" dirty="0"/>
          </a:p>
        </p:txBody>
      </p:sp>
      <p:sp>
        <p:nvSpPr>
          <p:cNvPr id="17" name="Text 14"/>
          <p:cNvSpPr txBox="1"/>
          <p:nvPr/>
        </p:nvSpPr>
        <p:spPr>
          <a:xfrm>
            <a:off x="6675120" y="484632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 només 4 minuts, cal decidir si n'hi ha prou per aturar els equips de manera ordenada.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AMB LES UNITATS!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Watts (W) ≠ Voltamperes (VA)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120640" cy="1828800"/>
          </a:xfrm>
          <a:prstGeom prst="roundRect">
            <a:avLst>
              <a:gd name="adj" fmla="val 5000"/>
            </a:avLst>
          </a:prstGeom>
          <a:solidFill>
            <a:srgbClr val="3E6680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22960" y="2103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Potència real (W)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0604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que consumeix realment la càrrega. La que has de calcular sumant el consum dels teus equips.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26480" y="1920240"/>
            <a:ext cx="5120640" cy="1828800"/>
          </a:xfrm>
          <a:prstGeom prst="roundRect">
            <a:avLst>
              <a:gd name="adj" fmla="val 5000"/>
            </a:avLst>
          </a:prstGeom>
          <a:solidFill>
            <a:srgbClr val="F2A541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400800" y="2103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Potència aparent (VA)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60604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que subministra el SAI. Sempre és igual o més gran que la potència real.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10607040" cy="1920240"/>
          </a:xfrm>
          <a:prstGeom prst="roundRect">
            <a:avLst>
              <a:gd name="adj" fmla="val 5714"/>
            </a:avLst>
          </a:prstGeom>
          <a:solidFill>
            <a:srgbClr val="D64545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960120" y="4389120"/>
            <a:ext cx="1188720" cy="11887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2" name="Image 0" descr="/home/claude/pptx_build/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7300" y="4686300"/>
            <a:ext cx="594360" cy="59436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2468880" y="42519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E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habitual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2468880" y="461772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SAI de 300 W / 500 VA NO serveix per a una càrrega de 400 W, encara que “400 no arribi a 500”. Cal comparar W amb W, mai W amb VA.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2A541"/>
                </a:solidFill>
                <a:latin typeface="Calibri"/>
              </a:rPr>
              <a:t>SOTA EL CAPÓ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42E"/>
                </a:solidFill>
                <a:latin typeface="Cambria"/>
              </a:rPr>
              <a:t>Watts (W) ≠ Voltamperes (VA)</a:t>
            </a:r>
          </a:p>
        </p:txBody>
      </p:sp>
      <p:pic>
        <p:nvPicPr>
          <p:cNvPr id="4" name="Picture 3" descr="w_vs_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447" y="1920240"/>
            <a:ext cx="6400800" cy="42005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257925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B6B77"/>
                </a:solidFill>
                <a:latin typeface="Calibri"/>
              </a:rPr>
              <a:t>La potència real (W) s'obté multiplicant la potència aparent (VA) pel factor de potència (FP).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B77"/>
                </a:solidFill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L'HORA DE DECIDIR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Escollir i ubicar el SAI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828800" y="2148840"/>
            <a:ext cx="822960" cy="822960"/>
          </a:xfrm>
          <a:prstGeom prst="ellipse">
            <a:avLst/>
          </a:prstGeom>
          <a:solidFill>
            <a:srgbClr val="3E6680"/>
          </a:solidFill>
          <a:ln/>
        </p:spPr>
        <p:txBody>
          <a:bodyPr/>
          <a:p/>
        </p:txBody>
      </p:sp>
      <p:pic>
        <p:nvPicPr>
          <p:cNvPr id="6" name="Image 0" descr="/home/claude/pptx_build/icons/we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4540" y="23545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30632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Quina càrrega haurà de suportar?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6118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 la potència real (W) de tots els equips a protegir.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51960" y="192024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5532120" y="2148840"/>
            <a:ext cx="822960" cy="822960"/>
          </a:xfrm>
          <a:prstGeom prst="ellipse">
            <a:avLst/>
          </a:prstGeom>
          <a:solidFill>
            <a:srgbClr val="3E6680"/>
          </a:solidFill>
          <a:ln/>
        </p:spPr>
        <p:txBody>
          <a:bodyPr/>
          <a:p/>
        </p:txBody>
      </p:sp>
      <p:pic>
        <p:nvPicPr>
          <p:cNvPr id="11" name="Image 1" descr="/home/claude/pptx_build/icons/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7860" y="235458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34840" y="30632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Quanta autonomia vols?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4480560" y="36118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Pocs minuts per aturar equips, o hores per a un servidor crític.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955280" y="192024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9235440" y="2148840"/>
            <a:ext cx="822960" cy="822960"/>
          </a:xfrm>
          <a:prstGeom prst="ellipse">
            <a:avLst/>
          </a:prstGeom>
          <a:solidFill>
            <a:srgbClr val="3E6680"/>
          </a:solidFill>
          <a:ln/>
        </p:spPr>
        <p:txBody>
          <a:bodyPr/>
          <a:p/>
        </p:txBody>
      </p:sp>
      <p:pic>
        <p:nvPicPr>
          <p:cNvPr id="16" name="Image 2" descr="/home/claude/pptx_build/icons/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1180" y="235458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138160" y="30632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quin espai disposes?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8183880" y="36118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 lloc a prop dels equips i bona ventilació.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4526280"/>
            <a:ext cx="10607040" cy="1371600"/>
          </a:xfrm>
          <a:prstGeom prst="roundRect">
            <a:avLst>
              <a:gd name="adj" fmla="val 8000"/>
            </a:avLst>
          </a:prstGeom>
          <a:solidFill>
            <a:srgbClr val="13293D"/>
          </a:solidFill>
          <a:ln/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1005840" y="4754880"/>
            <a:ext cx="914400" cy="91440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pic>
        <p:nvPicPr>
          <p:cNvPr id="21" name="Image 3" descr="/home/claude/pptx_build/icons/thermomet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498348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2194560" y="4663440"/>
            <a:ext cx="8595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4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Alguns SAI generen molta calor. Si la sala no està ben climatitzada, poden malmetre el propi maquinari que haurien de protegir. I recorda: cables sempre ben recollits, mai enmig del pas.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ACABAR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Idees clau d'avui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2011680"/>
            <a:ext cx="914400" cy="91440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pic>
        <p:nvPicPr>
          <p:cNvPr id="5" name="Image 0" descr="/home/claude/pptx_build/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2402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9659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problemes elèctrics: apagades, sobretensions, baixades de tensió i variació de freqüència.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172200" y="2011680"/>
            <a:ext cx="914400" cy="914400"/>
          </a:xfrm>
          <a:prstGeom prst="ellipse">
            <a:avLst/>
          </a:prstGeom>
          <a:solidFill>
            <a:srgbClr val="3E6680"/>
          </a:solidFill>
          <a:ln/>
        </p:spPr>
        <p:txBody>
          <a:bodyPr/>
          <a:p/>
        </p:txBody>
      </p:sp>
      <p:pic>
        <p:nvPicPr>
          <p:cNvPr id="8" name="Image 1" descr="/home/claude/pptx_build/icons/batte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240280"/>
            <a:ext cx="457200" cy="457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269480" y="19659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SAI combina bateria + protecció elèctrica per als equips connectats.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94360" y="4114800"/>
            <a:ext cx="914400" cy="91440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pic>
        <p:nvPicPr>
          <p:cNvPr id="11" name="Image 2" descr="/home/claude/pptx_build/icons/exch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34340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691640" y="40690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tipus de SAI: standby, interactiu de línia i online (sense temps de transferència).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6172200" y="4114800"/>
            <a:ext cx="914400" cy="914400"/>
          </a:xfrm>
          <a:prstGeom prst="ellipse">
            <a:avLst/>
          </a:prstGeom>
          <a:solidFill>
            <a:srgbClr val="3E6680"/>
          </a:solidFill>
          <a:ln/>
        </p:spPr>
        <p:txBody>
          <a:bodyPr/>
          <a:p/>
        </p:txBody>
      </p:sp>
      <p:pic>
        <p:nvPicPr>
          <p:cNvPr id="14" name="Image 3" descr="/home/claude/pptx_build/icons/gau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4343400"/>
            <a:ext cx="457200" cy="4572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269480" y="40690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Escollir un SAI: calcula la càrrega en watts (W), mai en VA, i pensa l'autonomia que necessites.</a:t>
            </a:r>
            <a:endParaRPr lang="en-US" sz="1350" dirty="0"/>
          </a:p>
        </p:txBody>
      </p:sp>
      <p:sp>
        <p:nvSpPr>
          <p:cNvPr id="16" name="Text 10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A5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51560" y="2651760"/>
            <a:ext cx="1554480" cy="1554480"/>
          </a:xfrm>
          <a:prstGeom prst="ellipse">
            <a:avLst/>
          </a:prstGeom>
          <a:solidFill>
            <a:srgbClr val="13293D"/>
          </a:solidFill>
          <a:ln/>
        </p:spPr>
        <p:txBody>
          <a:bodyPr/>
          <a:p/>
        </p:txBody>
      </p:sp>
      <p:pic>
        <p:nvPicPr>
          <p:cNvPr id="4" name="Image 0" descr="/home/claude/pptx_build/icons/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1318" y="3001518"/>
            <a:ext cx="854964" cy="85496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291840" y="1828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B1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 ÉS EL TORN VOSTRE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3246120" y="2240280"/>
            <a:ext cx="8503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Heu d'escollir un SAI per a un petit despatx amb 3 ordinadors i 1 servidor.</a:t>
            </a:r>
            <a:endParaRPr lang="en-US" sz="2500" dirty="0"/>
          </a:p>
        </p:txBody>
      </p:sp>
      <p:sp>
        <p:nvSpPr>
          <p:cNvPr id="7" name="Text 4"/>
          <p:cNvSpPr txBox="1"/>
          <p:nvPr/>
        </p:nvSpPr>
        <p:spPr>
          <a:xfrm>
            <a:off x="3291840" y="36576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B1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grups de 3: decidiu quin tipus de SAI (standby, interactiu o online) triaríeu, quina autonomia demanaríeu i com calcularíeu la càrrega necessària (en W).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3291840" y="4937760"/>
            <a:ext cx="8138160" cy="1051560"/>
          </a:xfrm>
          <a:prstGeom prst="roundRect">
            <a:avLst>
              <a:gd name="adj" fmla="val 8696"/>
            </a:avLst>
          </a:prstGeom>
          <a:solidFill>
            <a:srgbClr val="13293D"/>
          </a:solidFill>
          <a:ln/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3566160" y="4937760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minuts en grup + posada en comú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FONTS DEL MATERIAL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Webgrafia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07899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91540" y="2491740"/>
            <a:ext cx="960120" cy="960120"/>
          </a:xfrm>
          <a:prstGeom prst="ellipse">
            <a:avLst/>
          </a:prstGeom>
          <a:solidFill>
            <a:srgbClr val="3E6680"/>
          </a:solidFill>
          <a:ln/>
        </p:spPr>
        <p:txBody>
          <a:bodyPr/>
          <a:p/>
        </p:txBody>
      </p:sp>
      <p:pic>
        <p:nvPicPr>
          <p:cNvPr id="6" name="Image 0" descr="/home/claude/pptx_build/icons/gl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1570" y="2731770"/>
            <a:ext cx="480060" cy="4800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194560" y="233172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Sistemes d'alimentació ininterrompuda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2194560" y="278892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 Obert de Catalunya (IOC) · Material del mòdul “Seguretat informàtica” (M06), Unitat 1, apartat 2</a:t>
            </a:r>
            <a:endParaRPr lang="en-US" sz="1250" dirty="0"/>
          </a:p>
        </p:txBody>
      </p:sp>
      <p:sp>
        <p:nvSpPr>
          <p:cNvPr id="9" name="Text 6">
            <a:hlinkClick r:id="rId2" tooltip=""/>
          </p:cNvPr>
          <p:cNvSpPr txBox="1"/>
          <p:nvPr/>
        </p:nvSpPr>
        <p:spPr>
          <a:xfrm>
            <a:off x="2194560" y="32004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3E66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https://ioc.xtec.cat/materials/FP/Recursos/fp_smx_m06_/web/fp_smx_m06_htmlindex/WebContent/u1/a2/continguts.html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8521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Llicència Creative Commons BY-NC-SA · Institut Obert de Catalunya, 2011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2026-09-03T17:17:40Z</dcterms:created>
  <dcterms:modified xsi:type="dcterms:W3CDTF">2026-09-03T17:17:40Z</dcterms:modified>
</cp:coreProperties>
</file>