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1.png"/><Relationship Id="rId3" Type="http://schemas.openxmlformats.org/officeDocument/2006/relationships/image" Target="../media/image-14-1.png"/><Relationship Id="rId4" Type="http://schemas.openxmlformats.org/officeDocument/2006/relationships/image" Target="../media/image-14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828800"/>
            <a:ext cx="6400800" cy="6400800"/>
          </a:xfrm>
          <a:prstGeom prst="ellipse">
            <a:avLst/>
          </a:prstGeom>
          <a:solidFill>
            <a:srgbClr val="13293D"/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-914400"/>
            <a:ext cx="4114800" cy="4114800"/>
          </a:xfrm>
          <a:prstGeom prst="ellipse">
            <a:avLst/>
          </a:prstGeom>
          <a:solidFill>
            <a:srgbClr val="16242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MÒDUL 06 · SEGURETAT INFORMÀTICA — RA3 · NF3-AA3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Criptografia</a:t>
            </a:r>
            <a:endParaRPr lang="en-US" sz="4400" dirty="0"/>
          </a:p>
        </p:txBody>
      </p:sp>
      <p:pic>
        <p:nvPicPr>
          <p:cNvPr id="6" name="Image 0" descr="/tmp/claude-0/-home-user-SMX-0226-Seguretat-Informatica/cec25c9b-7e93-584a-a64a-196540977a59/scratchpad/build/icons/key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2461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3246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Codi Cèsar a l'AES: com protegim la confidencialitat i la integritat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669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CFGM Sistemes Microinformàtics i Xarxes · 2n curs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6035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Puig Castellar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Joan Sánchez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AQUESTA SESSIÓ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aprendrem avui?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lock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Xifrat simètric i asimètric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Dues famílies d'algorismes amb avantatges i inconvenients complementaris.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exchang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Diffie-Hellman i híbrida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s'intercanvien claus de manera segura sense transmetre-les mai directament.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7" name="Image 2" descr="/tmp/claude-0/-home-user-SMX-0226-Seguretat-Informatica/cec25c9b-7e93-584a-a64a-196540977a59/scratchpad/build/icons/fingerprint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Funcions hash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es garanteix la integritat d'un missatge o fitxer amb un resum de mida fixa.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 SABIES?</a:t>
            </a:r>
            <a:endParaRPr lang="en-US" sz="1300" dirty="0"/>
          </a:p>
        </p:txBody>
      </p:sp>
      <p:pic>
        <p:nvPicPr>
          <p:cNvPr id="3" name="Image 0" descr="/tmp/claude-0/-home-user-SMX-0226-Seguretat-Informatica/cec25c9b-7e93-584a-a64a-196540977a59/scratchpad/build/icons/key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0" y="50292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96012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ciència mil·lenària, encara vigent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 Codi Cèsar a Enigma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7432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Durant segles, la criptografia ha protegit missatges de mirades indiscretes: des del Codi Cèsar de l'antiga Roma fins a la màquina Enigma alemanya de la Segona Guerra Mundial.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603504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Xifrar ≠ codificar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035040" y="27432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codificació (com Base64) NO assegura la confidencialitat: només representa la informació amb un alfabet diferent. Qualsevol pot decodificar-la; per protegir-la de debò cal xifrar-la.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DEFINICIONS BÀSIQUES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Xifrat, desxifrat i seguretat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Xifrat: transformar un missatge llegible (text pla) en un d'inintel·ligible (text xifrat), mitjançant un algorisme i una clau. El desxifrat fa el procés invers.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Seguretat incondicional (rar, exemple: xifrat de Vernam) vs. seguretat condicional (la majoria dels sistemes actuals, com AES): segurs amb la tecnologia actual, però potencialment trencables en el futur.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PRIMERA FAMÍLIA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Criptografia de clau simètrica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10789920" cy="1005840"/>
          </a:xfrm>
          <a:prstGeom prst="roundRect">
            <a:avLst>
              <a:gd name="adj" fmla="val 9091"/>
            </a:avLst>
          </a:prstGeom>
          <a:solidFill>
            <a:srgbClr val="0B1B29"/>
          </a:solidFill>
          <a:ln/>
        </p:spPr>
      </p:sp>
      <p:pic>
        <p:nvPicPr>
          <p:cNvPr id="6" name="Image 0" descr="/tmp/claude-0/-home-user-SMX-0226-Seguretat-Informatica/cec25c9b-7e93-584a-a64a-196540977a59/scratchpad/build/icons/key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011680"/>
            <a:ext cx="457200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7452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mateixa clau s'utilitza per xifrar i desxifrar. Emissor i receptor han de conèixer-la i mantenir-la en secret.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55168" y="2926080"/>
            <a:ext cx="521208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1020928" y="329184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0" name="Image 1" descr="/tmp/claude-0/-home-user-SMX-0226-Seguretat-Informatica/cec25c9b-7e93-584a-a64a-196540977a59/scratchpad/build/icons/checkcircl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240" y="3502152"/>
            <a:ext cx="402336" cy="4023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20928" y="42976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Avantatges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1020928" y="4800600"/>
            <a:ext cx="4480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Assegura la confidencialitat; algorismes ràpids; el text xifrat és més curt que amb clau pública. Algorismes: AES, DES/3DES, RC4, Blowfish. AES-256 és l'estàndard recomanat.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324448" y="2926080"/>
            <a:ext cx="521208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690208" y="329184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5" name="Image 2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0520" y="3502152"/>
            <a:ext cx="402336" cy="40233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690208" y="42976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Inconvenients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6690208" y="4800600"/>
            <a:ext cx="4480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intercanviar la clau a distància de forma segura? No garanteix la integritat ni el no-rebuig: qui coneix la clau pot modificar el missatge i tornar-lo a xifrar.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SEGONA FAMÍLIA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Criptografia de clau pública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10789920" cy="1005840"/>
          </a:xfrm>
          <a:prstGeom prst="roundRect">
            <a:avLst>
              <a:gd name="adj" fmla="val 9091"/>
            </a:avLst>
          </a:prstGeom>
          <a:solidFill>
            <a:srgbClr val="0B1B29"/>
          </a:solidFill>
          <a:ln/>
        </p:spPr>
      </p:sp>
      <p:pic>
        <p:nvPicPr>
          <p:cNvPr id="6" name="Image 0" descr="/tmp/claude-0/-home-user-SMX-0226-Seguretat-Informatica/cec25c9b-7e93-584a-a64a-196540977a59/scratchpad/build/icons/unlock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011680"/>
            <a:ext cx="457200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7452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S'utilitza un parell de claus matemàticament relacionades: la pública (es xifra amb ella) i la privada (només amb ella es pot desxifrar). Soluciona el problema de l'intercanvi de claus.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55168" y="2926080"/>
            <a:ext cx="521208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1020928" y="329184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0" name="Image 1" descr="/tmp/claude-0/-home-user-SMX-0226-Seguretat-Informatica/cec25c9b-7e93-584a-a64a-196540977a59/scratchpad/build/icons/checkcircl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240" y="3502152"/>
            <a:ext cx="402336" cy="4023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20928" y="42976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Avantatges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1020928" y="4800600"/>
            <a:ext cx="4480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 l'intercanvi de claus; permet la signatura digital i l'autenticació. Algorismes: RSA, DSA, ElGamal, corba el·líptica (ECC).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324448" y="2926080"/>
            <a:ext cx="521208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690208" y="329184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5" name="Image 2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0520" y="3502152"/>
            <a:ext cx="402336" cy="40233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690208" y="42976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Inconvenients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6690208" y="4800600"/>
            <a:ext cx="4480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Algorismes més lents; claus i missatges xifrats més llargs que amb clau simètrica.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MILLOR DELS DOS MONS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Criptografia híbrida i Diffie-Hellman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la pràctica es combinen tots dos tipus: es xifra el missatge amb un algorisme simètric ràpid, usant una clau de sessió; l'intercanvi d'aquesta clau es fa amb un algorisme de clau pública.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Avui, l'intercanvi de la clau de sessió es fa amb l'algorisme de Diffie-Hellman: genera una clau compartida sense transmetre-la mai directament (es calcula independentment a cada extrem).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4023360"/>
            <a:ext cx="10789920" cy="1371600"/>
          </a:xfrm>
          <a:prstGeom prst="roundRect">
            <a:avLst>
              <a:gd name="adj" fmla="val 6667"/>
            </a:avLst>
          </a:prstGeom>
          <a:solidFill>
            <a:srgbClr val="13293D"/>
          </a:solidFill>
          <a:ln/>
        </p:spPr>
      </p:sp>
      <p:pic>
        <p:nvPicPr>
          <p:cNvPr id="7" name="Image 0" descr="/tmp/claude-0/-home-user-SMX-0226-Seguretat-Informatica/cec25c9b-7e93-584a-a64a-196540977a59/scratchpad/build/icons/bulb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48056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416052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Diffie-Hellman aplica "forward secrecy": si un atacant obté la clau privada d'un participant, no podrà calcular claus de sessió PASSADES, ja que aquestes s'esborren de la RAM un cop acaba la sessió.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PRÀCTICA REAL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Xifrat simètric amb OpenSSL (AES-256)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OpenSSL és una eina de línia de comandes present a qualsevol sistema Linux, i disponible també per a Windows.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3108960"/>
            <a:ext cx="10789920" cy="2651760"/>
          </a:xfrm>
          <a:prstGeom prst="roundRect">
            <a:avLst>
              <a:gd name="adj" fmla="val 3448"/>
            </a:avLst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terminal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20624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3246120"/>
            <a:ext cx="9601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"openssl enc -aes-256-cbc -pbkdf2 -salt -in missatge.txt -out missatge.enc -pass pass:..." xifra un fitxer amb AES-256 i una contrasenya. El resultat és binari i il·legible fins que es desxifra amb la mateixa contrasenya ("-d"). Practicareu aquesta ordre a l'exercici guiat, amb captures reals del procés.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GARANTIR QUE NO S'HA MODIFICAT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 d'integritat: funcions hash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funció de hash (resum) genera un conjunt de bits de mida FIXA per a qualsevol entrada, independentment de la seva llargada.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 de complir: 1) és fàcil calcular el resum a partir del missatge; 2) és impossible obtenir el missatge a partir del resum; 3) dos missatges diferents no haurien de generar el mateix resum (col·lisió).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4480560"/>
            <a:ext cx="10789920" cy="1005840"/>
          </a:xfrm>
          <a:prstGeom prst="roundRect">
            <a:avLst>
              <a:gd name="adj" fmla="val 9091"/>
            </a:avLst>
          </a:prstGeom>
          <a:solidFill>
            <a:srgbClr val="13293D"/>
          </a:solidFill>
          <a:ln/>
        </p:spPr>
      </p:sp>
      <p:pic>
        <p:nvPicPr>
          <p:cNvPr id="7" name="Image 0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75488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461772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MD5 i SHA-1 estan OBSOLETS: s'hi han trobat vulnerabilitats de col·lisió. Avui s'usen SHA-256 i SHA-512.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USOS PRÀCTICS DEL HASH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trobem les funcions hash cada dia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checkcircl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Verificar descàrregues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 el hash d'un fitxer descarregat (per exemple, una ISO d'Ubuntu) amb el hash publicat pel desenvolupador.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lock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Contrasenyes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desa el hash de la contrasenya, no la contrasenya mateixa: en iniciar sessió, es recalcula i es compara.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7" name="Image 2" descr="/tmp/claude-0/-home-user-SMX-0226-Seguretat-Informatica/cec25c9b-7e93-584a-a64a-196540977a59/scratchpad/build/icons/signature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Signatura digital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signatura (amb clau privada) s'aplica sobre el HASH del document, no sobre l'original: ho veurem al proper AA.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40080" y="5029200"/>
            <a:ext cx="10789920" cy="777240"/>
          </a:xfrm>
          <a:prstGeom prst="roundRect">
            <a:avLst>
              <a:gd name="adj" fmla="val 11765"/>
            </a:avLst>
          </a:prstGeom>
          <a:solidFill>
            <a:srgbClr val="13293D"/>
          </a:solidFill>
          <a:ln/>
        </p:spPr>
      </p:sp>
      <p:pic>
        <p:nvPicPr>
          <p:cNvPr id="21" name="Image 3" descr="/tmp/claude-0/-home-user-SMX-0226-Seguretat-Informatica/cec25c9b-7e93-584a-a64a-196540977a59/scratchpad/build/icons/bulb_F2A54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189220"/>
            <a:ext cx="457200" cy="4572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54480" y="516636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HMAC: combina el resum amb una clau secreta compartida, afegint autenticitat de l'emissor a més d'integritat.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PRÀCTICA REAL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Signatura digital amb OpenSSL: signar i verificar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1) Es genera un parell de claus RSA. 2) Es signa el hash SHA-256 d'un document amb la clau PRIVADA. 3) Qualsevol pot verificar la signatura amb la clau PÚBLICA.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3017520"/>
            <a:ext cx="10789920" cy="2743200"/>
          </a:xfrm>
          <a:prstGeom prst="roundRect">
            <a:avLst>
              <a:gd name="adj" fmla="val 3333"/>
            </a:avLst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terminal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16052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3154680"/>
            <a:ext cx="9601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"openssl dgst -sha256 -sign clau_privada.pem -out doc.sig doc.txt" signa; "openssl dgst -sha256 -verify clau_publica.pem -signature doc.sig doc.txt" verifica: retorna "Verified OK" si el document no s'ha tocat, o "Verification failure" si s'ha modificat des que es va signar.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ACABAR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Idees clau d'avui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key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Simètric vs. asimètric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Ràpid però amb el problema de l'intercanvi de claus, vs. lent però que soluciona aquest problema i permet signar.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exchang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Diffie-Hellman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 pràctica: negociar una clau de sessió compartida sense transmetre-la mai directament.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7" name="Image 2" descr="/tmp/claude-0/-home-user-SMX-0226-Seguretat-Informatica/cec25c9b-7e93-584a-a64a-196540977a59/scratchpad/build/icons/fingerprint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Hash = integritat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SHA-256/512 permeten detectar si un fitxer o missatge ha estat modificat, sense revelar-ne el contingut original.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188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 ÉS EL TORN VOSTRE</a:t>
            </a:r>
            <a:endParaRPr lang="en-US" sz="1400" dirty="0"/>
          </a:p>
        </p:txBody>
      </p:sp>
      <p:pic>
        <p:nvPicPr>
          <p:cNvPr id="3" name="Image 0" descr="/tmp/claude-0/-home-user-SMX-0226-Seguretat-Informatica/cec25c9b-7e93-584a-a64a-196540977a59/scratchpad/build/icons/question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097280"/>
            <a:ext cx="731520" cy="7315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173736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empresa envia contractes signats digitalment als seus clients per correu electrònic.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29184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parelles: expliqueu, pas a pas, què passaria si un atacant intercepta el contracte i en modifica una xifra abans que el client el verifiqui. El client, podria detectar-ho? Per què?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minuts en parelles + posada en comú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FONTS DEL MATERIAL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Webgrafia</a:t>
            </a:r>
            <a:endParaRPr lang="en-US" sz="2800" dirty="0"/>
          </a:p>
        </p:txBody>
      </p:sp>
      <p:pic>
        <p:nvPicPr>
          <p:cNvPr id="4" name="Image 0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74520"/>
            <a:ext cx="320040" cy="320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43000" y="18288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NF3-AA3: Criptografia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143000" y="217627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 "Materials" (GitHub, SMX-0226SI) · Carlos Alonso Martínez, Escola Pia de Mataró · Llicència CC-BY-SA-4.0</a:t>
            </a:r>
            <a:endParaRPr lang="en-US" sz="1150" dirty="0"/>
          </a:p>
        </p:txBody>
      </p:sp>
      <p:pic>
        <p:nvPicPr>
          <p:cNvPr id="7" name="Image 1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26080"/>
            <a:ext cx="320040" cy="320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43000" y="2880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Practical Networking — Cryptography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143000" y="322783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practicalnetworking.net/series/cryptography/cryptography</a:t>
            </a:r>
            <a:endParaRPr lang="en-US" sz="1150" dirty="0"/>
          </a:p>
        </p:txBody>
      </p:sp>
      <p:pic>
        <p:nvPicPr>
          <p:cNvPr id="10" name="Image 2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977640"/>
            <a:ext cx="320040" cy="3200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43000" y="3931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DCODE — Codi de rotació o de Cèsar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143000" y="427939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dcode.fr/rot-cipher</a:t>
            </a:r>
            <a:endParaRPr lang="en-US" sz="1150" dirty="0"/>
          </a:p>
        </p:txBody>
      </p:sp>
      <p:pic>
        <p:nvPicPr>
          <p:cNvPr id="13" name="Image 3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029200"/>
            <a:ext cx="320040" cy="32004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143000" y="4983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OpenSSL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1143000" y="533095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openssl.org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640080" y="6217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Llicència Creative Commons BY-NC-SA · Institut Obert de Catalunya, 2011 (materials adaptats i ampliats)</a:t>
            </a:r>
            <a:endParaRPr lang="en-US" sz="1050" dirty="0"/>
          </a:p>
        </p:txBody>
      </p:sp>
      <p:sp>
        <p:nvSpPr>
          <p:cNvPr id="17" name="Text 11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2026-09-08T20:21:49Z</dcterms:created>
  <dcterms:modified xsi:type="dcterms:W3CDTF">2026-09-08T20:21:49Z</dcterms:modified>
</cp:coreProperties>
</file>