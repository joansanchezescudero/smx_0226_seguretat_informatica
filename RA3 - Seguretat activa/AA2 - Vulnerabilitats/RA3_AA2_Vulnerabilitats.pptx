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9"/>
        </a:solidFill>
      </p:bgPr>
    </p:bg>
    <p:spTree>
      <p:nvGrpSpPr>
        <p:cNvPr id="1" name=""/>
        <p:cNvGrpSpPr/>
        <p:nvPr/>
      </p:nvGrpSpPr>
      <p:grpSpPr>
        <a:xfrm>
          <a:off x="0" y="0"/>
          <a:ext cx="0" cy="0"/>
          <a:chOff x="0" y="0"/>
          <a:chExt cx="0" cy="0"/>
        </a:xfrm>
      </p:grpSpPr>
      <p:sp>
        <p:nvSpPr>
          <p:cNvPr id="2" name="Shape 0"/>
          <p:cNvSpPr/>
          <p:nvPr/>
        </p:nvSpPr>
        <p:spPr>
          <a:xfrm>
            <a:off x="8869680" y="-1828800"/>
            <a:ext cx="6400800" cy="6400800"/>
          </a:xfrm>
          <a:prstGeom prst="ellipse">
            <a:avLst/>
          </a:prstGeom>
          <a:solidFill>
            <a:srgbClr val="13293D"/>
          </a:solidFill>
          <a:ln/>
        </p:spPr>
        <p:txBody>
          <a:bodyPr/>
          <a:p/>
        </p:txBody>
      </p:sp>
      <p:sp>
        <p:nvSpPr>
          <p:cNvPr id="3" name="Shape 1"/>
          <p:cNvSpPr/>
          <p:nvPr/>
        </p:nvSpPr>
        <p:spPr>
          <a:xfrm>
            <a:off x="9875520" y="-914400"/>
            <a:ext cx="4114800" cy="4114800"/>
          </a:xfrm>
          <a:prstGeom prst="ellipse">
            <a:avLst/>
          </a:prstGeom>
          <a:solidFill>
            <a:srgbClr val="16242E"/>
          </a:solidFill>
          <a:ln/>
        </p:spPr>
        <p:txBody>
          <a:bodyPr/>
          <a:p/>
        </p:txBody>
      </p:sp>
      <p:sp>
        <p:nvSpPr>
          <p:cNvPr id="4" name="Text 2"/>
          <p:cNvSpPr txBox="1"/>
          <p:nvPr/>
        </p:nvSpPr>
        <p:spPr>
          <a:xfrm>
            <a:off x="822960" y="1371600"/>
            <a:ext cx="9601200" cy="457200"/>
          </a:xfrm>
          <a:prstGeom prst="rect">
            <a:avLst/>
          </a:prstGeom>
          <a:noFill/>
          <a:ln/>
        </p:spPr>
        <p:txBody>
          <a:bodyPr wrap="square" lIns="0" tIns="0" rIns="0" bIns="0" rtlCol="0" anchor="ctr"/>
          <a:lstStyle/>
          <a:p>
            <a:pPr indent="0" marL="0">
              <a:buNone/>
            </a:pPr>
            <a:r>
              <a:rPr lang="en-US" sz="1500" b="1" spc="200" kern="0" dirty="0">
                <a:solidFill>
                  <a:srgbClr val="F2A541"/>
                </a:solidFill>
                <a:latin typeface="Calibri" pitchFamily="34" charset="0"/>
                <a:ea typeface="Calibri" pitchFamily="34" charset="-122"/>
                <a:cs typeface="Calibri" pitchFamily="34" charset="-120"/>
              </a:rPr>
              <a:t>MÒDUL 06 · SEGURETAT INFORMÀTICA — RA3 · NF3-AA2</a:t>
            </a:r>
            <a:endParaRPr lang="en-US" sz="1500" dirty="0"/>
          </a:p>
        </p:txBody>
      </p:sp>
      <p:sp>
        <p:nvSpPr>
          <p:cNvPr id="5" name="Text 3"/>
          <p:cNvSpPr txBox="1"/>
          <p:nvPr/>
        </p:nvSpPr>
        <p:spPr>
          <a:xfrm>
            <a:off x="822960" y="1828800"/>
            <a:ext cx="9875520" cy="14630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Vulnerabilitats</a:t>
            </a:r>
            <a:endParaRPr lang="en-US" sz="4400" dirty="0"/>
          </a:p>
        </p:txBody>
      </p:sp>
      <p:pic>
        <p:nvPicPr>
          <p:cNvPr id="6" name="Image 0" descr="/tmp/claude-0/-home-user-SMX-0226-Seguretat-Informatica/cec25c9b-7e93-584a-a64a-196540977a59/scratchpad/build/icons/search_F2A541.png">    </p:cNvPr>
          <p:cNvPicPr>
            <a:picLocks noChangeAspect="1"/>
          </p:cNvPicPr>
          <p:nvPr/>
        </p:nvPicPr>
        <p:blipFill>
          <a:blip r:embed="rId1"/>
          <a:stretch>
            <a:fillRect/>
          </a:stretch>
        </p:blipFill>
        <p:spPr>
          <a:xfrm>
            <a:off x="822960" y="3246120"/>
            <a:ext cx="502920" cy="502920"/>
          </a:xfrm>
          <a:prstGeom prst="rect">
            <a:avLst/>
          </a:prstGeom>
        </p:spPr>
      </p:pic>
      <p:sp>
        <p:nvSpPr>
          <p:cNvPr id="7" name="Text 4"/>
          <p:cNvSpPr txBox="1"/>
          <p:nvPr/>
        </p:nvSpPr>
        <p:spPr>
          <a:xfrm>
            <a:off x="1463040" y="3246120"/>
            <a:ext cx="8229600" cy="548640"/>
          </a:xfrm>
          <a:prstGeom prst="rect">
            <a:avLst/>
          </a:prstGeom>
          <a:noFill/>
          <a:ln/>
        </p:spPr>
        <p:txBody>
          <a:bodyPr wrap="square" lIns="0" tIns="0" rIns="0" bIns="0" rtlCol="0" anchor="ctr"/>
          <a:lstStyle/>
          <a:p>
            <a:pPr indent="0" marL="0">
              <a:buNone/>
            </a:pPr>
            <a:r>
              <a:rPr lang="en-US" sz="1800" i="1" dirty="0">
                <a:solidFill>
                  <a:srgbClr val="CADCE8"/>
                </a:solidFill>
                <a:latin typeface="Calibri" pitchFamily="34" charset="0"/>
                <a:ea typeface="Calibri" pitchFamily="34" charset="-122"/>
                <a:cs typeface="Calibri" pitchFamily="34" charset="-120"/>
              </a:rPr>
              <a:t>Amenaces, vulnerabilitats i risc: com es mesura la nostra exposició</a:t>
            </a:r>
            <a:endParaRPr lang="en-US" sz="1800" dirty="0"/>
          </a:p>
        </p:txBody>
      </p:sp>
      <p:sp>
        <p:nvSpPr>
          <p:cNvPr id="8" name="Text 5"/>
          <p:cNvSpPr txBox="1"/>
          <p:nvPr/>
        </p:nvSpPr>
        <p:spPr>
          <a:xfrm>
            <a:off x="822960" y="5669280"/>
            <a:ext cx="9144000" cy="365760"/>
          </a:xfrm>
          <a:prstGeom prst="rect">
            <a:avLst/>
          </a:prstGeom>
          <a:noFill/>
          <a:ln/>
        </p:spPr>
        <p:txBody>
          <a:bodyPr wrap="square" lIns="0" tIns="0" rIns="0" bIns="0" rtlCol="0" anchor="ctr"/>
          <a:lstStyle/>
          <a:p>
            <a:pPr indent="0" marL="0">
              <a:buNone/>
            </a:pPr>
            <a:r>
              <a:rPr lang="en-US" sz="1400" dirty="0">
                <a:solidFill>
                  <a:srgbClr val="8FA6B8"/>
                </a:solidFill>
                <a:latin typeface="Calibri" pitchFamily="34" charset="0"/>
                <a:ea typeface="Calibri" pitchFamily="34" charset="-122"/>
                <a:cs typeface="Calibri" pitchFamily="34" charset="-120"/>
              </a:rPr>
              <a:t>CFGM Sistemes Microinformàtics i Xarxes · 2n curs</a:t>
            </a:r>
            <a:endParaRPr lang="en-US" sz="1400" dirty="0"/>
          </a:p>
        </p:txBody>
      </p:sp>
      <p:sp>
        <p:nvSpPr>
          <p:cNvPr id="9" name="Text 6"/>
          <p:cNvSpPr txBox="1"/>
          <p:nvPr/>
        </p:nvSpPr>
        <p:spPr>
          <a:xfrm>
            <a:off x="822960" y="6035040"/>
            <a:ext cx="9144000" cy="548640"/>
          </a:xfrm>
          <a:prstGeom prst="rect">
            <a:avLst/>
          </a:prstGeom>
          <a:noFill/>
          <a:ln/>
        </p:spPr>
        <p:txBody>
          <a:bodyPr wrap="square" lIns="0" tIns="0" rIns="0" bIns="0" rtlCol="0" anchor="ctr"/>
          <a:lstStyle/>
          <a:p>
            <a:pPr indent="0" marL="0">
              <a:lnSpc>
                <a:spcPts val="1600"/>
              </a:lnSpc>
              <a:buNone/>
            </a:pPr>
            <a:r>
              <a:rPr lang="en-US" sz="1200" dirty="0">
                <a:solidFill>
                  <a:srgbClr val="5B6B77"/>
                </a:solidFill>
                <a:latin typeface="Calibri" pitchFamily="34" charset="0"/>
                <a:ea typeface="Calibri" pitchFamily="34" charset="-122"/>
                <a:cs typeface="Calibri" pitchFamily="34" charset="-120"/>
              </a:rPr>
              <a:t>Institut Puig Castellar</a:t>
            </a:r>
            <a:endParaRPr lang="en-US" sz="1200" dirty="0"/>
          </a:p>
          <a:p>
            <a:pPr indent="0" marL="0">
              <a:lnSpc>
                <a:spcPts val="1600"/>
              </a:lnSpc>
              <a:buNone/>
            </a:pPr>
            <a:r>
              <a:rPr lang="en-US" sz="1200" dirty="0">
                <a:solidFill>
                  <a:srgbClr val="5B6B77"/>
                </a:solidFill>
                <a:latin typeface="Calibri" pitchFamily="34" charset="0"/>
                <a:ea typeface="Calibri" pitchFamily="34" charset="-122"/>
                <a:cs typeface="Calibri" pitchFamily="34" charset="-120"/>
              </a:rPr>
              <a:t>Joan Sánchez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EN AQUESTA SESSIÓ</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Què aprendrem avui?</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a:t>
            </a:r>
            <a:endParaRPr lang="en-US" sz="1100" dirty="0"/>
          </a:p>
        </p:txBody>
      </p:sp>
      <p:sp>
        <p:nvSpPr>
          <p:cNvPr id="5" name="Shape 3"/>
          <p:cNvSpPr/>
          <p:nvPr/>
        </p:nvSpPr>
        <p:spPr>
          <a:xfrm>
            <a:off x="632308" y="1737360"/>
            <a:ext cx="3429000" cy="3840480"/>
          </a:xfrm>
          <a:prstGeom prst="roundRect">
            <a:avLst>
              <a:gd name="adj" fmla="val 3200"/>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6" name="Shape 4"/>
          <p:cNvSpPr/>
          <p:nvPr/>
        </p:nvSpPr>
        <p:spPr>
          <a:xfrm>
            <a:off x="952348" y="2057400"/>
            <a:ext cx="731520" cy="731520"/>
          </a:xfrm>
          <a:prstGeom prst="ellipse">
            <a:avLst/>
          </a:prstGeom>
          <a:solidFill>
            <a:srgbClr val="0B1B29"/>
          </a:solidFill>
          <a:ln/>
        </p:spPr>
        <p:txBody>
          <a:bodyPr/>
          <a:p/>
        </p:txBody>
      </p:sp>
      <p:pic>
        <p:nvPicPr>
          <p:cNvPr id="7" name="Image 0" descr="/tmp/claude-0/-home-user-SMX-0226-Seguretat-Informatica/cec25c9b-7e93-584a-a64a-196540977a59/scratchpad/build/icons/warning_F2A541.png">    </p:cNvPr>
          <p:cNvPicPr>
            <a:picLocks noChangeAspect="1"/>
          </p:cNvPicPr>
          <p:nvPr/>
        </p:nvPicPr>
        <p:blipFill>
          <a:blip r:embed="rId1"/>
          <a:stretch>
            <a:fillRect/>
          </a:stretch>
        </p:blipFill>
        <p:spPr>
          <a:xfrm>
            <a:off x="1135228" y="2240280"/>
            <a:ext cx="365760" cy="365760"/>
          </a:xfrm>
          <a:prstGeom prst="rect">
            <a:avLst/>
          </a:prstGeom>
        </p:spPr>
      </p:pic>
      <p:sp>
        <p:nvSpPr>
          <p:cNvPr id="8" name="Text 5"/>
          <p:cNvSpPr txBox="1"/>
          <p:nvPr/>
        </p:nvSpPr>
        <p:spPr>
          <a:xfrm>
            <a:off x="906628" y="2971800"/>
            <a:ext cx="2880360" cy="731520"/>
          </a:xfrm>
          <a:prstGeom prst="rect">
            <a:avLst/>
          </a:prstGeom>
          <a:noFill/>
          <a:ln/>
        </p:spPr>
        <p:txBody>
          <a:bodyPr wrap="square" lIns="0" tIns="0" rIns="0" bIns="0" rtlCol="0" anchor="ctr"/>
          <a:lstStyle/>
          <a:p>
            <a:pPr indent="0" marL="0">
              <a:buNone/>
            </a:pPr>
            <a:r>
              <a:rPr lang="en-US" sz="1700" b="1" dirty="0">
                <a:solidFill>
                  <a:srgbClr val="16242E"/>
                </a:solidFill>
                <a:latin typeface="Cambria" pitchFamily="34" charset="0"/>
                <a:ea typeface="Cambria" pitchFamily="34" charset="-122"/>
                <a:cs typeface="Cambria" pitchFamily="34" charset="-120"/>
              </a:rPr>
              <a:t>Amenaces vs. vulnerabilitats</a:t>
            </a:r>
            <a:endParaRPr lang="en-US" sz="1700" dirty="0"/>
          </a:p>
        </p:txBody>
      </p:sp>
      <p:sp>
        <p:nvSpPr>
          <p:cNvPr id="9" name="Text 6"/>
          <p:cNvSpPr txBox="1"/>
          <p:nvPr/>
        </p:nvSpPr>
        <p:spPr>
          <a:xfrm>
            <a:off x="906628" y="3611880"/>
            <a:ext cx="2880360" cy="1828800"/>
          </a:xfrm>
          <a:prstGeom prst="rect">
            <a:avLst/>
          </a:prstGeom>
          <a:noFill/>
          <a:ln/>
        </p:spPr>
        <p:txBody>
          <a:bodyPr wrap="square" lIns="0" tIns="0" rIns="0" bIns="0" rtlCol="0" anchor="t"/>
          <a:lstStyle/>
          <a:p>
            <a:pPr indent="0" marL="0">
              <a:lnSpc>
                <a:spcPts val="1600"/>
              </a:lnSpc>
              <a:buNone/>
            </a:pPr>
            <a:r>
              <a:rPr lang="en-US" sz="1250" dirty="0">
                <a:solidFill>
                  <a:srgbClr val="5B6B77"/>
                </a:solidFill>
                <a:latin typeface="Calibri" pitchFamily="34" charset="0"/>
                <a:ea typeface="Calibri" pitchFamily="34" charset="-122"/>
                <a:cs typeface="Calibri" pitchFamily="34" charset="-120"/>
              </a:rPr>
              <a:t>La diferència entre un factor extern que ens ataca i un punt feble intern del sistema.</a:t>
            </a:r>
            <a:endParaRPr lang="en-US" sz="1250" dirty="0"/>
          </a:p>
        </p:txBody>
      </p:sp>
      <p:sp>
        <p:nvSpPr>
          <p:cNvPr id="10" name="Shape 7"/>
          <p:cNvSpPr/>
          <p:nvPr/>
        </p:nvSpPr>
        <p:spPr>
          <a:xfrm>
            <a:off x="4381348" y="1737360"/>
            <a:ext cx="3429000" cy="3840480"/>
          </a:xfrm>
          <a:prstGeom prst="roundRect">
            <a:avLst>
              <a:gd name="adj" fmla="val 3200"/>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11" name="Shape 8"/>
          <p:cNvSpPr/>
          <p:nvPr/>
        </p:nvSpPr>
        <p:spPr>
          <a:xfrm>
            <a:off x="4701388" y="2057400"/>
            <a:ext cx="731520" cy="731520"/>
          </a:xfrm>
          <a:prstGeom prst="ellipse">
            <a:avLst/>
          </a:prstGeom>
          <a:solidFill>
            <a:srgbClr val="0B1B29"/>
          </a:solidFill>
          <a:ln/>
        </p:spPr>
        <p:txBody>
          <a:bodyPr/>
          <a:p/>
        </p:txBody>
      </p:sp>
      <p:pic>
        <p:nvPicPr>
          <p:cNvPr id="12" name="Image 1" descr="/tmp/claude-0/-home-user-SMX-0226-Seguretat-Informatica/cec25c9b-7e93-584a-a64a-196540977a59/scratchpad/build/icons/chartline_F2A541.png">    </p:cNvPr>
          <p:cNvPicPr>
            <a:picLocks noChangeAspect="1"/>
          </p:cNvPicPr>
          <p:nvPr/>
        </p:nvPicPr>
        <p:blipFill>
          <a:blip r:embed="rId2"/>
          <a:stretch>
            <a:fillRect/>
          </a:stretch>
        </p:blipFill>
        <p:spPr>
          <a:xfrm>
            <a:off x="4884268" y="2240280"/>
            <a:ext cx="365760" cy="365760"/>
          </a:xfrm>
          <a:prstGeom prst="rect">
            <a:avLst/>
          </a:prstGeom>
        </p:spPr>
      </p:pic>
      <p:sp>
        <p:nvSpPr>
          <p:cNvPr id="13" name="Text 9"/>
          <p:cNvSpPr txBox="1"/>
          <p:nvPr/>
        </p:nvSpPr>
        <p:spPr>
          <a:xfrm>
            <a:off x="4655668" y="2971800"/>
            <a:ext cx="2880360" cy="731520"/>
          </a:xfrm>
          <a:prstGeom prst="rect">
            <a:avLst/>
          </a:prstGeom>
          <a:noFill/>
          <a:ln/>
        </p:spPr>
        <p:txBody>
          <a:bodyPr wrap="square" lIns="0" tIns="0" rIns="0" bIns="0" rtlCol="0" anchor="ctr"/>
          <a:lstStyle/>
          <a:p>
            <a:pPr indent="0" marL="0">
              <a:buNone/>
            </a:pPr>
            <a:r>
              <a:rPr lang="en-US" sz="1700" b="1" dirty="0">
                <a:solidFill>
                  <a:srgbClr val="16242E"/>
                </a:solidFill>
                <a:latin typeface="Cambria" pitchFamily="34" charset="0"/>
                <a:ea typeface="Cambria" pitchFamily="34" charset="-122"/>
                <a:cs typeface="Cambria" pitchFamily="34" charset="-120"/>
              </a:rPr>
              <a:t>Risc i impacte</a:t>
            </a:r>
            <a:endParaRPr lang="en-US" sz="1700" dirty="0"/>
          </a:p>
        </p:txBody>
      </p:sp>
      <p:sp>
        <p:nvSpPr>
          <p:cNvPr id="14" name="Text 10"/>
          <p:cNvSpPr txBox="1"/>
          <p:nvPr/>
        </p:nvSpPr>
        <p:spPr>
          <a:xfrm>
            <a:off x="4655668" y="3611880"/>
            <a:ext cx="2880360" cy="1828800"/>
          </a:xfrm>
          <a:prstGeom prst="rect">
            <a:avLst/>
          </a:prstGeom>
          <a:noFill/>
          <a:ln/>
        </p:spPr>
        <p:txBody>
          <a:bodyPr wrap="square" lIns="0" tIns="0" rIns="0" bIns="0" rtlCol="0" anchor="t"/>
          <a:lstStyle/>
          <a:p>
            <a:pPr indent="0" marL="0">
              <a:lnSpc>
                <a:spcPts val="1600"/>
              </a:lnSpc>
              <a:buNone/>
            </a:pPr>
            <a:r>
              <a:rPr lang="en-US" sz="1250" dirty="0">
                <a:solidFill>
                  <a:srgbClr val="5B6B77"/>
                </a:solidFill>
                <a:latin typeface="Calibri" pitchFamily="34" charset="0"/>
                <a:ea typeface="Calibri" pitchFamily="34" charset="-122"/>
                <a:cs typeface="Calibri" pitchFamily="34" charset="-120"/>
              </a:rPr>
              <a:t>Com es calcula i prioritza el risc real d'una vulnerabilitat concreta.</a:t>
            </a:r>
            <a:endParaRPr lang="en-US" sz="1250" dirty="0"/>
          </a:p>
        </p:txBody>
      </p:sp>
      <p:sp>
        <p:nvSpPr>
          <p:cNvPr id="15" name="Shape 11"/>
          <p:cNvSpPr/>
          <p:nvPr/>
        </p:nvSpPr>
        <p:spPr>
          <a:xfrm>
            <a:off x="8130388" y="1737360"/>
            <a:ext cx="3429000" cy="3840480"/>
          </a:xfrm>
          <a:prstGeom prst="roundRect">
            <a:avLst>
              <a:gd name="adj" fmla="val 3200"/>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16" name="Shape 12"/>
          <p:cNvSpPr/>
          <p:nvPr/>
        </p:nvSpPr>
        <p:spPr>
          <a:xfrm>
            <a:off x="8450428" y="2057400"/>
            <a:ext cx="731520" cy="731520"/>
          </a:xfrm>
          <a:prstGeom prst="ellipse">
            <a:avLst/>
          </a:prstGeom>
          <a:solidFill>
            <a:srgbClr val="0B1B29"/>
          </a:solidFill>
          <a:ln/>
        </p:spPr>
        <p:txBody>
          <a:bodyPr/>
          <a:p/>
        </p:txBody>
      </p:sp>
      <p:pic>
        <p:nvPicPr>
          <p:cNvPr id="17" name="Image 2" descr="/tmp/claude-0/-home-user-SMX-0226-Seguretat-Informatica/cec25c9b-7e93-584a-a64a-196540977a59/scratchpad/build/icons/search_F2A541.png">    </p:cNvPr>
          <p:cNvPicPr>
            <a:picLocks noChangeAspect="1"/>
          </p:cNvPicPr>
          <p:nvPr/>
        </p:nvPicPr>
        <p:blipFill>
          <a:blip r:embed="rId3"/>
          <a:stretch>
            <a:fillRect/>
          </a:stretch>
        </p:blipFill>
        <p:spPr>
          <a:xfrm>
            <a:off x="8633308" y="2240280"/>
            <a:ext cx="365760" cy="365760"/>
          </a:xfrm>
          <a:prstGeom prst="rect">
            <a:avLst/>
          </a:prstGeom>
        </p:spPr>
      </p:pic>
      <p:sp>
        <p:nvSpPr>
          <p:cNvPr id="18" name="Text 13"/>
          <p:cNvSpPr txBox="1"/>
          <p:nvPr/>
        </p:nvSpPr>
        <p:spPr>
          <a:xfrm>
            <a:off x="8404708" y="2971800"/>
            <a:ext cx="2880360" cy="731520"/>
          </a:xfrm>
          <a:prstGeom prst="rect">
            <a:avLst/>
          </a:prstGeom>
          <a:noFill/>
          <a:ln/>
        </p:spPr>
        <p:txBody>
          <a:bodyPr wrap="square" lIns="0" tIns="0" rIns="0" bIns="0" rtlCol="0" anchor="ctr"/>
          <a:lstStyle/>
          <a:p>
            <a:pPr indent="0" marL="0">
              <a:buNone/>
            </a:pPr>
            <a:r>
              <a:rPr lang="en-US" sz="1700" b="1" dirty="0">
                <a:solidFill>
                  <a:srgbClr val="16242E"/>
                </a:solidFill>
                <a:latin typeface="Cambria" pitchFamily="34" charset="0"/>
                <a:ea typeface="Cambria" pitchFamily="34" charset="-122"/>
                <a:cs typeface="Cambria" pitchFamily="34" charset="-120"/>
              </a:rPr>
              <a:t>Detecció i resposta</a:t>
            </a:r>
            <a:endParaRPr lang="en-US" sz="1700" dirty="0"/>
          </a:p>
        </p:txBody>
      </p:sp>
      <p:sp>
        <p:nvSpPr>
          <p:cNvPr id="19" name="Text 14"/>
          <p:cNvSpPr txBox="1"/>
          <p:nvPr/>
        </p:nvSpPr>
        <p:spPr>
          <a:xfrm>
            <a:off x="8404708" y="3611880"/>
            <a:ext cx="2880360" cy="1828800"/>
          </a:xfrm>
          <a:prstGeom prst="rect">
            <a:avLst/>
          </a:prstGeom>
          <a:noFill/>
          <a:ln/>
        </p:spPr>
        <p:txBody>
          <a:bodyPr wrap="square" lIns="0" tIns="0" rIns="0" bIns="0" rtlCol="0" anchor="t"/>
          <a:lstStyle/>
          <a:p>
            <a:pPr indent="0" marL="0">
              <a:lnSpc>
                <a:spcPts val="1600"/>
              </a:lnSpc>
              <a:buNone/>
            </a:pPr>
            <a:r>
              <a:rPr lang="en-US" sz="1250" dirty="0">
                <a:solidFill>
                  <a:srgbClr val="5B6B77"/>
                </a:solidFill>
                <a:latin typeface="Calibri" pitchFamily="34" charset="0"/>
                <a:ea typeface="Calibri" pitchFamily="34" charset="-122"/>
                <a:cs typeface="Calibri" pitchFamily="34" charset="-120"/>
              </a:rPr>
              <a:t>CVE, escàners, exploits, IDS/IPS i honeypots: com detectar i respondre a intrusions.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29"/>
        </a:solidFill>
      </p:bgPr>
    </p:bg>
    <p:spTree>
      <p:nvGrpSpPr>
        <p:cNvPr id="1" name=""/>
        <p:cNvGrpSpPr/>
        <p:nvPr/>
      </p:nvGrpSpPr>
      <p:grpSpPr>
        <a:xfrm>
          <a:off x="0" y="0"/>
          <a:ext cx="0" cy="0"/>
          <a:chOff x="0" y="0"/>
          <a:chExt cx="0" cy="0"/>
        </a:xfrm>
      </p:grpSpPr>
      <p:sp>
        <p:nvSpPr>
          <p:cNvPr id="2" name="Text 0"/>
          <p:cNvSpPr txBox="1"/>
          <p:nvPr/>
        </p:nvSpPr>
        <p:spPr>
          <a:xfrm>
            <a:off x="822960" y="54864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HO SABIES?</a:t>
            </a:r>
            <a:endParaRPr lang="en-US" sz="1300" dirty="0"/>
          </a:p>
        </p:txBody>
      </p:sp>
      <p:pic>
        <p:nvPicPr>
          <p:cNvPr id="3" name="Image 0" descr="/tmp/claude-0/-home-user-SMX-0226-Seguretat-Informatica/cec25c9b-7e93-584a-a64a-196540977a59/scratchpad/build/icons/warning_F2A541.png">    </p:cNvPr>
          <p:cNvPicPr>
            <a:picLocks noChangeAspect="1"/>
          </p:cNvPicPr>
          <p:nvPr/>
        </p:nvPicPr>
        <p:blipFill>
          <a:blip r:embed="rId1"/>
          <a:stretch>
            <a:fillRect/>
          </a:stretch>
        </p:blipFill>
        <p:spPr>
          <a:xfrm>
            <a:off x="10698480" y="502920"/>
            <a:ext cx="548640" cy="548640"/>
          </a:xfrm>
          <a:prstGeom prst="rect">
            <a:avLst/>
          </a:prstGeom>
        </p:spPr>
      </p:pic>
      <p:sp>
        <p:nvSpPr>
          <p:cNvPr id="4" name="Text 1"/>
          <p:cNvSpPr txBox="1"/>
          <p:nvPr/>
        </p:nvSpPr>
        <p:spPr>
          <a:xfrm>
            <a:off x="822960" y="960120"/>
            <a:ext cx="950976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Amenaça + vulnerabilitat = risc</a:t>
            </a:r>
            <a:endParaRPr lang="en-US" sz="3000" dirty="0"/>
          </a:p>
        </p:txBody>
      </p:sp>
      <p:sp>
        <p:nvSpPr>
          <p:cNvPr id="5" name="Text 2"/>
          <p:cNvSpPr txBox="1"/>
          <p:nvPr/>
        </p:nvSpPr>
        <p:spPr>
          <a:xfrm>
            <a:off x="822960" y="2286000"/>
            <a:ext cx="4937760" cy="365760"/>
          </a:xfrm>
          <a:prstGeom prst="rect">
            <a:avLst/>
          </a:prstGeom>
          <a:noFill/>
          <a:ln/>
        </p:spPr>
        <p:txBody>
          <a:bodyPr wrap="square" lIns="0" tIns="0" rIns="0" bIns="0" rtlCol="0" anchor="ctr"/>
          <a:lstStyle/>
          <a:p>
            <a:pPr indent="0" marL="0">
              <a:buNone/>
            </a:pPr>
            <a:r>
              <a:rPr lang="en-US" sz="1500" b="1" dirty="0">
                <a:solidFill>
                  <a:srgbClr val="F2A541"/>
                </a:solidFill>
                <a:latin typeface="Cambria" pitchFamily="34" charset="0"/>
                <a:ea typeface="Cambria" pitchFamily="34" charset="-122"/>
                <a:cs typeface="Cambria" pitchFamily="34" charset="-120"/>
              </a:rPr>
              <a:t>No sempre és intencionat</a:t>
            </a:r>
            <a:endParaRPr lang="en-US" sz="1500" dirty="0"/>
          </a:p>
        </p:txBody>
      </p:sp>
      <p:sp>
        <p:nvSpPr>
          <p:cNvPr id="6" name="Text 3"/>
          <p:cNvSpPr txBox="1"/>
          <p:nvPr/>
        </p:nvSpPr>
        <p:spPr>
          <a:xfrm>
            <a:off x="822960" y="2743200"/>
            <a:ext cx="4937760" cy="3200400"/>
          </a:xfrm>
          <a:prstGeom prst="rect">
            <a:avLst/>
          </a:prstGeom>
          <a:noFill/>
          <a:ln/>
        </p:spPr>
        <p:txBody>
          <a:bodyPr wrap="square" lIns="0" tIns="0" rIns="0" bIns="0" rtlCol="0" anchor="t"/>
          <a:lstStyle/>
          <a:p>
            <a:pPr indent="0" marL="0">
              <a:lnSpc>
                <a:spcPts val="2000"/>
              </a:lnSpc>
              <a:buNone/>
            </a:pPr>
            <a:r>
              <a:rPr lang="en-US" sz="1450" dirty="0">
                <a:solidFill>
                  <a:srgbClr val="CADCE8"/>
                </a:solidFill>
                <a:latin typeface="Calibri" pitchFamily="34" charset="0"/>
                <a:ea typeface="Calibri" pitchFamily="34" charset="-122"/>
                <a:cs typeface="Calibri" pitchFamily="34" charset="-120"/>
              </a:rPr>
              <a:t>Les amenaces no sempre són atacs deliberats: també cal considerar accidents o errors humans com a factors externs que posen en risc el sistema.</a:t>
            </a:r>
            <a:endParaRPr lang="en-US" sz="1450" dirty="0"/>
          </a:p>
        </p:txBody>
      </p:sp>
      <p:sp>
        <p:nvSpPr>
          <p:cNvPr id="7" name="Text 4"/>
          <p:cNvSpPr txBox="1"/>
          <p:nvPr/>
        </p:nvSpPr>
        <p:spPr>
          <a:xfrm>
            <a:off x="6035040" y="2286000"/>
            <a:ext cx="4937760" cy="365760"/>
          </a:xfrm>
          <a:prstGeom prst="rect">
            <a:avLst/>
          </a:prstGeom>
          <a:noFill/>
          <a:ln/>
        </p:spPr>
        <p:txBody>
          <a:bodyPr wrap="square" lIns="0" tIns="0" rIns="0" bIns="0" rtlCol="0" anchor="ctr"/>
          <a:lstStyle/>
          <a:p>
            <a:pPr indent="0" marL="0">
              <a:buNone/>
            </a:pPr>
            <a:r>
              <a:rPr lang="en-US" sz="1500" b="1" dirty="0">
                <a:solidFill>
                  <a:srgbClr val="F2A541"/>
                </a:solidFill>
                <a:latin typeface="Cambria" pitchFamily="34" charset="0"/>
                <a:ea typeface="Cambria" pitchFamily="34" charset="-122"/>
                <a:cs typeface="Cambria" pitchFamily="34" charset="-120"/>
              </a:rPr>
              <a:t>El factor humà</a:t>
            </a:r>
            <a:endParaRPr lang="en-US" sz="1500" dirty="0"/>
          </a:p>
        </p:txBody>
      </p:sp>
      <p:sp>
        <p:nvSpPr>
          <p:cNvPr id="8" name="Text 5"/>
          <p:cNvSpPr txBox="1"/>
          <p:nvPr/>
        </p:nvSpPr>
        <p:spPr>
          <a:xfrm>
            <a:off x="6035040" y="2743200"/>
            <a:ext cx="4937760" cy="3200400"/>
          </a:xfrm>
          <a:prstGeom prst="rect">
            <a:avLst/>
          </a:prstGeom>
          <a:noFill/>
          <a:ln/>
        </p:spPr>
        <p:txBody>
          <a:bodyPr wrap="square" lIns="0" tIns="0" rIns="0" bIns="0" rtlCol="0" anchor="t"/>
          <a:lstStyle/>
          <a:p>
            <a:pPr indent="0" marL="0">
              <a:lnSpc>
                <a:spcPts val="2000"/>
              </a:lnSpc>
              <a:buNone/>
            </a:pPr>
            <a:r>
              <a:rPr lang="en-US" sz="1450" dirty="0">
                <a:solidFill>
                  <a:srgbClr val="CADCE8"/>
                </a:solidFill>
                <a:latin typeface="Calibri" pitchFamily="34" charset="0"/>
                <a:ea typeface="Calibri" pitchFamily="34" charset="-122"/>
                <a:cs typeface="Calibri" pitchFamily="34" charset="-120"/>
              </a:rPr>
              <a:t>Bona part de les amenaces es basen en hàbits poc segurs: usar comptes d'administrador pel treball diari, obrir enllaços poc fiables, connectar pendrives desconeguts, no actualitzar el programari.</a:t>
            </a:r>
            <a:endParaRPr lang="en-US" sz="1450" dirty="0"/>
          </a:p>
        </p:txBody>
      </p:sp>
      <p:sp>
        <p:nvSpPr>
          <p:cNvPr id="9" name="Text 6"/>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CONCEPTES CLAU</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Amenaces i el seu efecte</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3</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3108960"/>
                <a:gridCol w="777240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Amenaça</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0B1B2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Efecte sobre el sistema</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0B1B29"/>
                    </a:solidFill>
                  </a:tcPr>
                </a:tc>
              </a:tr>
              <a:tr h="457200">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Interrupció</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Un recurs del sistema o de la xarxa deixa d'estar disponible.</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Intercepció</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4F7F9"/>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Un intrús accedeix a la informació del nostre equip o de la xarxa.</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4F7F9"/>
                    </a:solidFill>
                  </a:tcPr>
                </a:tc>
              </a:tr>
              <a:tr h="457200">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Modificació</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La informació ha estat alterada sense autorització.</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Fabricació</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4F7F9"/>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Es crea un producte fals (per exemple, una pàgina web) per robar informació.</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4F7F9"/>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EL PUNT FEBLE</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Vulnerabilitats i vulnerabilitats 0-day</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4</a:t>
            </a:r>
            <a:endParaRPr lang="en-US" sz="1100" dirty="0"/>
          </a:p>
        </p:txBody>
      </p:sp>
      <p:sp>
        <p:nvSpPr>
          <p:cNvPr id="5" name="Text 3"/>
          <p:cNvSpPr txBox="1"/>
          <p:nvPr/>
        </p:nvSpPr>
        <p:spPr>
          <a:xfrm>
            <a:off x="640080" y="1737360"/>
            <a:ext cx="10789920" cy="201168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500" dirty="0">
                <a:solidFill>
                  <a:srgbClr val="16242E"/>
                </a:solidFill>
                <a:latin typeface="Calibri" pitchFamily="34" charset="0"/>
                <a:ea typeface="Calibri" pitchFamily="34" charset="-122"/>
                <a:cs typeface="Calibri" pitchFamily="34" charset="-120"/>
              </a:rPr>
              <a:t>Una vulnerabilitat és un error en un sistema que permet violar la política de seguretat definida. Poden ser físiques o, més habitualment, del sistema operatiu o dels programes.</a:t>
            </a:r>
            <a:endParaRPr lang="en-US" sz="1500" dirty="0"/>
          </a:p>
          <a:p>
            <a:pPr marL="342900" indent="-342900">
              <a:lnSpc>
                <a:spcPts val="2000"/>
              </a:lnSpc>
              <a:spcAft>
                <a:spcPts val="1000"/>
              </a:spcAft>
              <a:buSzPct val="100000"/>
              <a:buChar char="▪"/>
            </a:pPr>
            <a:r>
              <a:rPr lang="en-US" sz="1500" dirty="0">
                <a:solidFill>
                  <a:srgbClr val="16242E"/>
                </a:solidFill>
                <a:latin typeface="Calibri" pitchFamily="34" charset="0"/>
                <a:ea typeface="Calibri" pitchFamily="34" charset="-122"/>
                <a:cs typeface="Calibri" pitchFamily="34" charset="-120"/>
              </a:rPr>
              <a:t>Cal una política proactiva: actualitzacions de SO, aplicacions i firmware; estar informat de noves vulnerabilitats; utilitzar escàners de vulnerabilitats.</a:t>
            </a:r>
            <a:endParaRPr lang="en-US" sz="1500" dirty="0"/>
          </a:p>
        </p:txBody>
      </p:sp>
      <p:sp>
        <p:nvSpPr>
          <p:cNvPr id="6" name="Shape 4"/>
          <p:cNvSpPr/>
          <p:nvPr/>
        </p:nvSpPr>
        <p:spPr>
          <a:xfrm>
            <a:off x="640080" y="4206240"/>
            <a:ext cx="10789920" cy="1188720"/>
          </a:xfrm>
          <a:prstGeom prst="roundRect">
            <a:avLst>
              <a:gd name="adj" fmla="val 7692"/>
            </a:avLst>
          </a:prstGeom>
          <a:solidFill>
            <a:srgbClr val="13293D"/>
          </a:solidFill>
          <a:ln/>
        </p:spPr>
        <p:txBody>
          <a:bodyPr/>
          <a:p/>
        </p:txBody>
      </p:sp>
      <p:pic>
        <p:nvPicPr>
          <p:cNvPr id="7" name="Image 0" descr="/tmp/claude-0/-home-user-SMX-0226-Seguretat-Informatica/cec25c9b-7e93-584a-a64a-196540977a59/scratchpad/build/icons/warning_F2A541.png">    </p:cNvPr>
          <p:cNvPicPr>
            <a:picLocks noChangeAspect="1"/>
          </p:cNvPicPr>
          <p:nvPr/>
        </p:nvPicPr>
        <p:blipFill>
          <a:blip r:embed="rId1"/>
          <a:stretch>
            <a:fillRect/>
          </a:stretch>
        </p:blipFill>
        <p:spPr>
          <a:xfrm>
            <a:off x="914400" y="4572000"/>
            <a:ext cx="457200" cy="457200"/>
          </a:xfrm>
          <a:prstGeom prst="rect">
            <a:avLst/>
          </a:prstGeom>
        </p:spPr>
      </p:pic>
      <p:sp>
        <p:nvSpPr>
          <p:cNvPr id="8" name="Text 5"/>
          <p:cNvSpPr txBox="1"/>
          <p:nvPr/>
        </p:nvSpPr>
        <p:spPr>
          <a:xfrm>
            <a:off x="1554480" y="4343400"/>
            <a:ext cx="9601200" cy="91440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Vulnerabilitat 0-day: encara no ha estat reportada, per la qual cosa no existeix cap solució ni actualització que la corregeixi. Especialment perillosa.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CATALOGACIÓ</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CVE: el registre mundial de vulnerabilitats</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5</a:t>
            </a:r>
            <a:endParaRPr lang="en-US" sz="1100" dirty="0"/>
          </a:p>
        </p:txBody>
      </p:sp>
      <p:sp>
        <p:nvSpPr>
          <p:cNvPr id="5" name="Text 3"/>
          <p:cNvSpPr txBox="1"/>
          <p:nvPr/>
        </p:nvSpPr>
        <p:spPr>
          <a:xfrm>
            <a:off x="640080" y="1737360"/>
            <a:ext cx="10789920" cy="201168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500" dirty="0">
                <a:solidFill>
                  <a:srgbClr val="16242E"/>
                </a:solidFill>
                <a:latin typeface="Calibri" pitchFamily="34" charset="0"/>
                <a:ea typeface="Calibri" pitchFamily="34" charset="-122"/>
                <a:cs typeface="Calibri" pitchFamily="34" charset="-120"/>
              </a:rPr>
              <a:t>La base de dades CVE-Mitre (Common Vulnerabilities and Exposures) assigna un identificador únic amb el format CVE-AAAA-NNNNN a cada vulnerabilitat coneguda.</a:t>
            </a:r>
            <a:endParaRPr lang="en-US" sz="1500" dirty="0"/>
          </a:p>
          <a:p>
            <a:pPr marL="342900" indent="-342900">
              <a:lnSpc>
                <a:spcPts val="2000"/>
              </a:lnSpc>
              <a:spcAft>
                <a:spcPts val="1000"/>
              </a:spcAft>
              <a:buSzPct val="100000"/>
              <a:buChar char="▪"/>
            </a:pPr>
            <a:r>
              <a:rPr lang="en-US" sz="1500" dirty="0">
                <a:solidFill>
                  <a:srgbClr val="16242E"/>
                </a:solidFill>
                <a:latin typeface="Calibri" pitchFamily="34" charset="0"/>
                <a:ea typeface="Calibri" pitchFamily="34" charset="-122"/>
                <a:cs typeface="Calibri" pitchFamily="34" charset="-120"/>
              </a:rPr>
              <a:t>Es classifiquen per gravetat (Low/Medium/High/Critical) i amb el sistema CVSS: una puntuació numèrica de 0 a 10.</a:t>
            </a:r>
            <a:endParaRPr lang="en-US" sz="1500" dirty="0"/>
          </a:p>
        </p:txBody>
      </p:sp>
      <p:sp>
        <p:nvSpPr>
          <p:cNvPr id="6" name="Shape 4"/>
          <p:cNvSpPr/>
          <p:nvPr/>
        </p:nvSpPr>
        <p:spPr>
          <a:xfrm>
            <a:off x="640080" y="3931920"/>
            <a:ext cx="10789920" cy="1463040"/>
          </a:xfrm>
          <a:prstGeom prst="roundRect">
            <a:avLst>
              <a:gd name="adj" fmla="val 6250"/>
            </a:avLst>
          </a:prstGeom>
          <a:solidFill>
            <a:srgbClr val="13293D"/>
          </a:solidFill>
          <a:ln/>
        </p:spPr>
        <p:txBody>
          <a:bodyPr/>
          <a:p/>
        </p:txBody>
      </p:sp>
      <p:pic>
        <p:nvPicPr>
          <p:cNvPr id="7" name="Image 0" descr="/tmp/claude-0/-home-user-SMX-0226-Seguretat-Informatica/cec25c9b-7e93-584a-a64a-196540977a59/scratchpad/build/icons/bulb_F2A541.png">    </p:cNvPr>
          <p:cNvPicPr>
            <a:picLocks noChangeAspect="1"/>
          </p:cNvPicPr>
          <p:nvPr/>
        </p:nvPicPr>
        <p:blipFill>
          <a:blip r:embed="rId1"/>
          <a:stretch>
            <a:fillRect/>
          </a:stretch>
        </p:blipFill>
        <p:spPr>
          <a:xfrm>
            <a:off x="914400" y="4434840"/>
            <a:ext cx="457200" cy="457200"/>
          </a:xfrm>
          <a:prstGeom prst="rect">
            <a:avLst/>
          </a:prstGeom>
        </p:spPr>
      </p:pic>
      <p:sp>
        <p:nvSpPr>
          <p:cNvPr id="8" name="Text 5"/>
          <p:cNvSpPr txBox="1"/>
          <p:nvPr/>
        </p:nvSpPr>
        <p:spPr>
          <a:xfrm>
            <a:off x="1554480" y="4069080"/>
            <a:ext cx="9601200" cy="118872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Score (0,0-10,0): calculat tècnicament (dificultat d'explotació, privilegis necessaris, impacte real). Gravetat: etiqueta de text que ajuda els equips humans a valorar la urgència sense analitzar els decimals.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PRIORITZAR</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Risc = Probabilitat × Impacte</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6</a:t>
            </a:r>
            <a:endParaRPr lang="en-US" sz="1100" dirty="0"/>
          </a:p>
        </p:txBody>
      </p:sp>
      <p:sp>
        <p:nvSpPr>
          <p:cNvPr id="5" name="Shape 3"/>
          <p:cNvSpPr/>
          <p:nvPr/>
        </p:nvSpPr>
        <p:spPr>
          <a:xfrm>
            <a:off x="640080" y="1737360"/>
            <a:ext cx="10789920" cy="1005840"/>
          </a:xfrm>
          <a:prstGeom prst="roundRect">
            <a:avLst>
              <a:gd name="adj" fmla="val 9091"/>
            </a:avLst>
          </a:prstGeom>
          <a:solidFill>
            <a:srgbClr val="0B1B29"/>
          </a:solidFill>
          <a:ln/>
        </p:spPr>
        <p:txBody>
          <a:bodyPr/>
          <a:p/>
        </p:txBody>
      </p:sp>
      <p:pic>
        <p:nvPicPr>
          <p:cNvPr id="6" name="Image 0" descr="/tmp/claude-0/-home-user-SMX-0226-Seguretat-Informatica/cec25c9b-7e93-584a-a64a-196540977a59/scratchpad/build/icons/chartline_F2A541.png">    </p:cNvPr>
          <p:cNvPicPr>
            <a:picLocks noChangeAspect="1"/>
          </p:cNvPicPr>
          <p:nvPr/>
        </p:nvPicPr>
        <p:blipFill>
          <a:blip r:embed="rId1"/>
          <a:stretch>
            <a:fillRect/>
          </a:stretch>
        </p:blipFill>
        <p:spPr>
          <a:xfrm>
            <a:off x="914400" y="2011680"/>
            <a:ext cx="457200" cy="457200"/>
          </a:xfrm>
          <a:prstGeom prst="rect">
            <a:avLst/>
          </a:prstGeom>
        </p:spPr>
      </p:pic>
      <p:sp>
        <p:nvSpPr>
          <p:cNvPr id="7" name="Text 4"/>
          <p:cNvSpPr txBox="1"/>
          <p:nvPr/>
        </p:nvSpPr>
        <p:spPr>
          <a:xfrm>
            <a:off x="1554480" y="1874520"/>
            <a:ext cx="9601200" cy="73152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El risc total d'una organització depèn de la combinació d'ambdós factors: un impacte catastròfic amb probabilitat gairebé zero es considera un risc baix.</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3017520"/>
          <a:ext cx="10881360" cy="914400"/>
        </p:xfrm>
        <a:graphic>
          <a:graphicData uri="http://schemas.openxmlformats.org/drawingml/2006/table">
            <a:tbl>
              <a:tblPr/>
              <a:tblGrid>
                <a:gridCol w="2743200"/>
                <a:gridCol w="4023360"/>
                <a:gridCol w="411480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Escenari</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0B1B2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Impacte</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0B1B29"/>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Probabilitat → Risc</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0B1B29"/>
                    </a:solidFill>
                  </a:tcPr>
                </a:tc>
              </a:tr>
              <a:tr h="457200">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Ordinador de recepció sense contrasenya, a la vista de tothom</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ALT (historial mèdic confidencial)</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ALTA → Risc ALT</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El mateix ordinador, dins un despatx tancat amb clau</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4F7F9"/>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ALT (mateixes dades)</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4F7F9"/>
                    </a:solidFill>
                  </a:tcPr>
                </a:tc>
                <a:tc>
                  <a:txBody>
                    <a:bodyPr/>
                    <a:lstStyle/>
                    <a:p>
                      <a:pPr algn="l" indent="0" marL="0">
                        <a:buNone/>
                      </a:pPr>
                      <a:r>
                        <a:rPr lang="en-US" sz="1200" dirty="0">
                          <a:solidFill>
                            <a:srgbClr val="16242E"/>
                          </a:solidFill>
                          <a:latin typeface="Calibri" pitchFamily="34" charset="0"/>
                          <a:ea typeface="Calibri" pitchFamily="34" charset="-122"/>
                          <a:cs typeface="Calibri" pitchFamily="34" charset="-120"/>
                        </a:rPr>
                        <a:t>BAIXA → Risc BAIX</a:t>
                      </a:r>
                      <a:endParaRPr lang="en-US" sz="1200" dirty="0">
                        <a:latin typeface="Calibri" charset="0"/>
                        <a:ea typeface="Calibri" charset="0"/>
                        <a:cs typeface="Calibri"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solidFill>
                      <a:srgbClr val="F4F7F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APROFITANT EL PUNT FEBLE</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Exploits i pentesting</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7</a:t>
            </a:r>
            <a:endParaRPr lang="en-US" sz="1100" dirty="0"/>
          </a:p>
        </p:txBody>
      </p:sp>
      <p:sp>
        <p:nvSpPr>
          <p:cNvPr id="5" name="Shape 3"/>
          <p:cNvSpPr/>
          <p:nvPr/>
        </p:nvSpPr>
        <p:spPr>
          <a:xfrm>
            <a:off x="655168" y="1737360"/>
            <a:ext cx="5212080" cy="3931920"/>
          </a:xfrm>
          <a:prstGeom prst="roundRect">
            <a:avLst>
              <a:gd name="adj" fmla="val 2791"/>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6" name="Shape 4"/>
          <p:cNvSpPr/>
          <p:nvPr/>
        </p:nvSpPr>
        <p:spPr>
          <a:xfrm>
            <a:off x="1020928" y="2103120"/>
            <a:ext cx="822960" cy="822960"/>
          </a:xfrm>
          <a:prstGeom prst="ellipse">
            <a:avLst/>
          </a:prstGeom>
          <a:solidFill>
            <a:srgbClr val="0B1B29"/>
          </a:solidFill>
          <a:ln/>
        </p:spPr>
        <p:txBody>
          <a:bodyPr/>
          <a:p/>
        </p:txBody>
      </p:sp>
      <p:pic>
        <p:nvPicPr>
          <p:cNvPr id="7" name="Image 0" descr="/tmp/claude-0/-home-user-SMX-0226-Seguretat-Informatica/cec25c9b-7e93-584a-a64a-196540977a59/scratchpad/build/icons/unlock_F2A541.png">    </p:cNvPr>
          <p:cNvPicPr>
            <a:picLocks noChangeAspect="1"/>
          </p:cNvPicPr>
          <p:nvPr/>
        </p:nvPicPr>
        <p:blipFill>
          <a:blip r:embed="rId1"/>
          <a:stretch>
            <a:fillRect/>
          </a:stretch>
        </p:blipFill>
        <p:spPr>
          <a:xfrm>
            <a:off x="1231240" y="2313432"/>
            <a:ext cx="402336" cy="402336"/>
          </a:xfrm>
          <a:prstGeom prst="rect">
            <a:avLst/>
          </a:prstGeom>
        </p:spPr>
      </p:pic>
      <p:sp>
        <p:nvSpPr>
          <p:cNvPr id="8" name="Text 5"/>
          <p:cNvSpPr txBox="1"/>
          <p:nvPr/>
        </p:nvSpPr>
        <p:spPr>
          <a:xfrm>
            <a:off x="1020928" y="3108960"/>
            <a:ext cx="4480560" cy="457200"/>
          </a:xfrm>
          <a:prstGeom prst="rect">
            <a:avLst/>
          </a:prstGeom>
          <a:noFill/>
          <a:ln/>
        </p:spPr>
        <p:txBody>
          <a:bodyPr wrap="square" lIns="0" tIns="0" rIns="0" bIns="0" rtlCol="0" anchor="ctr"/>
          <a:lstStyle/>
          <a:p>
            <a:pPr indent="0" marL="0">
              <a:buNone/>
            </a:pPr>
            <a:r>
              <a:rPr lang="en-US" sz="1900" b="1" dirty="0">
                <a:solidFill>
                  <a:srgbClr val="16242E"/>
                </a:solidFill>
                <a:latin typeface="Cambria" pitchFamily="34" charset="0"/>
                <a:ea typeface="Cambria" pitchFamily="34" charset="-122"/>
                <a:cs typeface="Cambria" pitchFamily="34" charset="-120"/>
              </a:rPr>
              <a:t>Exploits</a:t>
            </a:r>
            <a:endParaRPr lang="en-US" sz="1900" dirty="0"/>
          </a:p>
        </p:txBody>
      </p:sp>
      <p:sp>
        <p:nvSpPr>
          <p:cNvPr id="9" name="Text 6"/>
          <p:cNvSpPr txBox="1"/>
          <p:nvPr/>
        </p:nvSpPr>
        <p:spPr>
          <a:xfrm>
            <a:off x="1020928" y="3611880"/>
            <a:ext cx="4480560" cy="1920240"/>
          </a:xfrm>
          <a:prstGeom prst="rect">
            <a:avLst/>
          </a:prstGeom>
          <a:noFill/>
          <a:ln/>
        </p:spPr>
        <p:txBody>
          <a:bodyPr wrap="square" lIns="0" tIns="0" rIns="0" bIns="0" rtlCol="0" anchor="t"/>
          <a:lstStyle/>
          <a:p>
            <a:pPr indent="0" marL="0">
              <a:lnSpc>
                <a:spcPts val="1700"/>
              </a:lnSpc>
              <a:buNone/>
            </a:pPr>
            <a:r>
              <a:rPr lang="en-US" sz="1350" dirty="0">
                <a:solidFill>
                  <a:srgbClr val="5B6B77"/>
                </a:solidFill>
                <a:latin typeface="Calibri" pitchFamily="34" charset="0"/>
                <a:ea typeface="Calibri" pitchFamily="34" charset="-122"/>
                <a:cs typeface="Calibri" pitchFamily="34" charset="-120"/>
              </a:rPr>
              <a:t>Programes o tècniques que aprofiten una vulnerabilitat per aconseguir accés. Poden ser locals (cal accés físic) o remots (a través de la xarxa). Bases de dades com exploit-db en recopilen milers.</a:t>
            </a:r>
            <a:endParaRPr lang="en-US" sz="1350" dirty="0"/>
          </a:p>
        </p:txBody>
      </p:sp>
      <p:sp>
        <p:nvSpPr>
          <p:cNvPr id="10" name="Shape 7"/>
          <p:cNvSpPr/>
          <p:nvPr/>
        </p:nvSpPr>
        <p:spPr>
          <a:xfrm>
            <a:off x="6324448" y="1737360"/>
            <a:ext cx="5212080" cy="3931920"/>
          </a:xfrm>
          <a:prstGeom prst="roundRect">
            <a:avLst>
              <a:gd name="adj" fmla="val 2791"/>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11" name="Shape 8"/>
          <p:cNvSpPr/>
          <p:nvPr/>
        </p:nvSpPr>
        <p:spPr>
          <a:xfrm>
            <a:off x="6690208" y="2103120"/>
            <a:ext cx="822960" cy="822960"/>
          </a:xfrm>
          <a:prstGeom prst="ellipse">
            <a:avLst/>
          </a:prstGeom>
          <a:solidFill>
            <a:srgbClr val="0B1B29"/>
          </a:solidFill>
          <a:ln/>
        </p:spPr>
        <p:txBody>
          <a:bodyPr/>
          <a:p/>
        </p:txBody>
      </p:sp>
      <p:pic>
        <p:nvPicPr>
          <p:cNvPr id="12" name="Image 1" descr="/tmp/claude-0/-home-user-SMX-0226-Seguretat-Informatica/cec25c9b-7e93-584a-a64a-196540977a59/scratchpad/build/icons/search_F2A541.png">    </p:cNvPr>
          <p:cNvPicPr>
            <a:picLocks noChangeAspect="1"/>
          </p:cNvPicPr>
          <p:nvPr/>
        </p:nvPicPr>
        <p:blipFill>
          <a:blip r:embed="rId2"/>
          <a:stretch>
            <a:fillRect/>
          </a:stretch>
        </p:blipFill>
        <p:spPr>
          <a:xfrm>
            <a:off x="6900520" y="2313432"/>
            <a:ext cx="402336" cy="402336"/>
          </a:xfrm>
          <a:prstGeom prst="rect">
            <a:avLst/>
          </a:prstGeom>
        </p:spPr>
      </p:pic>
      <p:sp>
        <p:nvSpPr>
          <p:cNvPr id="13" name="Text 9"/>
          <p:cNvSpPr txBox="1"/>
          <p:nvPr/>
        </p:nvSpPr>
        <p:spPr>
          <a:xfrm>
            <a:off x="6690208" y="3108960"/>
            <a:ext cx="4480560" cy="457200"/>
          </a:xfrm>
          <a:prstGeom prst="rect">
            <a:avLst/>
          </a:prstGeom>
          <a:noFill/>
          <a:ln/>
        </p:spPr>
        <p:txBody>
          <a:bodyPr wrap="square" lIns="0" tIns="0" rIns="0" bIns="0" rtlCol="0" anchor="ctr"/>
          <a:lstStyle/>
          <a:p>
            <a:pPr indent="0" marL="0">
              <a:buNone/>
            </a:pPr>
            <a:r>
              <a:rPr lang="en-US" sz="1900" b="1" dirty="0">
                <a:solidFill>
                  <a:srgbClr val="16242E"/>
                </a:solidFill>
                <a:latin typeface="Cambria" pitchFamily="34" charset="0"/>
                <a:ea typeface="Cambria" pitchFamily="34" charset="-122"/>
                <a:cs typeface="Cambria" pitchFamily="34" charset="-120"/>
              </a:rPr>
              <a:t>Pentesting</a:t>
            </a:r>
            <a:endParaRPr lang="en-US" sz="1900" dirty="0"/>
          </a:p>
        </p:txBody>
      </p:sp>
      <p:sp>
        <p:nvSpPr>
          <p:cNvPr id="14" name="Text 10"/>
          <p:cNvSpPr txBox="1"/>
          <p:nvPr/>
        </p:nvSpPr>
        <p:spPr>
          <a:xfrm>
            <a:off x="6690208" y="3611880"/>
            <a:ext cx="4480560" cy="1920240"/>
          </a:xfrm>
          <a:prstGeom prst="rect">
            <a:avLst/>
          </a:prstGeom>
          <a:noFill/>
          <a:ln/>
        </p:spPr>
        <p:txBody>
          <a:bodyPr wrap="square" lIns="0" tIns="0" rIns="0" bIns="0" rtlCol="0" anchor="t"/>
          <a:lstStyle/>
          <a:p>
            <a:pPr indent="0" marL="0">
              <a:lnSpc>
                <a:spcPts val="1700"/>
              </a:lnSpc>
              <a:buNone/>
            </a:pPr>
            <a:r>
              <a:rPr lang="en-US" sz="1350" dirty="0">
                <a:solidFill>
                  <a:srgbClr val="5B6B77"/>
                </a:solidFill>
                <a:latin typeface="Calibri" pitchFamily="34" charset="0"/>
                <a:ea typeface="Calibri" pitchFamily="34" charset="-122"/>
                <a:cs typeface="Calibri" pitchFamily="34" charset="-120"/>
              </a:rPr>
              <a:t>Proves de penetració: atacs controlats a un sistema o organització per trobar-hi vulnerabilitats i determinar la viabilitat i l'impacte real d'un atac abans que ho faci un adversari real.</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PRÀCTICA REAL</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Escàners de xarxa: detectant serveis exposats</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8</a:t>
            </a:r>
            <a:endParaRPr lang="en-US" sz="1100" dirty="0"/>
          </a:p>
        </p:txBody>
      </p:sp>
      <p:sp>
        <p:nvSpPr>
          <p:cNvPr id="5" name="Text 3"/>
          <p:cNvSpPr txBox="1"/>
          <p:nvPr/>
        </p:nvSpPr>
        <p:spPr>
          <a:xfrm>
            <a:off x="640080" y="1737360"/>
            <a:ext cx="10789920" cy="146304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500" dirty="0">
                <a:solidFill>
                  <a:srgbClr val="16242E"/>
                </a:solidFill>
                <a:latin typeface="Calibri" pitchFamily="34" charset="0"/>
                <a:ea typeface="Calibri" pitchFamily="34" charset="-122"/>
                <a:cs typeface="Calibri" pitchFamily="34" charset="-120"/>
              </a:rPr>
              <a:t>Un escàner com Nmap envia paquets a un rang d'adreces IP i ports per descobrir quins serveis estan actius i escoltant, sense necessitat que el sistema objectiu tingui cap agent instal·lat.</a:t>
            </a:r>
            <a:endParaRPr lang="en-US" sz="1500" dirty="0"/>
          </a:p>
        </p:txBody>
      </p:sp>
      <p:sp>
        <p:nvSpPr>
          <p:cNvPr id="6" name="Shape 4"/>
          <p:cNvSpPr/>
          <p:nvPr/>
        </p:nvSpPr>
        <p:spPr>
          <a:xfrm>
            <a:off x="640080" y="3291840"/>
            <a:ext cx="10789920" cy="2377440"/>
          </a:xfrm>
          <a:prstGeom prst="roundRect">
            <a:avLst>
              <a:gd name="adj" fmla="val 3846"/>
            </a:avLst>
          </a:prstGeom>
          <a:solidFill>
            <a:srgbClr val="0B1B29"/>
          </a:solidFill>
          <a:ln/>
        </p:spPr>
        <p:txBody>
          <a:bodyPr/>
          <a:p/>
        </p:txBody>
      </p:sp>
      <p:pic>
        <p:nvPicPr>
          <p:cNvPr id="7" name="Image 0" descr="/tmp/claude-0/-home-user-SMX-0226-Seguretat-Informatica/cec25c9b-7e93-584a-a64a-196540977a59/scratchpad/build/icons/terminal_F2A541.png">    </p:cNvPr>
          <p:cNvPicPr>
            <a:picLocks noChangeAspect="1"/>
          </p:cNvPicPr>
          <p:nvPr/>
        </p:nvPicPr>
        <p:blipFill>
          <a:blip r:embed="rId1"/>
          <a:stretch>
            <a:fillRect/>
          </a:stretch>
        </p:blipFill>
        <p:spPr>
          <a:xfrm>
            <a:off x="914400" y="4251960"/>
            <a:ext cx="457200" cy="457200"/>
          </a:xfrm>
          <a:prstGeom prst="rect">
            <a:avLst/>
          </a:prstGeom>
        </p:spPr>
      </p:pic>
      <p:sp>
        <p:nvSpPr>
          <p:cNvPr id="8" name="Text 5"/>
          <p:cNvSpPr txBox="1"/>
          <p:nvPr/>
        </p:nvSpPr>
        <p:spPr>
          <a:xfrm>
            <a:off x="1554480" y="3429000"/>
            <a:ext cx="9601200" cy="210312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"nmap --top-ports 20 -sV -Pn 127.0.0.1" escaneja els 20 ports més habituals (FTP, SSH, HTTP, RDP, VNC, MySQL...) i informa de l'estat de cadascun: obert, tancat o filtrat. Un sistema ben protegit hauria de mostrar només els serveis estrictament necessaris com a "obert".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DETECTAR LA INTRUSIÓ</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IDS/IPS: sistemes de detecció i prevenció</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9</a:t>
            </a:r>
            <a:endParaRPr lang="en-US" sz="1100" dirty="0"/>
          </a:p>
        </p:txBody>
      </p:sp>
      <p:sp>
        <p:nvSpPr>
          <p:cNvPr id="5" name="Shape 3"/>
          <p:cNvSpPr/>
          <p:nvPr/>
        </p:nvSpPr>
        <p:spPr>
          <a:xfrm>
            <a:off x="655168" y="1737360"/>
            <a:ext cx="5212080" cy="3931920"/>
          </a:xfrm>
          <a:prstGeom prst="roundRect">
            <a:avLst>
              <a:gd name="adj" fmla="val 2791"/>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6" name="Shape 4"/>
          <p:cNvSpPr/>
          <p:nvPr/>
        </p:nvSpPr>
        <p:spPr>
          <a:xfrm>
            <a:off x="1020928" y="2103120"/>
            <a:ext cx="822960" cy="822960"/>
          </a:xfrm>
          <a:prstGeom prst="ellipse">
            <a:avLst/>
          </a:prstGeom>
          <a:solidFill>
            <a:srgbClr val="0B1B29"/>
          </a:solidFill>
          <a:ln/>
        </p:spPr>
        <p:txBody>
          <a:bodyPr/>
          <a:p/>
        </p:txBody>
      </p:sp>
      <p:pic>
        <p:nvPicPr>
          <p:cNvPr id="7" name="Image 0" descr="/tmp/claude-0/-home-user-SMX-0226-Seguretat-Informatica/cec25c9b-7e93-584a-a64a-196540977a59/scratchpad/build/icons/eye_F2A541.png">    </p:cNvPr>
          <p:cNvPicPr>
            <a:picLocks noChangeAspect="1"/>
          </p:cNvPicPr>
          <p:nvPr/>
        </p:nvPicPr>
        <p:blipFill>
          <a:blip r:embed="rId1"/>
          <a:stretch>
            <a:fillRect/>
          </a:stretch>
        </p:blipFill>
        <p:spPr>
          <a:xfrm>
            <a:off x="1231240" y="2313432"/>
            <a:ext cx="402336" cy="402336"/>
          </a:xfrm>
          <a:prstGeom prst="rect">
            <a:avLst/>
          </a:prstGeom>
        </p:spPr>
      </p:pic>
      <p:sp>
        <p:nvSpPr>
          <p:cNvPr id="8" name="Text 5"/>
          <p:cNvSpPr txBox="1"/>
          <p:nvPr/>
        </p:nvSpPr>
        <p:spPr>
          <a:xfrm>
            <a:off x="1020928" y="3108960"/>
            <a:ext cx="4480560" cy="457200"/>
          </a:xfrm>
          <a:prstGeom prst="rect">
            <a:avLst/>
          </a:prstGeom>
          <a:noFill/>
          <a:ln/>
        </p:spPr>
        <p:txBody>
          <a:bodyPr wrap="square" lIns="0" tIns="0" rIns="0" bIns="0" rtlCol="0" anchor="ctr"/>
          <a:lstStyle/>
          <a:p>
            <a:pPr indent="0" marL="0">
              <a:buNone/>
            </a:pPr>
            <a:r>
              <a:rPr lang="en-US" sz="1900" b="1" dirty="0">
                <a:solidFill>
                  <a:srgbClr val="16242E"/>
                </a:solidFill>
                <a:latin typeface="Cambria" pitchFamily="34" charset="0"/>
                <a:ea typeface="Cambria" pitchFamily="34" charset="-122"/>
                <a:cs typeface="Cambria" pitchFamily="34" charset="-120"/>
              </a:rPr>
              <a:t>IDS (Intrusion Detection)</a:t>
            </a:r>
            <a:endParaRPr lang="en-US" sz="1900" dirty="0"/>
          </a:p>
        </p:txBody>
      </p:sp>
      <p:sp>
        <p:nvSpPr>
          <p:cNvPr id="9" name="Text 6"/>
          <p:cNvSpPr txBox="1"/>
          <p:nvPr/>
        </p:nvSpPr>
        <p:spPr>
          <a:xfrm>
            <a:off x="1020928" y="3611880"/>
            <a:ext cx="4480560" cy="1920240"/>
          </a:xfrm>
          <a:prstGeom prst="rect">
            <a:avLst/>
          </a:prstGeom>
          <a:noFill/>
          <a:ln/>
        </p:spPr>
        <p:txBody>
          <a:bodyPr wrap="square" lIns="0" tIns="0" rIns="0" bIns="0" rtlCol="0" anchor="t"/>
          <a:lstStyle/>
          <a:p>
            <a:pPr indent="0" marL="0">
              <a:lnSpc>
                <a:spcPts val="1700"/>
              </a:lnSpc>
              <a:buNone/>
            </a:pPr>
            <a:r>
              <a:rPr lang="en-US" sz="1350" dirty="0">
                <a:solidFill>
                  <a:srgbClr val="5B6B77"/>
                </a:solidFill>
                <a:latin typeface="Calibri" pitchFamily="34" charset="0"/>
                <a:ea typeface="Calibri" pitchFamily="34" charset="-122"/>
                <a:cs typeface="Calibri" pitchFamily="34" charset="-120"/>
              </a:rPr>
              <a:t>Compara els paquets de xarxa amb una base de dades de ciberatacs coneguts i genera una alerta davant un positiu. Exemple: Suricata (xarxa), OSSEC/Wazuh (equip).</a:t>
            </a:r>
            <a:endParaRPr lang="en-US" sz="1350" dirty="0"/>
          </a:p>
        </p:txBody>
      </p:sp>
      <p:sp>
        <p:nvSpPr>
          <p:cNvPr id="10" name="Shape 7"/>
          <p:cNvSpPr/>
          <p:nvPr/>
        </p:nvSpPr>
        <p:spPr>
          <a:xfrm>
            <a:off x="6324448" y="1737360"/>
            <a:ext cx="5212080" cy="3931920"/>
          </a:xfrm>
          <a:prstGeom prst="roundRect">
            <a:avLst>
              <a:gd name="adj" fmla="val 2791"/>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11" name="Shape 8"/>
          <p:cNvSpPr/>
          <p:nvPr/>
        </p:nvSpPr>
        <p:spPr>
          <a:xfrm>
            <a:off x="6690208" y="2103120"/>
            <a:ext cx="822960" cy="822960"/>
          </a:xfrm>
          <a:prstGeom prst="ellipse">
            <a:avLst/>
          </a:prstGeom>
          <a:solidFill>
            <a:srgbClr val="0B1B29"/>
          </a:solidFill>
          <a:ln/>
        </p:spPr>
        <p:txBody>
          <a:bodyPr/>
          <a:p/>
        </p:txBody>
      </p:sp>
      <p:pic>
        <p:nvPicPr>
          <p:cNvPr id="12" name="Image 1" descr="/tmp/claude-0/-home-user-SMX-0226-Seguretat-Informatica/cec25c9b-7e93-584a-a64a-196540977a59/scratchpad/build/icons/shield_F2A541.png">    </p:cNvPr>
          <p:cNvPicPr>
            <a:picLocks noChangeAspect="1"/>
          </p:cNvPicPr>
          <p:nvPr/>
        </p:nvPicPr>
        <p:blipFill>
          <a:blip r:embed="rId2"/>
          <a:stretch>
            <a:fillRect/>
          </a:stretch>
        </p:blipFill>
        <p:spPr>
          <a:xfrm>
            <a:off x="6900520" y="2313432"/>
            <a:ext cx="402336" cy="402336"/>
          </a:xfrm>
          <a:prstGeom prst="rect">
            <a:avLst/>
          </a:prstGeom>
        </p:spPr>
      </p:pic>
      <p:sp>
        <p:nvSpPr>
          <p:cNvPr id="13" name="Text 9"/>
          <p:cNvSpPr txBox="1"/>
          <p:nvPr/>
        </p:nvSpPr>
        <p:spPr>
          <a:xfrm>
            <a:off x="6690208" y="3108960"/>
            <a:ext cx="4480560" cy="457200"/>
          </a:xfrm>
          <a:prstGeom prst="rect">
            <a:avLst/>
          </a:prstGeom>
          <a:noFill/>
          <a:ln/>
        </p:spPr>
        <p:txBody>
          <a:bodyPr wrap="square" lIns="0" tIns="0" rIns="0" bIns="0" rtlCol="0" anchor="ctr"/>
          <a:lstStyle/>
          <a:p>
            <a:pPr indent="0" marL="0">
              <a:buNone/>
            </a:pPr>
            <a:r>
              <a:rPr lang="en-US" sz="1900" b="1" dirty="0">
                <a:solidFill>
                  <a:srgbClr val="16242E"/>
                </a:solidFill>
                <a:latin typeface="Cambria" pitchFamily="34" charset="0"/>
                <a:ea typeface="Cambria" pitchFamily="34" charset="-122"/>
                <a:cs typeface="Cambria" pitchFamily="34" charset="-120"/>
              </a:rPr>
              <a:t>IPS (Intrusion Prevention)</a:t>
            </a:r>
            <a:endParaRPr lang="en-US" sz="1900" dirty="0"/>
          </a:p>
        </p:txBody>
      </p:sp>
      <p:sp>
        <p:nvSpPr>
          <p:cNvPr id="14" name="Text 10"/>
          <p:cNvSpPr txBox="1"/>
          <p:nvPr/>
        </p:nvSpPr>
        <p:spPr>
          <a:xfrm>
            <a:off x="6690208" y="3611880"/>
            <a:ext cx="4480560" cy="1920240"/>
          </a:xfrm>
          <a:prstGeom prst="rect">
            <a:avLst/>
          </a:prstGeom>
          <a:noFill/>
          <a:ln/>
        </p:spPr>
        <p:txBody>
          <a:bodyPr wrap="square" lIns="0" tIns="0" rIns="0" bIns="0" rtlCol="0" anchor="t"/>
          <a:lstStyle/>
          <a:p>
            <a:pPr indent="0" marL="0">
              <a:lnSpc>
                <a:spcPts val="1700"/>
              </a:lnSpc>
              <a:buNone/>
            </a:pPr>
            <a:r>
              <a:rPr lang="en-US" sz="1350" dirty="0">
                <a:solidFill>
                  <a:srgbClr val="5B6B77"/>
                </a:solidFill>
                <a:latin typeface="Calibri" pitchFamily="34" charset="0"/>
                <a:ea typeface="Calibri" pitchFamily="34" charset="-122"/>
                <a:cs typeface="Calibri" pitchFamily="34" charset="-120"/>
              </a:rPr>
              <a:t>A més de detectar, actua: denega el trànsit, bloqueja la connexió. Poden protegir un equip concret (HIDS) o tota la xarxa (NIDS).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UNA TRAMPA INTEL·LIGENT</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Honeypots</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10</a:t>
            </a:r>
            <a:endParaRPr lang="en-US" sz="1100" dirty="0"/>
          </a:p>
        </p:txBody>
      </p:sp>
      <p:sp>
        <p:nvSpPr>
          <p:cNvPr id="5" name="Shape 3"/>
          <p:cNvSpPr/>
          <p:nvPr/>
        </p:nvSpPr>
        <p:spPr>
          <a:xfrm>
            <a:off x="640080" y="1737360"/>
            <a:ext cx="10789920" cy="1645920"/>
          </a:xfrm>
          <a:prstGeom prst="roundRect">
            <a:avLst>
              <a:gd name="adj" fmla="val 5556"/>
            </a:avLst>
          </a:prstGeom>
          <a:solidFill>
            <a:srgbClr val="0B1B29"/>
          </a:solidFill>
          <a:ln/>
        </p:spPr>
        <p:txBody>
          <a:bodyPr/>
          <a:p/>
        </p:txBody>
      </p:sp>
      <p:pic>
        <p:nvPicPr>
          <p:cNvPr id="6" name="Image 0" descr="/tmp/claude-0/-home-user-SMX-0226-Seguretat-Informatica/cec25c9b-7e93-584a-a64a-196540977a59/scratchpad/build/icons/eye_F2A541.png">    </p:cNvPr>
          <p:cNvPicPr>
            <a:picLocks noChangeAspect="1"/>
          </p:cNvPicPr>
          <p:nvPr/>
        </p:nvPicPr>
        <p:blipFill>
          <a:blip r:embed="rId1"/>
          <a:stretch>
            <a:fillRect/>
          </a:stretch>
        </p:blipFill>
        <p:spPr>
          <a:xfrm>
            <a:off x="914400" y="2331720"/>
            <a:ext cx="457200" cy="457200"/>
          </a:xfrm>
          <a:prstGeom prst="rect">
            <a:avLst/>
          </a:prstGeom>
        </p:spPr>
      </p:pic>
      <p:sp>
        <p:nvSpPr>
          <p:cNvPr id="7" name="Text 4"/>
          <p:cNvSpPr txBox="1"/>
          <p:nvPr/>
        </p:nvSpPr>
        <p:spPr>
          <a:xfrm>
            <a:off x="1554480" y="1874520"/>
            <a:ext cx="9601200" cy="137160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Equips que simulen ser una víctima real, per registrar les accions de l'atacant, veure quins mètodes utilitza i, mentre l'atacant hi perd el temps, mantenir els sistemes reals fora de perill.</a:t>
            </a:r>
            <a:endParaRPr lang="en-US" sz="1350" dirty="0"/>
          </a:p>
        </p:txBody>
      </p:sp>
      <p:sp>
        <p:nvSpPr>
          <p:cNvPr id="8" name="Text 5"/>
          <p:cNvSpPr txBox="1"/>
          <p:nvPr/>
        </p:nvSpPr>
        <p:spPr>
          <a:xfrm>
            <a:off x="640080" y="3749040"/>
            <a:ext cx="10789920" cy="164592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500" dirty="0">
                <a:solidFill>
                  <a:srgbClr val="16242E"/>
                </a:solidFill>
                <a:latin typeface="Calibri" pitchFamily="34" charset="0"/>
                <a:ea typeface="Calibri" pitchFamily="34" charset="-122"/>
                <a:cs typeface="Calibri" pitchFamily="34" charset="-120"/>
              </a:rPr>
              <a:t>També pot permetre identificar l'atacant en alguns casos.</a:t>
            </a:r>
            <a:endParaRPr lang="en-US" sz="1500" dirty="0"/>
          </a:p>
          <a:p>
            <a:pPr marL="342900" indent="-342900">
              <a:lnSpc>
                <a:spcPts val="2000"/>
              </a:lnSpc>
              <a:spcAft>
                <a:spcPts val="1000"/>
              </a:spcAft>
              <a:buSzPct val="100000"/>
              <a:buChar char="▪"/>
            </a:pPr>
            <a:r>
              <a:rPr lang="en-US" sz="1500" dirty="0">
                <a:solidFill>
                  <a:srgbClr val="16242E"/>
                </a:solidFill>
                <a:latin typeface="Calibri" pitchFamily="34" charset="0"/>
                <a:ea typeface="Calibri" pitchFamily="34" charset="-122"/>
                <a:cs typeface="Calibri" pitchFamily="34" charset="-120"/>
              </a:rPr>
              <a:t>Exemples: T-Pot, FaPro.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SEMPRE ÚTIL</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Inspecció de logs</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11</a:t>
            </a:r>
            <a:endParaRPr lang="en-US" sz="1100" dirty="0"/>
          </a:p>
        </p:txBody>
      </p:sp>
      <p:sp>
        <p:nvSpPr>
          <p:cNvPr id="5" name="Shape 3"/>
          <p:cNvSpPr/>
          <p:nvPr/>
        </p:nvSpPr>
        <p:spPr>
          <a:xfrm>
            <a:off x="640080" y="2103120"/>
            <a:ext cx="10789920" cy="1645920"/>
          </a:xfrm>
          <a:prstGeom prst="roundRect">
            <a:avLst>
              <a:gd name="adj" fmla="val 5556"/>
            </a:avLst>
          </a:prstGeom>
          <a:solidFill>
            <a:srgbClr val="0B1B29"/>
          </a:solidFill>
          <a:ln/>
        </p:spPr>
        <p:txBody>
          <a:bodyPr/>
          <a:p/>
        </p:txBody>
      </p:sp>
      <p:pic>
        <p:nvPicPr>
          <p:cNvPr id="6" name="Image 0" descr="/tmp/claude-0/-home-user-SMX-0226-Seguretat-Informatica/cec25c9b-7e93-584a-a64a-196540977a59/scratchpad/build/icons/clipboard_F2A541.png">    </p:cNvPr>
          <p:cNvPicPr>
            <a:picLocks noChangeAspect="1"/>
          </p:cNvPicPr>
          <p:nvPr/>
        </p:nvPicPr>
        <p:blipFill>
          <a:blip r:embed="rId1"/>
          <a:stretch>
            <a:fillRect/>
          </a:stretch>
        </p:blipFill>
        <p:spPr>
          <a:xfrm>
            <a:off x="914400" y="2697480"/>
            <a:ext cx="457200" cy="457200"/>
          </a:xfrm>
          <a:prstGeom prst="rect">
            <a:avLst/>
          </a:prstGeom>
        </p:spPr>
      </p:pic>
      <p:sp>
        <p:nvSpPr>
          <p:cNvPr id="7" name="Text 4"/>
          <p:cNvSpPr txBox="1"/>
          <p:nvPr/>
        </p:nvSpPr>
        <p:spPr>
          <a:xfrm>
            <a:off x="1554480" y="2240280"/>
            <a:ext cx="9601200" cy="137160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La revisió dels logs no evita un atac, però permet determinar que s'ha patit un incident, i sobretot COM s'ha produït, cosa que permet prendre mesures perquè no torni a passar. Els atacants sovint intenten esborrar-los per eliminar-ne el rastre — però això mateix ja és un indici d'atac.</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PER ACABAR</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Idees clau d'avui</a:t>
            </a:r>
            <a:endParaRPr lang="en-US" sz="2800" dirty="0"/>
          </a:p>
        </p:txBody>
      </p:sp>
      <p:sp>
        <p:nvSpPr>
          <p:cNvPr id="4" name="Text 2"/>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12</a:t>
            </a:r>
            <a:endParaRPr lang="en-US" sz="1100" dirty="0"/>
          </a:p>
        </p:txBody>
      </p:sp>
      <p:sp>
        <p:nvSpPr>
          <p:cNvPr id="5" name="Shape 3"/>
          <p:cNvSpPr/>
          <p:nvPr/>
        </p:nvSpPr>
        <p:spPr>
          <a:xfrm>
            <a:off x="632308" y="1737360"/>
            <a:ext cx="3429000" cy="3840480"/>
          </a:xfrm>
          <a:prstGeom prst="roundRect">
            <a:avLst>
              <a:gd name="adj" fmla="val 3200"/>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6" name="Shape 4"/>
          <p:cNvSpPr/>
          <p:nvPr/>
        </p:nvSpPr>
        <p:spPr>
          <a:xfrm>
            <a:off x="952348" y="2057400"/>
            <a:ext cx="731520" cy="731520"/>
          </a:xfrm>
          <a:prstGeom prst="ellipse">
            <a:avLst/>
          </a:prstGeom>
          <a:solidFill>
            <a:srgbClr val="0B1B29"/>
          </a:solidFill>
          <a:ln/>
        </p:spPr>
        <p:txBody>
          <a:bodyPr/>
          <a:p/>
        </p:txBody>
      </p:sp>
      <p:pic>
        <p:nvPicPr>
          <p:cNvPr id="7" name="Image 0" descr="/tmp/claude-0/-home-user-SMX-0226-Seguretat-Informatica/cec25c9b-7e93-584a-a64a-196540977a59/scratchpad/build/icons/warning_F2A541.png">    </p:cNvPr>
          <p:cNvPicPr>
            <a:picLocks noChangeAspect="1"/>
          </p:cNvPicPr>
          <p:nvPr/>
        </p:nvPicPr>
        <p:blipFill>
          <a:blip r:embed="rId1"/>
          <a:stretch>
            <a:fillRect/>
          </a:stretch>
        </p:blipFill>
        <p:spPr>
          <a:xfrm>
            <a:off x="1135228" y="2240280"/>
            <a:ext cx="365760" cy="365760"/>
          </a:xfrm>
          <a:prstGeom prst="rect">
            <a:avLst/>
          </a:prstGeom>
        </p:spPr>
      </p:pic>
      <p:sp>
        <p:nvSpPr>
          <p:cNvPr id="8" name="Text 5"/>
          <p:cNvSpPr txBox="1"/>
          <p:nvPr/>
        </p:nvSpPr>
        <p:spPr>
          <a:xfrm>
            <a:off x="906628" y="2971800"/>
            <a:ext cx="2880360" cy="731520"/>
          </a:xfrm>
          <a:prstGeom prst="rect">
            <a:avLst/>
          </a:prstGeom>
          <a:noFill/>
          <a:ln/>
        </p:spPr>
        <p:txBody>
          <a:bodyPr wrap="square" lIns="0" tIns="0" rIns="0" bIns="0" rtlCol="0" anchor="ctr"/>
          <a:lstStyle/>
          <a:p>
            <a:pPr indent="0" marL="0">
              <a:buNone/>
            </a:pPr>
            <a:r>
              <a:rPr lang="en-US" sz="1700" b="1" dirty="0">
                <a:solidFill>
                  <a:srgbClr val="16242E"/>
                </a:solidFill>
                <a:latin typeface="Cambria" pitchFamily="34" charset="0"/>
                <a:ea typeface="Cambria" pitchFamily="34" charset="-122"/>
                <a:cs typeface="Cambria" pitchFamily="34" charset="-120"/>
              </a:rPr>
              <a:t>Amenaça + vulnerabilitat</a:t>
            </a:r>
            <a:endParaRPr lang="en-US" sz="1700" dirty="0"/>
          </a:p>
        </p:txBody>
      </p:sp>
      <p:sp>
        <p:nvSpPr>
          <p:cNvPr id="9" name="Text 6"/>
          <p:cNvSpPr txBox="1"/>
          <p:nvPr/>
        </p:nvSpPr>
        <p:spPr>
          <a:xfrm>
            <a:off x="906628" y="3611880"/>
            <a:ext cx="2880360" cy="1828800"/>
          </a:xfrm>
          <a:prstGeom prst="rect">
            <a:avLst/>
          </a:prstGeom>
          <a:noFill/>
          <a:ln/>
        </p:spPr>
        <p:txBody>
          <a:bodyPr wrap="square" lIns="0" tIns="0" rIns="0" bIns="0" rtlCol="0" anchor="t"/>
          <a:lstStyle/>
          <a:p>
            <a:pPr indent="0" marL="0">
              <a:lnSpc>
                <a:spcPts val="1600"/>
              </a:lnSpc>
              <a:buNone/>
            </a:pPr>
            <a:r>
              <a:rPr lang="en-US" sz="1250" dirty="0">
                <a:solidFill>
                  <a:srgbClr val="5B6B77"/>
                </a:solidFill>
                <a:latin typeface="Calibri" pitchFamily="34" charset="0"/>
                <a:ea typeface="Calibri" pitchFamily="34" charset="-122"/>
                <a:cs typeface="Calibri" pitchFamily="34" charset="-120"/>
              </a:rPr>
              <a:t>La combinació determina el risc; cal quantificar-lo (probabilitat × impacte) per prioritzar-lo bé.</a:t>
            </a:r>
            <a:endParaRPr lang="en-US" sz="1250" dirty="0"/>
          </a:p>
        </p:txBody>
      </p:sp>
      <p:sp>
        <p:nvSpPr>
          <p:cNvPr id="10" name="Shape 7"/>
          <p:cNvSpPr/>
          <p:nvPr/>
        </p:nvSpPr>
        <p:spPr>
          <a:xfrm>
            <a:off x="4381348" y="1737360"/>
            <a:ext cx="3429000" cy="3840480"/>
          </a:xfrm>
          <a:prstGeom prst="roundRect">
            <a:avLst>
              <a:gd name="adj" fmla="val 3200"/>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11" name="Shape 8"/>
          <p:cNvSpPr/>
          <p:nvPr/>
        </p:nvSpPr>
        <p:spPr>
          <a:xfrm>
            <a:off x="4701388" y="2057400"/>
            <a:ext cx="731520" cy="731520"/>
          </a:xfrm>
          <a:prstGeom prst="ellipse">
            <a:avLst/>
          </a:prstGeom>
          <a:solidFill>
            <a:srgbClr val="0B1B29"/>
          </a:solidFill>
          <a:ln/>
        </p:spPr>
        <p:txBody>
          <a:bodyPr/>
          <a:p/>
        </p:txBody>
      </p:sp>
      <p:pic>
        <p:nvPicPr>
          <p:cNvPr id="12" name="Image 1" descr="/tmp/claude-0/-home-user-SMX-0226-Seguretat-Informatica/cec25c9b-7e93-584a-a64a-196540977a59/scratchpad/build/icons/search_F2A541.png">    </p:cNvPr>
          <p:cNvPicPr>
            <a:picLocks noChangeAspect="1"/>
          </p:cNvPicPr>
          <p:nvPr/>
        </p:nvPicPr>
        <p:blipFill>
          <a:blip r:embed="rId2"/>
          <a:stretch>
            <a:fillRect/>
          </a:stretch>
        </p:blipFill>
        <p:spPr>
          <a:xfrm>
            <a:off x="4884268" y="2240280"/>
            <a:ext cx="365760" cy="365760"/>
          </a:xfrm>
          <a:prstGeom prst="rect">
            <a:avLst/>
          </a:prstGeom>
        </p:spPr>
      </p:pic>
      <p:sp>
        <p:nvSpPr>
          <p:cNvPr id="13" name="Text 9"/>
          <p:cNvSpPr txBox="1"/>
          <p:nvPr/>
        </p:nvSpPr>
        <p:spPr>
          <a:xfrm>
            <a:off x="4655668" y="2971800"/>
            <a:ext cx="2880360" cy="731520"/>
          </a:xfrm>
          <a:prstGeom prst="rect">
            <a:avLst/>
          </a:prstGeom>
          <a:noFill/>
          <a:ln/>
        </p:spPr>
        <p:txBody>
          <a:bodyPr wrap="square" lIns="0" tIns="0" rIns="0" bIns="0" rtlCol="0" anchor="ctr"/>
          <a:lstStyle/>
          <a:p>
            <a:pPr indent="0" marL="0">
              <a:buNone/>
            </a:pPr>
            <a:r>
              <a:rPr lang="en-US" sz="1700" b="1" dirty="0">
                <a:solidFill>
                  <a:srgbClr val="16242E"/>
                </a:solidFill>
                <a:latin typeface="Cambria" pitchFamily="34" charset="0"/>
                <a:ea typeface="Cambria" pitchFamily="34" charset="-122"/>
                <a:cs typeface="Cambria" pitchFamily="34" charset="-120"/>
              </a:rPr>
              <a:t>CVE i escàners</a:t>
            </a:r>
            <a:endParaRPr lang="en-US" sz="1700" dirty="0"/>
          </a:p>
        </p:txBody>
      </p:sp>
      <p:sp>
        <p:nvSpPr>
          <p:cNvPr id="14" name="Text 10"/>
          <p:cNvSpPr txBox="1"/>
          <p:nvPr/>
        </p:nvSpPr>
        <p:spPr>
          <a:xfrm>
            <a:off x="4655668" y="3611880"/>
            <a:ext cx="2880360" cy="1828800"/>
          </a:xfrm>
          <a:prstGeom prst="rect">
            <a:avLst/>
          </a:prstGeom>
          <a:noFill/>
          <a:ln/>
        </p:spPr>
        <p:txBody>
          <a:bodyPr wrap="square" lIns="0" tIns="0" rIns="0" bIns="0" rtlCol="0" anchor="t"/>
          <a:lstStyle/>
          <a:p>
            <a:pPr indent="0" marL="0">
              <a:lnSpc>
                <a:spcPts val="1600"/>
              </a:lnSpc>
              <a:buNone/>
            </a:pPr>
            <a:r>
              <a:rPr lang="en-US" sz="1250" dirty="0">
                <a:solidFill>
                  <a:srgbClr val="5B6B77"/>
                </a:solidFill>
                <a:latin typeface="Calibri" pitchFamily="34" charset="0"/>
                <a:ea typeface="Calibri" pitchFamily="34" charset="-122"/>
                <a:cs typeface="Calibri" pitchFamily="34" charset="-120"/>
              </a:rPr>
              <a:t>El registre CVE i eines com Nmap permeten identificar vulnerabilitats i serveis exposats de manera sistemàtica.</a:t>
            </a:r>
            <a:endParaRPr lang="en-US" sz="1250" dirty="0"/>
          </a:p>
        </p:txBody>
      </p:sp>
      <p:sp>
        <p:nvSpPr>
          <p:cNvPr id="15" name="Shape 11"/>
          <p:cNvSpPr/>
          <p:nvPr/>
        </p:nvSpPr>
        <p:spPr>
          <a:xfrm>
            <a:off x="8130388" y="1737360"/>
            <a:ext cx="3429000" cy="3840480"/>
          </a:xfrm>
          <a:prstGeom prst="roundRect">
            <a:avLst>
              <a:gd name="adj" fmla="val 3200"/>
            </a:avLst>
          </a:prstGeom>
          <a:solidFill>
            <a:srgbClr val="FFFFFF"/>
          </a:solidFill>
          <a:ln w="12700">
            <a:solidFill>
              <a:srgbClr val="E2E8ED"/>
            </a:solidFill>
            <a:prstDash val="solid"/>
          </a:ln>
          <a:effectLst>
            <a:outerShdw sx="100000" sy="100000" kx="0" ky="0" algn="bl" rotWithShape="0" blurRad="101600" dist="38100" dir="5400000">
              <a:srgbClr val="16242E">
                <a:alpha val="12000"/>
              </a:srgbClr>
            </a:outerShdw>
          </a:effectLst>
        </p:spPr>
        <p:txBody>
          <a:bodyPr/>
          <a:p/>
        </p:txBody>
      </p:sp>
      <p:sp>
        <p:nvSpPr>
          <p:cNvPr id="16" name="Shape 12"/>
          <p:cNvSpPr/>
          <p:nvPr/>
        </p:nvSpPr>
        <p:spPr>
          <a:xfrm>
            <a:off x="8450428" y="2057400"/>
            <a:ext cx="731520" cy="731520"/>
          </a:xfrm>
          <a:prstGeom prst="ellipse">
            <a:avLst/>
          </a:prstGeom>
          <a:solidFill>
            <a:srgbClr val="0B1B29"/>
          </a:solidFill>
          <a:ln/>
        </p:spPr>
        <p:txBody>
          <a:bodyPr/>
          <a:p/>
        </p:txBody>
      </p:sp>
      <p:pic>
        <p:nvPicPr>
          <p:cNvPr id="17" name="Image 2" descr="/tmp/claude-0/-home-user-SMX-0226-Seguretat-Informatica/cec25c9b-7e93-584a-a64a-196540977a59/scratchpad/build/icons/eye_F2A541.png">    </p:cNvPr>
          <p:cNvPicPr>
            <a:picLocks noChangeAspect="1"/>
          </p:cNvPicPr>
          <p:nvPr/>
        </p:nvPicPr>
        <p:blipFill>
          <a:blip r:embed="rId3"/>
          <a:stretch>
            <a:fillRect/>
          </a:stretch>
        </p:blipFill>
        <p:spPr>
          <a:xfrm>
            <a:off x="8633308" y="2240280"/>
            <a:ext cx="365760" cy="365760"/>
          </a:xfrm>
          <a:prstGeom prst="rect">
            <a:avLst/>
          </a:prstGeom>
        </p:spPr>
      </p:pic>
      <p:sp>
        <p:nvSpPr>
          <p:cNvPr id="18" name="Text 13"/>
          <p:cNvSpPr txBox="1"/>
          <p:nvPr/>
        </p:nvSpPr>
        <p:spPr>
          <a:xfrm>
            <a:off x="8404708" y="2971800"/>
            <a:ext cx="2880360" cy="731520"/>
          </a:xfrm>
          <a:prstGeom prst="rect">
            <a:avLst/>
          </a:prstGeom>
          <a:noFill/>
          <a:ln/>
        </p:spPr>
        <p:txBody>
          <a:bodyPr wrap="square" lIns="0" tIns="0" rIns="0" bIns="0" rtlCol="0" anchor="ctr"/>
          <a:lstStyle/>
          <a:p>
            <a:pPr indent="0" marL="0">
              <a:buNone/>
            </a:pPr>
            <a:r>
              <a:rPr lang="en-US" sz="1700" b="1" dirty="0">
                <a:solidFill>
                  <a:srgbClr val="16242E"/>
                </a:solidFill>
                <a:latin typeface="Cambria" pitchFamily="34" charset="0"/>
                <a:ea typeface="Cambria" pitchFamily="34" charset="-122"/>
                <a:cs typeface="Cambria" pitchFamily="34" charset="-120"/>
              </a:rPr>
              <a:t>Detecció contínua</a:t>
            </a:r>
            <a:endParaRPr lang="en-US" sz="1700" dirty="0"/>
          </a:p>
        </p:txBody>
      </p:sp>
      <p:sp>
        <p:nvSpPr>
          <p:cNvPr id="19" name="Text 14"/>
          <p:cNvSpPr txBox="1"/>
          <p:nvPr/>
        </p:nvSpPr>
        <p:spPr>
          <a:xfrm>
            <a:off x="8404708" y="3611880"/>
            <a:ext cx="2880360" cy="1828800"/>
          </a:xfrm>
          <a:prstGeom prst="rect">
            <a:avLst/>
          </a:prstGeom>
          <a:noFill/>
          <a:ln/>
        </p:spPr>
        <p:txBody>
          <a:bodyPr wrap="square" lIns="0" tIns="0" rIns="0" bIns="0" rtlCol="0" anchor="t"/>
          <a:lstStyle/>
          <a:p>
            <a:pPr indent="0" marL="0">
              <a:lnSpc>
                <a:spcPts val="1600"/>
              </a:lnSpc>
              <a:buNone/>
            </a:pPr>
            <a:r>
              <a:rPr lang="en-US" sz="1250" dirty="0">
                <a:solidFill>
                  <a:srgbClr val="5B6B77"/>
                </a:solidFill>
                <a:latin typeface="Calibri" pitchFamily="34" charset="0"/>
                <a:ea typeface="Calibri" pitchFamily="34" charset="-122"/>
                <a:cs typeface="Calibri" pitchFamily="34" charset="-120"/>
              </a:rPr>
              <a:t>IDS/IPS, honeypots i logs: la seguretat no acaba en prevenir, cal poder detectar quan alguna cosa ha fallat.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29"/>
        </a:solidFill>
      </p:bgPr>
    </p:bg>
    <p:spTree>
      <p:nvGrpSpPr>
        <p:cNvPr id="1" name=""/>
        <p:cNvGrpSpPr/>
        <p:nvPr/>
      </p:nvGrpSpPr>
      <p:grpSpPr>
        <a:xfrm>
          <a:off x="0" y="0"/>
          <a:ext cx="0" cy="0"/>
          <a:chOff x="0" y="0"/>
          <a:chExt cx="0" cy="0"/>
        </a:xfrm>
      </p:grpSpPr>
      <p:sp>
        <p:nvSpPr>
          <p:cNvPr id="2" name="Text 0"/>
          <p:cNvSpPr txBox="1"/>
          <p:nvPr/>
        </p:nvSpPr>
        <p:spPr>
          <a:xfrm>
            <a:off x="822960" y="1188720"/>
            <a:ext cx="9144000" cy="365760"/>
          </a:xfrm>
          <a:prstGeom prst="rect">
            <a:avLst/>
          </a:prstGeom>
          <a:noFill/>
          <a:ln/>
        </p:spPr>
        <p:txBody>
          <a:bodyPr wrap="square" lIns="0" tIns="0" rIns="0" bIns="0" rtlCol="0" anchor="ctr"/>
          <a:lstStyle/>
          <a:p>
            <a:pPr indent="0" marL="0">
              <a:buNone/>
            </a:pPr>
            <a:r>
              <a:rPr lang="en-US" sz="1400" b="1" spc="200" kern="0" dirty="0">
                <a:solidFill>
                  <a:srgbClr val="F2A541"/>
                </a:solidFill>
                <a:latin typeface="Calibri" pitchFamily="34" charset="0"/>
                <a:ea typeface="Calibri" pitchFamily="34" charset="-122"/>
                <a:cs typeface="Calibri" pitchFamily="34" charset="-120"/>
              </a:rPr>
              <a:t>ARA ÉS EL TORN VOSTRE</a:t>
            </a:r>
            <a:endParaRPr lang="en-US" sz="1400" dirty="0"/>
          </a:p>
        </p:txBody>
      </p:sp>
      <p:pic>
        <p:nvPicPr>
          <p:cNvPr id="3" name="Image 0" descr="/tmp/claude-0/-home-user-SMX-0226-Seguretat-Informatica/cec25c9b-7e93-584a-a64a-196540977a59/scratchpad/build/icons/question_F2A541.png">    </p:cNvPr>
          <p:cNvPicPr>
            <a:picLocks noChangeAspect="1"/>
          </p:cNvPicPr>
          <p:nvPr/>
        </p:nvPicPr>
        <p:blipFill>
          <a:blip r:embed="rId1"/>
          <a:stretch>
            <a:fillRect/>
          </a:stretch>
        </p:blipFill>
        <p:spPr>
          <a:xfrm>
            <a:off x="9875520" y="1097280"/>
            <a:ext cx="731520" cy="731520"/>
          </a:xfrm>
          <a:prstGeom prst="rect">
            <a:avLst/>
          </a:prstGeom>
        </p:spPr>
      </p:pic>
      <p:sp>
        <p:nvSpPr>
          <p:cNvPr id="4" name="Text 1"/>
          <p:cNvSpPr txBox="1"/>
          <p:nvPr/>
        </p:nvSpPr>
        <p:spPr>
          <a:xfrm>
            <a:off x="822960" y="1737360"/>
            <a:ext cx="10332720" cy="14630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Un servidor web de l'empresa executa una versió de programari amb una vulnerabilitat 0-day recentment publicada, encara sense pedaç oficial.</a:t>
            </a:r>
            <a:endParaRPr lang="en-US" sz="2600" dirty="0"/>
          </a:p>
        </p:txBody>
      </p:sp>
      <p:sp>
        <p:nvSpPr>
          <p:cNvPr id="5" name="Text 2"/>
          <p:cNvSpPr txBox="1"/>
          <p:nvPr/>
        </p:nvSpPr>
        <p:spPr>
          <a:xfrm>
            <a:off x="822960" y="3291840"/>
            <a:ext cx="9875520" cy="1463040"/>
          </a:xfrm>
          <a:prstGeom prst="rect">
            <a:avLst/>
          </a:prstGeom>
          <a:noFill/>
          <a:ln/>
        </p:spPr>
        <p:txBody>
          <a:bodyPr wrap="square" lIns="0" tIns="0" rIns="0" bIns="0" rtlCol="0" anchor="ctr"/>
          <a:lstStyle/>
          <a:p>
            <a:pPr indent="0" marL="0">
              <a:lnSpc>
                <a:spcPts val="2000"/>
              </a:lnSpc>
              <a:buNone/>
            </a:pPr>
            <a:r>
              <a:rPr lang="en-US" sz="1500" dirty="0">
                <a:solidFill>
                  <a:srgbClr val="CADCE8"/>
                </a:solidFill>
                <a:latin typeface="Calibri" pitchFamily="34" charset="0"/>
                <a:ea typeface="Calibri" pitchFamily="34" charset="-122"/>
                <a:cs typeface="Calibri" pitchFamily="34" charset="-120"/>
              </a:rPr>
              <a:t>En parelles: proposeu 3 mesures de mitigació temporal (sense poder actualitzar) que reduirien el risc mentre s'espera el pedaç, i expliqueu com les prioritzaríeu segons la fórmula risc = probabilitat × impacte.</a:t>
            </a:r>
            <a:endParaRPr lang="en-US" sz="1500" dirty="0"/>
          </a:p>
        </p:txBody>
      </p:sp>
      <p:sp>
        <p:nvSpPr>
          <p:cNvPr id="6" name="Text 3"/>
          <p:cNvSpPr txBox="1"/>
          <p:nvPr/>
        </p:nvSpPr>
        <p:spPr>
          <a:xfrm>
            <a:off x="822960" y="6035040"/>
            <a:ext cx="9144000" cy="365760"/>
          </a:xfrm>
          <a:prstGeom prst="rect">
            <a:avLst/>
          </a:prstGeom>
          <a:noFill/>
          <a:ln/>
        </p:spPr>
        <p:txBody>
          <a:bodyPr wrap="square" lIns="0" tIns="0" rIns="0" bIns="0" rtlCol="0" anchor="ctr"/>
          <a:lstStyle/>
          <a:p>
            <a:pPr indent="0" marL="0">
              <a:buNone/>
            </a:pPr>
            <a:r>
              <a:rPr lang="en-US" sz="1300" i="1" dirty="0">
                <a:solidFill>
                  <a:srgbClr val="8FA6B8"/>
                </a:solidFill>
                <a:latin typeface="Calibri" pitchFamily="34" charset="0"/>
                <a:ea typeface="Calibri" pitchFamily="34" charset="-122"/>
                <a:cs typeface="Calibri" pitchFamily="34" charset="-120"/>
              </a:rPr>
              <a:t>10 minuts en parelles + posada en comú</a:t>
            </a:r>
            <a:endParaRPr lang="en-US" sz="1300" dirty="0"/>
          </a:p>
        </p:txBody>
      </p:sp>
      <p:sp>
        <p:nvSpPr>
          <p:cNvPr id="7" name="Text 4"/>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F2A541"/>
                </a:solidFill>
                <a:latin typeface="Calibri" pitchFamily="34" charset="0"/>
                <a:ea typeface="Calibri" pitchFamily="34" charset="-122"/>
                <a:cs typeface="Calibri" pitchFamily="34" charset="-120"/>
              </a:rPr>
              <a:t>FONTS DEL MATERIAL</a:t>
            </a:r>
            <a:endParaRPr lang="en-US" sz="1300" dirty="0"/>
          </a:p>
        </p:txBody>
      </p:sp>
      <p:sp>
        <p:nvSpPr>
          <p:cNvPr id="3" name="Text 1"/>
          <p:cNvSpPr txBox="1"/>
          <p:nvPr/>
        </p:nvSpPr>
        <p:spPr>
          <a:xfrm>
            <a:off x="548640" y="822960"/>
            <a:ext cx="10789920" cy="640080"/>
          </a:xfrm>
          <a:prstGeom prst="rect">
            <a:avLst/>
          </a:prstGeom>
          <a:noFill/>
          <a:ln/>
        </p:spPr>
        <p:txBody>
          <a:bodyPr wrap="square" lIns="0" tIns="0" rIns="0" bIns="0" rtlCol="0" anchor="ctr"/>
          <a:lstStyle/>
          <a:p>
            <a:pPr indent="0" marL="0">
              <a:buNone/>
            </a:pPr>
            <a:r>
              <a:rPr lang="en-US" sz="2800" b="1" dirty="0">
                <a:solidFill>
                  <a:srgbClr val="16242E"/>
                </a:solidFill>
                <a:latin typeface="Cambria" pitchFamily="34" charset="0"/>
                <a:ea typeface="Cambria" pitchFamily="34" charset="-122"/>
                <a:cs typeface="Cambria" pitchFamily="34" charset="-120"/>
              </a:rPr>
              <a:t>Webgrafia</a:t>
            </a:r>
            <a:endParaRPr lang="en-US" sz="2800" dirty="0"/>
          </a:p>
        </p:txBody>
      </p:sp>
      <p:pic>
        <p:nvPicPr>
          <p:cNvPr id="4" name="Image 0" descr="/tmp/claude-0/-home-user-SMX-0226-Seguretat-Informatica/cec25c9b-7e93-584a-a64a-196540977a59/scratchpad/build/icons/globe_3E6680.png">    </p:cNvPr>
          <p:cNvPicPr>
            <a:picLocks noChangeAspect="1"/>
          </p:cNvPicPr>
          <p:nvPr/>
        </p:nvPicPr>
        <p:blipFill>
          <a:blip r:embed="rId1"/>
          <a:stretch>
            <a:fillRect/>
          </a:stretch>
        </p:blipFill>
        <p:spPr>
          <a:xfrm>
            <a:off x="640080" y="1874520"/>
            <a:ext cx="320040" cy="320040"/>
          </a:xfrm>
          <a:prstGeom prst="rect">
            <a:avLst/>
          </a:prstGeom>
        </p:spPr>
      </p:pic>
      <p:sp>
        <p:nvSpPr>
          <p:cNvPr id="5" name="Text 2"/>
          <p:cNvSpPr txBox="1"/>
          <p:nvPr/>
        </p:nvSpPr>
        <p:spPr>
          <a:xfrm>
            <a:off x="1143000" y="1828800"/>
            <a:ext cx="10058400" cy="320040"/>
          </a:xfrm>
          <a:prstGeom prst="rect">
            <a:avLst/>
          </a:prstGeom>
          <a:noFill/>
          <a:ln/>
        </p:spPr>
        <p:txBody>
          <a:bodyPr wrap="square" lIns="0" tIns="0" rIns="0" bIns="0" rtlCol="0" anchor="ctr"/>
          <a:lstStyle/>
          <a:p>
            <a:pPr indent="0" marL="0">
              <a:buNone/>
            </a:pPr>
            <a:r>
              <a:rPr lang="en-US" sz="1500" b="1" dirty="0">
                <a:solidFill>
                  <a:srgbClr val="16242E"/>
                </a:solidFill>
                <a:latin typeface="Cambria" pitchFamily="34" charset="0"/>
                <a:ea typeface="Cambria" pitchFamily="34" charset="-122"/>
                <a:cs typeface="Cambria" pitchFamily="34" charset="-120"/>
              </a:rPr>
              <a:t>NF3-AA2: Vulnerabilitats</a:t>
            </a:r>
            <a:endParaRPr lang="en-US" sz="1500" dirty="0"/>
          </a:p>
        </p:txBody>
      </p:sp>
      <p:sp>
        <p:nvSpPr>
          <p:cNvPr id="6" name="Text 3"/>
          <p:cNvSpPr txBox="1"/>
          <p:nvPr/>
        </p:nvSpPr>
        <p:spPr>
          <a:xfrm>
            <a:off x="1143000" y="2176272"/>
            <a:ext cx="10058400" cy="548640"/>
          </a:xfrm>
          <a:prstGeom prst="rect">
            <a:avLst/>
          </a:prstGeom>
          <a:noFill/>
          <a:ln/>
        </p:spPr>
        <p:txBody>
          <a:bodyPr wrap="square" lIns="0" tIns="0" rIns="0" bIns="0" rtlCol="0" anchor="ctr"/>
          <a:lstStyle/>
          <a:p>
            <a:pPr indent="0" marL="0">
              <a:lnSpc>
                <a:spcPts val="1500"/>
              </a:lnSpc>
              <a:buNone/>
            </a:pPr>
            <a:r>
              <a:rPr lang="en-US" sz="1150" dirty="0">
                <a:solidFill>
                  <a:srgbClr val="5B6B77"/>
                </a:solidFill>
                <a:latin typeface="Calibri" pitchFamily="34" charset="0"/>
                <a:ea typeface="Calibri" pitchFamily="34" charset="-122"/>
                <a:cs typeface="Calibri" pitchFamily="34" charset="-120"/>
              </a:rPr>
              <a:t>Repositori "Materials" (GitHub, SMX-0226SI) · Carlos Alonso Martínez, Escola Pia de Mataró · Llicència CC-BY-SA-4.0</a:t>
            </a:r>
            <a:endParaRPr lang="en-US" sz="1150" dirty="0"/>
          </a:p>
        </p:txBody>
      </p:sp>
      <p:pic>
        <p:nvPicPr>
          <p:cNvPr id="7" name="Image 1" descr="/tmp/claude-0/-home-user-SMX-0226-Seguretat-Informatica/cec25c9b-7e93-584a-a64a-196540977a59/scratchpad/build/icons/globe_3E6680.png">    </p:cNvPr>
          <p:cNvPicPr>
            <a:picLocks noChangeAspect="1"/>
          </p:cNvPicPr>
          <p:nvPr/>
        </p:nvPicPr>
        <p:blipFill>
          <a:blip r:embed="rId2"/>
          <a:stretch>
            <a:fillRect/>
          </a:stretch>
        </p:blipFill>
        <p:spPr>
          <a:xfrm>
            <a:off x="640080" y="2926080"/>
            <a:ext cx="320040" cy="320040"/>
          </a:xfrm>
          <a:prstGeom prst="rect">
            <a:avLst/>
          </a:prstGeom>
        </p:spPr>
      </p:pic>
      <p:sp>
        <p:nvSpPr>
          <p:cNvPr id="8" name="Text 4"/>
          <p:cNvSpPr txBox="1"/>
          <p:nvPr/>
        </p:nvSpPr>
        <p:spPr>
          <a:xfrm>
            <a:off x="1143000" y="2880360"/>
            <a:ext cx="10058400" cy="320040"/>
          </a:xfrm>
          <a:prstGeom prst="rect">
            <a:avLst/>
          </a:prstGeom>
          <a:noFill/>
          <a:ln/>
        </p:spPr>
        <p:txBody>
          <a:bodyPr wrap="square" lIns="0" tIns="0" rIns="0" bIns="0" rtlCol="0" anchor="ctr"/>
          <a:lstStyle/>
          <a:p>
            <a:pPr indent="0" marL="0">
              <a:buNone/>
            </a:pPr>
            <a:r>
              <a:rPr lang="en-US" sz="1500" b="1" dirty="0">
                <a:solidFill>
                  <a:srgbClr val="16242E"/>
                </a:solidFill>
                <a:latin typeface="Cambria" pitchFamily="34" charset="0"/>
                <a:ea typeface="Cambria" pitchFamily="34" charset="-122"/>
                <a:cs typeface="Cambria" pitchFamily="34" charset="-120"/>
              </a:rPr>
              <a:t>CVE — Common Vulnerabilities and Exposures</a:t>
            </a:r>
            <a:endParaRPr lang="en-US" sz="1500" dirty="0"/>
          </a:p>
        </p:txBody>
      </p:sp>
      <p:sp>
        <p:nvSpPr>
          <p:cNvPr id="9" name="Text 5"/>
          <p:cNvSpPr txBox="1"/>
          <p:nvPr/>
        </p:nvSpPr>
        <p:spPr>
          <a:xfrm>
            <a:off x="1143000" y="3227832"/>
            <a:ext cx="10058400" cy="548640"/>
          </a:xfrm>
          <a:prstGeom prst="rect">
            <a:avLst/>
          </a:prstGeom>
          <a:noFill/>
          <a:ln/>
        </p:spPr>
        <p:txBody>
          <a:bodyPr wrap="square" lIns="0" tIns="0" rIns="0" bIns="0" rtlCol="0" anchor="ctr"/>
          <a:lstStyle/>
          <a:p>
            <a:pPr indent="0" marL="0">
              <a:lnSpc>
                <a:spcPts val="1500"/>
              </a:lnSpc>
              <a:buNone/>
            </a:pPr>
            <a:r>
              <a:rPr lang="en-US" sz="1150" dirty="0">
                <a:solidFill>
                  <a:srgbClr val="5B6B77"/>
                </a:solidFill>
                <a:latin typeface="Calibri" pitchFamily="34" charset="0"/>
                <a:ea typeface="Calibri" pitchFamily="34" charset="-122"/>
                <a:cs typeface="Calibri" pitchFamily="34" charset="-120"/>
              </a:rPr>
              <a:t>cve.mitre.org</a:t>
            </a:r>
            <a:endParaRPr lang="en-US" sz="1150" dirty="0"/>
          </a:p>
        </p:txBody>
      </p:sp>
      <p:pic>
        <p:nvPicPr>
          <p:cNvPr id="10" name="Image 2" descr="/tmp/claude-0/-home-user-SMX-0226-Seguretat-Informatica/cec25c9b-7e93-584a-a64a-196540977a59/scratchpad/build/icons/globe_3E6680.png">    </p:cNvPr>
          <p:cNvPicPr>
            <a:picLocks noChangeAspect="1"/>
          </p:cNvPicPr>
          <p:nvPr/>
        </p:nvPicPr>
        <p:blipFill>
          <a:blip r:embed="rId3"/>
          <a:stretch>
            <a:fillRect/>
          </a:stretch>
        </p:blipFill>
        <p:spPr>
          <a:xfrm>
            <a:off x="640080" y="3977640"/>
            <a:ext cx="320040" cy="320040"/>
          </a:xfrm>
          <a:prstGeom prst="rect">
            <a:avLst/>
          </a:prstGeom>
        </p:spPr>
      </p:pic>
      <p:sp>
        <p:nvSpPr>
          <p:cNvPr id="11" name="Text 6"/>
          <p:cNvSpPr txBox="1"/>
          <p:nvPr/>
        </p:nvSpPr>
        <p:spPr>
          <a:xfrm>
            <a:off x="1143000" y="3931920"/>
            <a:ext cx="10058400" cy="320040"/>
          </a:xfrm>
          <a:prstGeom prst="rect">
            <a:avLst/>
          </a:prstGeom>
          <a:noFill/>
          <a:ln/>
        </p:spPr>
        <p:txBody>
          <a:bodyPr wrap="square" lIns="0" tIns="0" rIns="0" bIns="0" rtlCol="0" anchor="ctr"/>
          <a:lstStyle/>
          <a:p>
            <a:pPr indent="0" marL="0">
              <a:buNone/>
            </a:pPr>
            <a:r>
              <a:rPr lang="en-US" sz="1500" b="1" dirty="0">
                <a:solidFill>
                  <a:srgbClr val="16242E"/>
                </a:solidFill>
                <a:latin typeface="Cambria" pitchFamily="34" charset="0"/>
                <a:ea typeface="Cambria" pitchFamily="34" charset="-122"/>
                <a:cs typeface="Cambria" pitchFamily="34" charset="-120"/>
              </a:rPr>
              <a:t>INCIBE-CERT — Guía de gestión de riesgos</a:t>
            </a:r>
            <a:endParaRPr lang="en-US" sz="1500" dirty="0"/>
          </a:p>
        </p:txBody>
      </p:sp>
      <p:sp>
        <p:nvSpPr>
          <p:cNvPr id="12" name="Text 7"/>
          <p:cNvSpPr txBox="1"/>
          <p:nvPr/>
        </p:nvSpPr>
        <p:spPr>
          <a:xfrm>
            <a:off x="1143000" y="4279392"/>
            <a:ext cx="10058400" cy="548640"/>
          </a:xfrm>
          <a:prstGeom prst="rect">
            <a:avLst/>
          </a:prstGeom>
          <a:noFill/>
          <a:ln/>
        </p:spPr>
        <p:txBody>
          <a:bodyPr wrap="square" lIns="0" tIns="0" rIns="0" bIns="0" rtlCol="0" anchor="ctr"/>
          <a:lstStyle/>
          <a:p>
            <a:pPr indent="0" marL="0">
              <a:lnSpc>
                <a:spcPts val="1500"/>
              </a:lnSpc>
              <a:buNone/>
            </a:pPr>
            <a:r>
              <a:rPr lang="en-US" sz="1150" dirty="0">
                <a:solidFill>
                  <a:srgbClr val="5B6B77"/>
                </a:solidFill>
                <a:latin typeface="Calibri" pitchFamily="34" charset="0"/>
                <a:ea typeface="Calibri" pitchFamily="34" charset="-122"/>
                <a:cs typeface="Calibri" pitchFamily="34" charset="-120"/>
              </a:rPr>
              <a:t>incibe.es/empresas/guias/gestion-riesgos-guia-empresario</a:t>
            </a:r>
            <a:endParaRPr lang="en-US" sz="1150" dirty="0"/>
          </a:p>
        </p:txBody>
      </p:sp>
      <p:pic>
        <p:nvPicPr>
          <p:cNvPr id="13" name="Image 3" descr="/tmp/claude-0/-home-user-SMX-0226-Seguretat-Informatica/cec25c9b-7e93-584a-a64a-196540977a59/scratchpad/build/icons/globe_3E6680.png">    </p:cNvPr>
          <p:cNvPicPr>
            <a:picLocks noChangeAspect="1"/>
          </p:cNvPicPr>
          <p:nvPr/>
        </p:nvPicPr>
        <p:blipFill>
          <a:blip r:embed="rId4"/>
          <a:stretch>
            <a:fillRect/>
          </a:stretch>
        </p:blipFill>
        <p:spPr>
          <a:xfrm>
            <a:off x="640080" y="5029200"/>
            <a:ext cx="320040" cy="320040"/>
          </a:xfrm>
          <a:prstGeom prst="rect">
            <a:avLst/>
          </a:prstGeom>
        </p:spPr>
      </p:pic>
      <p:sp>
        <p:nvSpPr>
          <p:cNvPr id="14" name="Text 8"/>
          <p:cNvSpPr txBox="1"/>
          <p:nvPr/>
        </p:nvSpPr>
        <p:spPr>
          <a:xfrm>
            <a:off x="1143000" y="4983480"/>
            <a:ext cx="10058400" cy="320040"/>
          </a:xfrm>
          <a:prstGeom prst="rect">
            <a:avLst/>
          </a:prstGeom>
          <a:noFill/>
          <a:ln/>
        </p:spPr>
        <p:txBody>
          <a:bodyPr wrap="square" lIns="0" tIns="0" rIns="0" bIns="0" rtlCol="0" anchor="ctr"/>
          <a:lstStyle/>
          <a:p>
            <a:pPr indent="0" marL="0">
              <a:buNone/>
            </a:pPr>
            <a:r>
              <a:rPr lang="en-US" sz="1500" b="1" dirty="0">
                <a:solidFill>
                  <a:srgbClr val="16242E"/>
                </a:solidFill>
                <a:latin typeface="Cambria" pitchFamily="34" charset="0"/>
                <a:ea typeface="Cambria" pitchFamily="34" charset="-122"/>
                <a:cs typeface="Cambria" pitchFamily="34" charset="-120"/>
              </a:rPr>
              <a:t>Nmap — Network Mapper</a:t>
            </a:r>
            <a:endParaRPr lang="en-US" sz="1500" dirty="0"/>
          </a:p>
        </p:txBody>
      </p:sp>
      <p:sp>
        <p:nvSpPr>
          <p:cNvPr id="15" name="Text 9"/>
          <p:cNvSpPr txBox="1"/>
          <p:nvPr/>
        </p:nvSpPr>
        <p:spPr>
          <a:xfrm>
            <a:off x="1143000" y="5330952"/>
            <a:ext cx="10058400" cy="548640"/>
          </a:xfrm>
          <a:prstGeom prst="rect">
            <a:avLst/>
          </a:prstGeom>
          <a:noFill/>
          <a:ln/>
        </p:spPr>
        <p:txBody>
          <a:bodyPr wrap="square" lIns="0" tIns="0" rIns="0" bIns="0" rtlCol="0" anchor="ctr"/>
          <a:lstStyle/>
          <a:p>
            <a:pPr indent="0" marL="0">
              <a:lnSpc>
                <a:spcPts val="1500"/>
              </a:lnSpc>
              <a:buNone/>
            </a:pPr>
            <a:r>
              <a:rPr lang="en-US" sz="1150" dirty="0">
                <a:solidFill>
                  <a:srgbClr val="5B6B77"/>
                </a:solidFill>
                <a:latin typeface="Calibri" pitchFamily="34" charset="0"/>
                <a:ea typeface="Calibri" pitchFamily="34" charset="-122"/>
                <a:cs typeface="Calibri" pitchFamily="34" charset="-120"/>
              </a:rPr>
              <a:t>nmap.org</a:t>
            </a:r>
            <a:endParaRPr lang="en-US" sz="1150" dirty="0"/>
          </a:p>
        </p:txBody>
      </p:sp>
      <p:sp>
        <p:nvSpPr>
          <p:cNvPr id="16" name="Text 10"/>
          <p:cNvSpPr txBox="1"/>
          <p:nvPr/>
        </p:nvSpPr>
        <p:spPr>
          <a:xfrm>
            <a:off x="640080" y="6217920"/>
            <a:ext cx="10058400" cy="365760"/>
          </a:xfrm>
          <a:prstGeom prst="rect">
            <a:avLst/>
          </a:prstGeom>
          <a:noFill/>
          <a:ln/>
        </p:spPr>
        <p:txBody>
          <a:bodyPr wrap="square" lIns="0" tIns="0" rIns="0" bIns="0" rtlCol="0" anchor="ctr"/>
          <a:lstStyle/>
          <a:p>
            <a:pPr indent="0" marL="0">
              <a:buNone/>
            </a:pPr>
            <a:r>
              <a:rPr lang="en-US" sz="1050" i="1" dirty="0">
                <a:solidFill>
                  <a:srgbClr val="5B6B77"/>
                </a:solidFill>
                <a:latin typeface="Calibri" pitchFamily="34" charset="0"/>
                <a:ea typeface="Calibri" pitchFamily="34" charset="-122"/>
                <a:cs typeface="Calibri" pitchFamily="34" charset="-120"/>
              </a:rPr>
              <a:t>Llicència CC BY-SA 4.0 · Adaptat de "Materials" (SMX-0226SI), Carlos Alonso Martínez, Escola Pia de Mataró</a:t>
            </a:r>
            <a:endParaRPr lang="en-US" sz="1050" dirty="0"/>
          </a:p>
        </p:txBody>
      </p:sp>
      <p:sp>
        <p:nvSpPr>
          <p:cNvPr id="17" name="Text 11"/>
          <p:cNvSpPr txBox="1"/>
          <p:nvPr/>
        </p:nvSpPr>
        <p:spPr>
          <a:xfrm>
            <a:off x="11551615" y="6446520"/>
            <a:ext cx="457200" cy="274320"/>
          </a:xfrm>
          <a:prstGeom prst="rect">
            <a:avLst/>
          </a:prstGeom>
          <a:noFill/>
          <a:ln/>
        </p:spPr>
        <p:txBody>
          <a:bodyPr wrap="square" lIns="0" tIns="0" rIns="0" bIns="0" rtlCol="0" anchor="ctr"/>
          <a:lstStyle/>
          <a:p>
            <a:pPr algn="r" indent="0" marL="0">
              <a:buNone/>
            </a:pPr>
            <a:r>
              <a:rPr lang="en-US" sz="1100" dirty="0">
                <a:solidFill>
                  <a:srgbClr val="5B6B77"/>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2026-09-08T20:18:38Z</dcterms:created>
  <dcterms:modified xsi:type="dcterms:W3CDTF">2026-09-08T20:18:38Z</dcterms:modified>
</cp:coreProperties>
</file>